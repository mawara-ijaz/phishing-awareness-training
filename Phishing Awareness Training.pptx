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9"/>
  </p:notesMasterIdLst>
  <p:sldIdLst>
    <p:sldId id="256" r:id="rId2"/>
    <p:sldId id="257" r:id="rId3"/>
    <p:sldId id="258" r:id="rId4"/>
    <p:sldId id="272"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68" d="100"/>
          <a:sy n="68" d="100"/>
        </p:scale>
        <p:origin x="592"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36574134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everyone and introduce yourself briefly. Explain that this session is about spotting phishing attempts before they cause damage. Keep the tone conversational, not lecture-style, since this sets the mood for the rest of the talk.</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four goals quickly — this is the roadmap for the session. Emphasize that this training is practical, not theoretical: everyone will leave knowing exactly what to look for and what to do.</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Define phishing in plain terms: a fake message trying to trick you. Explain the mechanics briefly and stress that attackers go after people because it is easier than hacking through technical defenses.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everyone and introduce yourself briefly. Explain that this session is about spotting phishing attempts before they cause damage. Keep the tone conversational, not lecture-style, since this sets the mood for the rest of the talk.</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215126622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numbers should land hard — pause after showing them. The point is that phishing isn't some rare edge case, it's the leading cause of real breaches, and the cost hits both the company and the person who clicked.</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type quickly with a one-line explanation. Mention that email phishing is the most common, but spear phishing and whaling are the most damaging because they are targeted and researched.</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out each red flag directly on the mock email: the almost-right domain, the panic-inducing subject line, the hidden link behind the button, and the unexpected zip attachment. This visual repetition helps it stick.</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the real vs fake URL comparison and let people spot the difference themselves for a second before explaining. Bust the HTTPS myth clearly — it trips up even experienced employees.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emotional triggers behind almost every phishing message. Ask the audience if any of these lines sound familiar from emails they've received — it usually gets a laugh and gets people engaged.</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this like a story — it makes the risk feel real instead of abstract. Pause at the credential-entry step and ask the room what they would have done differently.</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consequences compound — a single breach can trigger several of these at once. Keep this brief since the audience already understands the stakes from slide four; this is more of a reminder.</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core takeaway slide of the practical section — go through each habit and give a quick real example for each. If time is short, this is the slide to slow down on rather than rush through.</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Make it clear this is not about blame — the goal is fast reporting. The faster someone speaks up, the faster IT can contain any damage. Reassure the room that reporting a mistake early is always the right move.</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the room 60-90 seconds to look at the email and call out flags before revealing the answer key. This works best as a group discussion — ask people to shout out what they notice first.</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each question aloud and let the audience answer verbally or by show of hands before revealing the answer on screen. Keep the pace quick — this whole quiz should take about three minutes.</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End the technical content on this simple, memorable framework. Encourage people to actually remember these four words — stop, think, verify, report — rather than any specific technical detail.</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the group for their attention and open the floor for questions. Point out that the references slide is a good starting point if anyone wants to dig deeper into any topic covered today.</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1.png"/></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1.xml"/><Relationship Id="rId5" Type="http://schemas.openxmlformats.org/officeDocument/2006/relationships/image" Target="../media/image8.png"/><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15.png"/></Relationships>
</file>

<file path=ppt/slides/_rels/slide9.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4.png"/><Relationship Id="rId7" Type="http://schemas.openxmlformats.org/officeDocument/2006/relationships/image" Target="../media/image18.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3.png"/></Relationships>
</file>

<file path=ppt/slides/_rels/slide10.xml.rels><?xml version="1.0" encoding="UTF-8" standalone="yes"?>
<Relationships xmlns="http://schemas.openxmlformats.org/package/2006/relationships"><Relationship Id="rId3" Type="http://schemas.openxmlformats.org/officeDocument/2006/relationships/image" Target="../media/image20.png"/><Relationship Id="rId7" Type="http://schemas.openxmlformats.org/officeDocument/2006/relationships/image" Target="../media/image24.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s>
</file>

<file path=ppt/slides/_rels/slide11.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13.png"/><Relationship Id="rId7" Type="http://schemas.openxmlformats.org/officeDocument/2006/relationships/image" Target="../media/image23.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26.png"/><Relationship Id="rId5" Type="http://schemas.openxmlformats.org/officeDocument/2006/relationships/image" Target="../media/image6.png"/><Relationship Id="rId4" Type="http://schemas.openxmlformats.org/officeDocument/2006/relationships/image" Target="../media/image25.png"/></Relationships>
</file>

<file path=ppt/slides/_rels/slide12.xml.rels><?xml version="1.0" encoding="UTF-8" standalone="yes"?>
<Relationships xmlns="http://schemas.openxmlformats.org/package/2006/relationships"><Relationship Id="rId3" Type="http://schemas.openxmlformats.org/officeDocument/2006/relationships/image" Target="../media/image27.png"/><Relationship Id="rId7" Type="http://schemas.openxmlformats.org/officeDocument/2006/relationships/image" Target="../media/image29.pn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1.png"/><Relationship Id="rId5" Type="http://schemas.openxmlformats.org/officeDocument/2006/relationships/image" Target="../media/image28.png"/><Relationship Id="rId4" Type="http://schemas.openxmlformats.org/officeDocument/2006/relationships/image" Target="../media/image22.png"/></Relationships>
</file>

<file path=ppt/slides/_rels/slide13.xml.rels><?xml version="1.0" encoding="UTF-8" standalone="yes"?>
<Relationships xmlns="http://schemas.openxmlformats.org/package/2006/relationships"><Relationship Id="rId8" Type="http://schemas.openxmlformats.org/officeDocument/2006/relationships/image" Target="../media/image34.png"/><Relationship Id="rId3" Type="http://schemas.openxmlformats.org/officeDocument/2006/relationships/image" Target="../media/image30.png"/><Relationship Id="rId7" Type="http://schemas.openxmlformats.org/officeDocument/2006/relationships/image" Target="../media/image33.png"/><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image" Target="../media/image32.png"/><Relationship Id="rId5" Type="http://schemas.openxmlformats.org/officeDocument/2006/relationships/image" Target="../media/image31.png"/><Relationship Id="rId4" Type="http://schemas.openxmlformats.org/officeDocument/2006/relationships/image" Target="../media/image21.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24.png"/><Relationship Id="rId7" Type="http://schemas.openxmlformats.org/officeDocument/2006/relationships/image" Target="../media/image3.png"/><Relationship Id="rId2" Type="http://schemas.openxmlformats.org/officeDocument/2006/relationships/notesSlide" Target="../notesSlides/notesSlide16.xml"/><Relationship Id="rId1" Type="http://schemas.openxmlformats.org/officeDocument/2006/relationships/slideLayout" Target="../slideLayouts/slideLayout1.xml"/><Relationship Id="rId6" Type="http://schemas.openxmlformats.org/officeDocument/2006/relationships/image" Target="../media/image27.png"/><Relationship Id="rId5" Type="http://schemas.openxmlformats.org/officeDocument/2006/relationships/image" Target="../media/image17.png"/><Relationship Id="rId4" Type="http://schemas.openxmlformats.org/officeDocument/2006/relationships/image" Target="../media/image21.png"/></Relationships>
</file>

<file path=ppt/slides/_rels/slide17.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457200" y="457200"/>
            <a:ext cx="18288" cy="18288"/>
          </a:xfrm>
          <a:prstGeom prst="ellipse">
            <a:avLst/>
          </a:prstGeom>
          <a:solidFill>
            <a:srgbClr val="22D3EE">
              <a:alpha val="15000"/>
            </a:srgbClr>
          </a:solidFill>
          <a:ln/>
        </p:spPr>
      </p:sp>
      <p:sp>
        <p:nvSpPr>
          <p:cNvPr id="3" name="Shape 1"/>
          <p:cNvSpPr/>
          <p:nvPr/>
        </p:nvSpPr>
        <p:spPr>
          <a:xfrm>
            <a:off x="1234440" y="457200"/>
            <a:ext cx="18288" cy="18288"/>
          </a:xfrm>
          <a:prstGeom prst="ellipse">
            <a:avLst/>
          </a:prstGeom>
          <a:solidFill>
            <a:srgbClr val="22D3EE">
              <a:alpha val="15000"/>
            </a:srgbClr>
          </a:solidFill>
          <a:ln/>
        </p:spPr>
      </p:sp>
      <p:sp>
        <p:nvSpPr>
          <p:cNvPr id="4" name="Shape 2"/>
          <p:cNvSpPr/>
          <p:nvPr/>
        </p:nvSpPr>
        <p:spPr>
          <a:xfrm>
            <a:off x="2011680" y="457200"/>
            <a:ext cx="18288" cy="18288"/>
          </a:xfrm>
          <a:prstGeom prst="ellipse">
            <a:avLst/>
          </a:prstGeom>
          <a:solidFill>
            <a:srgbClr val="22D3EE">
              <a:alpha val="15000"/>
            </a:srgbClr>
          </a:solidFill>
          <a:ln/>
        </p:spPr>
      </p:sp>
      <p:sp>
        <p:nvSpPr>
          <p:cNvPr id="5" name="Shape 3"/>
          <p:cNvSpPr/>
          <p:nvPr/>
        </p:nvSpPr>
        <p:spPr>
          <a:xfrm>
            <a:off x="2788920" y="457200"/>
            <a:ext cx="18288" cy="18288"/>
          </a:xfrm>
          <a:prstGeom prst="ellipse">
            <a:avLst/>
          </a:prstGeom>
          <a:solidFill>
            <a:srgbClr val="22D3EE">
              <a:alpha val="15000"/>
            </a:srgbClr>
          </a:solidFill>
          <a:ln/>
        </p:spPr>
      </p:sp>
      <p:sp>
        <p:nvSpPr>
          <p:cNvPr id="6" name="Shape 4"/>
          <p:cNvSpPr/>
          <p:nvPr/>
        </p:nvSpPr>
        <p:spPr>
          <a:xfrm>
            <a:off x="3566160" y="457200"/>
            <a:ext cx="18288" cy="18288"/>
          </a:xfrm>
          <a:prstGeom prst="ellipse">
            <a:avLst/>
          </a:prstGeom>
          <a:solidFill>
            <a:srgbClr val="22D3EE">
              <a:alpha val="15000"/>
            </a:srgbClr>
          </a:solidFill>
          <a:ln/>
        </p:spPr>
      </p:sp>
      <p:sp>
        <p:nvSpPr>
          <p:cNvPr id="7" name="Shape 5"/>
          <p:cNvSpPr/>
          <p:nvPr/>
        </p:nvSpPr>
        <p:spPr>
          <a:xfrm>
            <a:off x="4343400" y="457200"/>
            <a:ext cx="18288" cy="18288"/>
          </a:xfrm>
          <a:prstGeom prst="ellipse">
            <a:avLst/>
          </a:prstGeom>
          <a:solidFill>
            <a:srgbClr val="22D3EE">
              <a:alpha val="15000"/>
            </a:srgbClr>
          </a:solidFill>
          <a:ln/>
        </p:spPr>
      </p:sp>
      <p:sp>
        <p:nvSpPr>
          <p:cNvPr id="8" name="Shape 6"/>
          <p:cNvSpPr/>
          <p:nvPr/>
        </p:nvSpPr>
        <p:spPr>
          <a:xfrm>
            <a:off x="5120640" y="457200"/>
            <a:ext cx="18288" cy="18288"/>
          </a:xfrm>
          <a:prstGeom prst="ellipse">
            <a:avLst/>
          </a:prstGeom>
          <a:solidFill>
            <a:srgbClr val="22D3EE">
              <a:alpha val="15000"/>
            </a:srgbClr>
          </a:solidFill>
          <a:ln/>
        </p:spPr>
      </p:sp>
      <p:sp>
        <p:nvSpPr>
          <p:cNvPr id="9" name="Shape 7"/>
          <p:cNvSpPr/>
          <p:nvPr/>
        </p:nvSpPr>
        <p:spPr>
          <a:xfrm>
            <a:off x="5897880" y="457200"/>
            <a:ext cx="18288" cy="18288"/>
          </a:xfrm>
          <a:prstGeom prst="ellipse">
            <a:avLst/>
          </a:prstGeom>
          <a:solidFill>
            <a:srgbClr val="22D3EE">
              <a:alpha val="15000"/>
            </a:srgbClr>
          </a:solidFill>
          <a:ln/>
        </p:spPr>
      </p:sp>
      <p:sp>
        <p:nvSpPr>
          <p:cNvPr id="10" name="Shape 8"/>
          <p:cNvSpPr/>
          <p:nvPr/>
        </p:nvSpPr>
        <p:spPr>
          <a:xfrm>
            <a:off x="6675120" y="457200"/>
            <a:ext cx="18288" cy="18288"/>
          </a:xfrm>
          <a:prstGeom prst="ellipse">
            <a:avLst/>
          </a:prstGeom>
          <a:solidFill>
            <a:srgbClr val="22D3EE">
              <a:alpha val="15000"/>
            </a:srgbClr>
          </a:solidFill>
          <a:ln/>
        </p:spPr>
      </p:sp>
      <p:sp>
        <p:nvSpPr>
          <p:cNvPr id="11" name="Shape 9"/>
          <p:cNvSpPr/>
          <p:nvPr/>
        </p:nvSpPr>
        <p:spPr>
          <a:xfrm>
            <a:off x="7452360" y="457200"/>
            <a:ext cx="18288" cy="18288"/>
          </a:xfrm>
          <a:prstGeom prst="ellipse">
            <a:avLst/>
          </a:prstGeom>
          <a:solidFill>
            <a:srgbClr val="22D3EE">
              <a:alpha val="15000"/>
            </a:srgbClr>
          </a:solidFill>
          <a:ln/>
        </p:spPr>
      </p:sp>
      <p:sp>
        <p:nvSpPr>
          <p:cNvPr id="12" name="Shape 10"/>
          <p:cNvSpPr/>
          <p:nvPr/>
        </p:nvSpPr>
        <p:spPr>
          <a:xfrm>
            <a:off x="8229600" y="457200"/>
            <a:ext cx="18288" cy="18288"/>
          </a:xfrm>
          <a:prstGeom prst="ellipse">
            <a:avLst/>
          </a:prstGeom>
          <a:solidFill>
            <a:srgbClr val="22D3EE">
              <a:alpha val="15000"/>
            </a:srgbClr>
          </a:solidFill>
          <a:ln/>
        </p:spPr>
      </p:sp>
      <p:sp>
        <p:nvSpPr>
          <p:cNvPr id="13" name="Shape 11"/>
          <p:cNvSpPr/>
          <p:nvPr/>
        </p:nvSpPr>
        <p:spPr>
          <a:xfrm>
            <a:off x="9006840" y="457200"/>
            <a:ext cx="18288" cy="18288"/>
          </a:xfrm>
          <a:prstGeom prst="ellipse">
            <a:avLst/>
          </a:prstGeom>
          <a:solidFill>
            <a:srgbClr val="22D3EE">
              <a:alpha val="15000"/>
            </a:srgbClr>
          </a:solidFill>
          <a:ln/>
        </p:spPr>
      </p:sp>
      <p:sp>
        <p:nvSpPr>
          <p:cNvPr id="14" name="Shape 12"/>
          <p:cNvSpPr/>
          <p:nvPr/>
        </p:nvSpPr>
        <p:spPr>
          <a:xfrm>
            <a:off x="9784080" y="457200"/>
            <a:ext cx="18288" cy="18288"/>
          </a:xfrm>
          <a:prstGeom prst="ellipse">
            <a:avLst/>
          </a:prstGeom>
          <a:solidFill>
            <a:srgbClr val="22D3EE">
              <a:alpha val="15000"/>
            </a:srgbClr>
          </a:solidFill>
          <a:ln/>
        </p:spPr>
      </p:sp>
      <p:sp>
        <p:nvSpPr>
          <p:cNvPr id="15" name="Shape 13"/>
          <p:cNvSpPr/>
          <p:nvPr/>
        </p:nvSpPr>
        <p:spPr>
          <a:xfrm>
            <a:off x="10561320" y="457200"/>
            <a:ext cx="18288" cy="18288"/>
          </a:xfrm>
          <a:prstGeom prst="ellipse">
            <a:avLst/>
          </a:prstGeom>
          <a:solidFill>
            <a:srgbClr val="22D3EE">
              <a:alpha val="15000"/>
            </a:srgbClr>
          </a:solidFill>
          <a:ln/>
        </p:spPr>
      </p:sp>
      <p:sp>
        <p:nvSpPr>
          <p:cNvPr id="16" name="Shape 14"/>
          <p:cNvSpPr/>
          <p:nvPr/>
        </p:nvSpPr>
        <p:spPr>
          <a:xfrm>
            <a:off x="11338560" y="457200"/>
            <a:ext cx="18288" cy="18288"/>
          </a:xfrm>
          <a:prstGeom prst="ellipse">
            <a:avLst/>
          </a:prstGeom>
          <a:solidFill>
            <a:srgbClr val="22D3EE">
              <a:alpha val="15000"/>
            </a:srgbClr>
          </a:solidFill>
          <a:ln/>
        </p:spPr>
      </p:sp>
      <p:sp>
        <p:nvSpPr>
          <p:cNvPr id="17" name="Shape 15"/>
          <p:cNvSpPr/>
          <p:nvPr/>
        </p:nvSpPr>
        <p:spPr>
          <a:xfrm>
            <a:off x="457200" y="1234440"/>
            <a:ext cx="18288" cy="18288"/>
          </a:xfrm>
          <a:prstGeom prst="ellipse">
            <a:avLst/>
          </a:prstGeom>
          <a:solidFill>
            <a:srgbClr val="22D3EE">
              <a:alpha val="15000"/>
            </a:srgbClr>
          </a:solidFill>
          <a:ln/>
        </p:spPr>
      </p:sp>
      <p:sp>
        <p:nvSpPr>
          <p:cNvPr id="18" name="Shape 16"/>
          <p:cNvSpPr/>
          <p:nvPr/>
        </p:nvSpPr>
        <p:spPr>
          <a:xfrm>
            <a:off x="1234440" y="1234440"/>
            <a:ext cx="18288" cy="18288"/>
          </a:xfrm>
          <a:prstGeom prst="ellipse">
            <a:avLst/>
          </a:prstGeom>
          <a:solidFill>
            <a:srgbClr val="22D3EE">
              <a:alpha val="15000"/>
            </a:srgbClr>
          </a:solidFill>
          <a:ln/>
        </p:spPr>
      </p:sp>
      <p:sp>
        <p:nvSpPr>
          <p:cNvPr id="19" name="Shape 17"/>
          <p:cNvSpPr/>
          <p:nvPr/>
        </p:nvSpPr>
        <p:spPr>
          <a:xfrm>
            <a:off x="2011680" y="1234440"/>
            <a:ext cx="18288" cy="18288"/>
          </a:xfrm>
          <a:prstGeom prst="ellipse">
            <a:avLst/>
          </a:prstGeom>
          <a:solidFill>
            <a:srgbClr val="22D3EE">
              <a:alpha val="15000"/>
            </a:srgbClr>
          </a:solidFill>
          <a:ln/>
        </p:spPr>
      </p:sp>
      <p:sp>
        <p:nvSpPr>
          <p:cNvPr id="20" name="Shape 18"/>
          <p:cNvSpPr/>
          <p:nvPr/>
        </p:nvSpPr>
        <p:spPr>
          <a:xfrm>
            <a:off x="2788920" y="1234440"/>
            <a:ext cx="18288" cy="18288"/>
          </a:xfrm>
          <a:prstGeom prst="ellipse">
            <a:avLst/>
          </a:prstGeom>
          <a:solidFill>
            <a:srgbClr val="22D3EE">
              <a:alpha val="15000"/>
            </a:srgbClr>
          </a:solidFill>
          <a:ln/>
        </p:spPr>
      </p:sp>
      <p:sp>
        <p:nvSpPr>
          <p:cNvPr id="21" name="Shape 19"/>
          <p:cNvSpPr/>
          <p:nvPr/>
        </p:nvSpPr>
        <p:spPr>
          <a:xfrm>
            <a:off x="3566160" y="1234440"/>
            <a:ext cx="18288" cy="18288"/>
          </a:xfrm>
          <a:prstGeom prst="ellipse">
            <a:avLst/>
          </a:prstGeom>
          <a:solidFill>
            <a:srgbClr val="22D3EE">
              <a:alpha val="15000"/>
            </a:srgbClr>
          </a:solidFill>
          <a:ln/>
        </p:spPr>
      </p:sp>
      <p:sp>
        <p:nvSpPr>
          <p:cNvPr id="22" name="Shape 20"/>
          <p:cNvSpPr/>
          <p:nvPr/>
        </p:nvSpPr>
        <p:spPr>
          <a:xfrm>
            <a:off x="4343400" y="1234440"/>
            <a:ext cx="18288" cy="18288"/>
          </a:xfrm>
          <a:prstGeom prst="ellipse">
            <a:avLst/>
          </a:prstGeom>
          <a:solidFill>
            <a:srgbClr val="22D3EE">
              <a:alpha val="15000"/>
            </a:srgbClr>
          </a:solidFill>
          <a:ln/>
        </p:spPr>
      </p:sp>
      <p:sp>
        <p:nvSpPr>
          <p:cNvPr id="23" name="Shape 21"/>
          <p:cNvSpPr/>
          <p:nvPr/>
        </p:nvSpPr>
        <p:spPr>
          <a:xfrm>
            <a:off x="5120640" y="1234440"/>
            <a:ext cx="18288" cy="18288"/>
          </a:xfrm>
          <a:prstGeom prst="ellipse">
            <a:avLst/>
          </a:prstGeom>
          <a:solidFill>
            <a:srgbClr val="22D3EE">
              <a:alpha val="15000"/>
            </a:srgbClr>
          </a:solidFill>
          <a:ln/>
        </p:spPr>
      </p:sp>
      <p:sp>
        <p:nvSpPr>
          <p:cNvPr id="24" name="Shape 22"/>
          <p:cNvSpPr/>
          <p:nvPr/>
        </p:nvSpPr>
        <p:spPr>
          <a:xfrm>
            <a:off x="5897880" y="1234440"/>
            <a:ext cx="18288" cy="18288"/>
          </a:xfrm>
          <a:prstGeom prst="ellipse">
            <a:avLst/>
          </a:prstGeom>
          <a:solidFill>
            <a:srgbClr val="22D3EE">
              <a:alpha val="15000"/>
            </a:srgbClr>
          </a:solidFill>
          <a:ln/>
        </p:spPr>
      </p:sp>
      <p:sp>
        <p:nvSpPr>
          <p:cNvPr id="25" name="Shape 23"/>
          <p:cNvSpPr/>
          <p:nvPr/>
        </p:nvSpPr>
        <p:spPr>
          <a:xfrm>
            <a:off x="6675120" y="1234440"/>
            <a:ext cx="18288" cy="18288"/>
          </a:xfrm>
          <a:prstGeom prst="ellipse">
            <a:avLst/>
          </a:prstGeom>
          <a:solidFill>
            <a:srgbClr val="22D3EE">
              <a:alpha val="15000"/>
            </a:srgbClr>
          </a:solidFill>
          <a:ln/>
        </p:spPr>
      </p:sp>
      <p:sp>
        <p:nvSpPr>
          <p:cNvPr id="26" name="Shape 24"/>
          <p:cNvSpPr/>
          <p:nvPr/>
        </p:nvSpPr>
        <p:spPr>
          <a:xfrm>
            <a:off x="7452360" y="1234440"/>
            <a:ext cx="18288" cy="18288"/>
          </a:xfrm>
          <a:prstGeom prst="ellipse">
            <a:avLst/>
          </a:prstGeom>
          <a:solidFill>
            <a:srgbClr val="22D3EE">
              <a:alpha val="15000"/>
            </a:srgbClr>
          </a:solidFill>
          <a:ln/>
        </p:spPr>
      </p:sp>
      <p:sp>
        <p:nvSpPr>
          <p:cNvPr id="27" name="Shape 25"/>
          <p:cNvSpPr/>
          <p:nvPr/>
        </p:nvSpPr>
        <p:spPr>
          <a:xfrm>
            <a:off x="8229600" y="1234440"/>
            <a:ext cx="18288" cy="18288"/>
          </a:xfrm>
          <a:prstGeom prst="ellipse">
            <a:avLst/>
          </a:prstGeom>
          <a:solidFill>
            <a:srgbClr val="22D3EE">
              <a:alpha val="15000"/>
            </a:srgbClr>
          </a:solidFill>
          <a:ln/>
        </p:spPr>
      </p:sp>
      <p:sp>
        <p:nvSpPr>
          <p:cNvPr id="28" name="Shape 26"/>
          <p:cNvSpPr/>
          <p:nvPr/>
        </p:nvSpPr>
        <p:spPr>
          <a:xfrm>
            <a:off x="9006840" y="1234440"/>
            <a:ext cx="18288" cy="18288"/>
          </a:xfrm>
          <a:prstGeom prst="ellipse">
            <a:avLst/>
          </a:prstGeom>
          <a:solidFill>
            <a:srgbClr val="22D3EE">
              <a:alpha val="15000"/>
            </a:srgbClr>
          </a:solidFill>
          <a:ln/>
        </p:spPr>
      </p:sp>
      <p:sp>
        <p:nvSpPr>
          <p:cNvPr id="29" name="Shape 27"/>
          <p:cNvSpPr/>
          <p:nvPr/>
        </p:nvSpPr>
        <p:spPr>
          <a:xfrm>
            <a:off x="9784080" y="1234440"/>
            <a:ext cx="18288" cy="18288"/>
          </a:xfrm>
          <a:prstGeom prst="ellipse">
            <a:avLst/>
          </a:prstGeom>
          <a:solidFill>
            <a:srgbClr val="22D3EE">
              <a:alpha val="15000"/>
            </a:srgbClr>
          </a:solidFill>
          <a:ln/>
        </p:spPr>
      </p:sp>
      <p:sp>
        <p:nvSpPr>
          <p:cNvPr id="30" name="Shape 28"/>
          <p:cNvSpPr/>
          <p:nvPr/>
        </p:nvSpPr>
        <p:spPr>
          <a:xfrm>
            <a:off x="10561320" y="1234440"/>
            <a:ext cx="18288" cy="18288"/>
          </a:xfrm>
          <a:prstGeom prst="ellipse">
            <a:avLst/>
          </a:prstGeom>
          <a:solidFill>
            <a:srgbClr val="22D3EE">
              <a:alpha val="15000"/>
            </a:srgbClr>
          </a:solidFill>
          <a:ln/>
        </p:spPr>
      </p:sp>
      <p:sp>
        <p:nvSpPr>
          <p:cNvPr id="31" name="Shape 29"/>
          <p:cNvSpPr/>
          <p:nvPr/>
        </p:nvSpPr>
        <p:spPr>
          <a:xfrm>
            <a:off x="11338560" y="1234440"/>
            <a:ext cx="18288" cy="18288"/>
          </a:xfrm>
          <a:prstGeom prst="ellipse">
            <a:avLst/>
          </a:prstGeom>
          <a:solidFill>
            <a:srgbClr val="22D3EE">
              <a:alpha val="15000"/>
            </a:srgbClr>
          </a:solidFill>
          <a:ln/>
        </p:spPr>
      </p:sp>
      <p:sp>
        <p:nvSpPr>
          <p:cNvPr id="32" name="Shape 30"/>
          <p:cNvSpPr/>
          <p:nvPr/>
        </p:nvSpPr>
        <p:spPr>
          <a:xfrm>
            <a:off x="457200" y="2011680"/>
            <a:ext cx="18288" cy="18288"/>
          </a:xfrm>
          <a:prstGeom prst="ellipse">
            <a:avLst/>
          </a:prstGeom>
          <a:solidFill>
            <a:srgbClr val="22D3EE">
              <a:alpha val="15000"/>
            </a:srgbClr>
          </a:solidFill>
          <a:ln/>
        </p:spPr>
      </p:sp>
      <p:sp>
        <p:nvSpPr>
          <p:cNvPr id="33" name="Shape 31"/>
          <p:cNvSpPr/>
          <p:nvPr/>
        </p:nvSpPr>
        <p:spPr>
          <a:xfrm>
            <a:off x="1234440" y="2011680"/>
            <a:ext cx="18288" cy="18288"/>
          </a:xfrm>
          <a:prstGeom prst="ellipse">
            <a:avLst/>
          </a:prstGeom>
          <a:solidFill>
            <a:srgbClr val="22D3EE">
              <a:alpha val="15000"/>
            </a:srgbClr>
          </a:solidFill>
          <a:ln/>
        </p:spPr>
      </p:sp>
      <p:sp>
        <p:nvSpPr>
          <p:cNvPr id="34" name="Shape 32"/>
          <p:cNvSpPr/>
          <p:nvPr/>
        </p:nvSpPr>
        <p:spPr>
          <a:xfrm>
            <a:off x="2011680" y="2011680"/>
            <a:ext cx="18288" cy="18288"/>
          </a:xfrm>
          <a:prstGeom prst="ellipse">
            <a:avLst/>
          </a:prstGeom>
          <a:solidFill>
            <a:srgbClr val="22D3EE">
              <a:alpha val="15000"/>
            </a:srgbClr>
          </a:solidFill>
          <a:ln/>
        </p:spPr>
      </p:sp>
      <p:sp>
        <p:nvSpPr>
          <p:cNvPr id="35" name="Shape 33"/>
          <p:cNvSpPr/>
          <p:nvPr/>
        </p:nvSpPr>
        <p:spPr>
          <a:xfrm>
            <a:off x="2788920" y="2011680"/>
            <a:ext cx="18288" cy="18288"/>
          </a:xfrm>
          <a:prstGeom prst="ellipse">
            <a:avLst/>
          </a:prstGeom>
          <a:solidFill>
            <a:srgbClr val="22D3EE">
              <a:alpha val="15000"/>
            </a:srgbClr>
          </a:solidFill>
          <a:ln/>
        </p:spPr>
      </p:sp>
      <p:sp>
        <p:nvSpPr>
          <p:cNvPr id="36" name="Shape 34"/>
          <p:cNvSpPr/>
          <p:nvPr/>
        </p:nvSpPr>
        <p:spPr>
          <a:xfrm>
            <a:off x="3566160" y="2011680"/>
            <a:ext cx="18288" cy="18288"/>
          </a:xfrm>
          <a:prstGeom prst="ellipse">
            <a:avLst/>
          </a:prstGeom>
          <a:solidFill>
            <a:srgbClr val="22D3EE">
              <a:alpha val="15000"/>
            </a:srgbClr>
          </a:solidFill>
          <a:ln/>
        </p:spPr>
      </p:sp>
      <p:sp>
        <p:nvSpPr>
          <p:cNvPr id="37" name="Shape 35"/>
          <p:cNvSpPr/>
          <p:nvPr/>
        </p:nvSpPr>
        <p:spPr>
          <a:xfrm>
            <a:off x="4343400" y="2011680"/>
            <a:ext cx="18288" cy="18288"/>
          </a:xfrm>
          <a:prstGeom prst="ellipse">
            <a:avLst/>
          </a:prstGeom>
          <a:solidFill>
            <a:srgbClr val="22D3EE">
              <a:alpha val="15000"/>
            </a:srgbClr>
          </a:solidFill>
          <a:ln/>
        </p:spPr>
      </p:sp>
      <p:sp>
        <p:nvSpPr>
          <p:cNvPr id="38" name="Shape 36"/>
          <p:cNvSpPr/>
          <p:nvPr/>
        </p:nvSpPr>
        <p:spPr>
          <a:xfrm>
            <a:off x="5120640" y="2011680"/>
            <a:ext cx="18288" cy="18288"/>
          </a:xfrm>
          <a:prstGeom prst="ellipse">
            <a:avLst/>
          </a:prstGeom>
          <a:solidFill>
            <a:srgbClr val="22D3EE">
              <a:alpha val="15000"/>
            </a:srgbClr>
          </a:solidFill>
          <a:ln/>
        </p:spPr>
      </p:sp>
      <p:sp>
        <p:nvSpPr>
          <p:cNvPr id="39" name="Shape 37"/>
          <p:cNvSpPr/>
          <p:nvPr/>
        </p:nvSpPr>
        <p:spPr>
          <a:xfrm>
            <a:off x="5897880" y="2011680"/>
            <a:ext cx="18288" cy="18288"/>
          </a:xfrm>
          <a:prstGeom prst="ellipse">
            <a:avLst/>
          </a:prstGeom>
          <a:solidFill>
            <a:srgbClr val="22D3EE">
              <a:alpha val="15000"/>
            </a:srgbClr>
          </a:solidFill>
          <a:ln/>
        </p:spPr>
      </p:sp>
      <p:sp>
        <p:nvSpPr>
          <p:cNvPr id="40" name="Shape 38"/>
          <p:cNvSpPr/>
          <p:nvPr/>
        </p:nvSpPr>
        <p:spPr>
          <a:xfrm>
            <a:off x="6675120" y="2011680"/>
            <a:ext cx="18288" cy="18288"/>
          </a:xfrm>
          <a:prstGeom prst="ellipse">
            <a:avLst/>
          </a:prstGeom>
          <a:solidFill>
            <a:srgbClr val="22D3EE">
              <a:alpha val="15000"/>
            </a:srgbClr>
          </a:solidFill>
          <a:ln/>
        </p:spPr>
      </p:sp>
      <p:sp>
        <p:nvSpPr>
          <p:cNvPr id="41" name="Shape 39"/>
          <p:cNvSpPr/>
          <p:nvPr/>
        </p:nvSpPr>
        <p:spPr>
          <a:xfrm>
            <a:off x="7452360" y="2011680"/>
            <a:ext cx="18288" cy="18288"/>
          </a:xfrm>
          <a:prstGeom prst="ellipse">
            <a:avLst/>
          </a:prstGeom>
          <a:solidFill>
            <a:srgbClr val="22D3EE">
              <a:alpha val="15000"/>
            </a:srgbClr>
          </a:solidFill>
          <a:ln/>
        </p:spPr>
      </p:sp>
      <p:sp>
        <p:nvSpPr>
          <p:cNvPr id="42" name="Shape 40"/>
          <p:cNvSpPr/>
          <p:nvPr/>
        </p:nvSpPr>
        <p:spPr>
          <a:xfrm>
            <a:off x="8229600" y="2011680"/>
            <a:ext cx="18288" cy="18288"/>
          </a:xfrm>
          <a:prstGeom prst="ellipse">
            <a:avLst/>
          </a:prstGeom>
          <a:solidFill>
            <a:srgbClr val="22D3EE">
              <a:alpha val="15000"/>
            </a:srgbClr>
          </a:solidFill>
          <a:ln/>
        </p:spPr>
      </p:sp>
      <p:sp>
        <p:nvSpPr>
          <p:cNvPr id="43" name="Shape 41"/>
          <p:cNvSpPr/>
          <p:nvPr/>
        </p:nvSpPr>
        <p:spPr>
          <a:xfrm>
            <a:off x="9006840" y="2011680"/>
            <a:ext cx="18288" cy="18288"/>
          </a:xfrm>
          <a:prstGeom prst="ellipse">
            <a:avLst/>
          </a:prstGeom>
          <a:solidFill>
            <a:srgbClr val="22D3EE">
              <a:alpha val="15000"/>
            </a:srgbClr>
          </a:solidFill>
          <a:ln/>
        </p:spPr>
      </p:sp>
      <p:sp>
        <p:nvSpPr>
          <p:cNvPr id="44" name="Shape 42"/>
          <p:cNvSpPr/>
          <p:nvPr/>
        </p:nvSpPr>
        <p:spPr>
          <a:xfrm>
            <a:off x="9784080" y="2011680"/>
            <a:ext cx="18288" cy="18288"/>
          </a:xfrm>
          <a:prstGeom prst="ellipse">
            <a:avLst/>
          </a:prstGeom>
          <a:solidFill>
            <a:srgbClr val="22D3EE">
              <a:alpha val="15000"/>
            </a:srgbClr>
          </a:solidFill>
          <a:ln/>
        </p:spPr>
      </p:sp>
      <p:sp>
        <p:nvSpPr>
          <p:cNvPr id="45" name="Shape 43"/>
          <p:cNvSpPr/>
          <p:nvPr/>
        </p:nvSpPr>
        <p:spPr>
          <a:xfrm>
            <a:off x="10561320" y="2011680"/>
            <a:ext cx="18288" cy="18288"/>
          </a:xfrm>
          <a:prstGeom prst="ellipse">
            <a:avLst/>
          </a:prstGeom>
          <a:solidFill>
            <a:srgbClr val="22D3EE">
              <a:alpha val="15000"/>
            </a:srgbClr>
          </a:solidFill>
          <a:ln/>
        </p:spPr>
      </p:sp>
      <p:sp>
        <p:nvSpPr>
          <p:cNvPr id="46" name="Shape 44"/>
          <p:cNvSpPr/>
          <p:nvPr/>
        </p:nvSpPr>
        <p:spPr>
          <a:xfrm>
            <a:off x="11338560" y="2011680"/>
            <a:ext cx="18288" cy="18288"/>
          </a:xfrm>
          <a:prstGeom prst="ellipse">
            <a:avLst/>
          </a:prstGeom>
          <a:solidFill>
            <a:srgbClr val="22D3EE">
              <a:alpha val="15000"/>
            </a:srgbClr>
          </a:solidFill>
          <a:ln/>
        </p:spPr>
      </p:sp>
      <p:sp>
        <p:nvSpPr>
          <p:cNvPr id="47" name="Shape 45"/>
          <p:cNvSpPr/>
          <p:nvPr/>
        </p:nvSpPr>
        <p:spPr>
          <a:xfrm>
            <a:off x="457200" y="2788920"/>
            <a:ext cx="18288" cy="18288"/>
          </a:xfrm>
          <a:prstGeom prst="ellipse">
            <a:avLst/>
          </a:prstGeom>
          <a:solidFill>
            <a:srgbClr val="22D3EE">
              <a:alpha val="15000"/>
            </a:srgbClr>
          </a:solidFill>
          <a:ln/>
        </p:spPr>
      </p:sp>
      <p:sp>
        <p:nvSpPr>
          <p:cNvPr id="48" name="Shape 46"/>
          <p:cNvSpPr/>
          <p:nvPr/>
        </p:nvSpPr>
        <p:spPr>
          <a:xfrm>
            <a:off x="1234440" y="2788920"/>
            <a:ext cx="18288" cy="18288"/>
          </a:xfrm>
          <a:prstGeom prst="ellipse">
            <a:avLst/>
          </a:prstGeom>
          <a:solidFill>
            <a:srgbClr val="22D3EE">
              <a:alpha val="15000"/>
            </a:srgbClr>
          </a:solidFill>
          <a:ln/>
        </p:spPr>
      </p:sp>
      <p:sp>
        <p:nvSpPr>
          <p:cNvPr id="49" name="Shape 47"/>
          <p:cNvSpPr/>
          <p:nvPr/>
        </p:nvSpPr>
        <p:spPr>
          <a:xfrm>
            <a:off x="2011680" y="2788920"/>
            <a:ext cx="18288" cy="18288"/>
          </a:xfrm>
          <a:prstGeom prst="ellipse">
            <a:avLst/>
          </a:prstGeom>
          <a:solidFill>
            <a:srgbClr val="22D3EE">
              <a:alpha val="15000"/>
            </a:srgbClr>
          </a:solidFill>
          <a:ln/>
        </p:spPr>
      </p:sp>
      <p:sp>
        <p:nvSpPr>
          <p:cNvPr id="50" name="Shape 48"/>
          <p:cNvSpPr/>
          <p:nvPr/>
        </p:nvSpPr>
        <p:spPr>
          <a:xfrm>
            <a:off x="2788920" y="2788920"/>
            <a:ext cx="18288" cy="18288"/>
          </a:xfrm>
          <a:prstGeom prst="ellipse">
            <a:avLst/>
          </a:prstGeom>
          <a:solidFill>
            <a:srgbClr val="22D3EE">
              <a:alpha val="15000"/>
            </a:srgbClr>
          </a:solidFill>
          <a:ln/>
        </p:spPr>
      </p:sp>
      <p:sp>
        <p:nvSpPr>
          <p:cNvPr id="51" name="Shape 49"/>
          <p:cNvSpPr/>
          <p:nvPr/>
        </p:nvSpPr>
        <p:spPr>
          <a:xfrm>
            <a:off x="3566160" y="2788920"/>
            <a:ext cx="18288" cy="18288"/>
          </a:xfrm>
          <a:prstGeom prst="ellipse">
            <a:avLst/>
          </a:prstGeom>
          <a:solidFill>
            <a:srgbClr val="22D3EE">
              <a:alpha val="15000"/>
            </a:srgbClr>
          </a:solidFill>
          <a:ln/>
        </p:spPr>
      </p:sp>
      <p:sp>
        <p:nvSpPr>
          <p:cNvPr id="52" name="Shape 50"/>
          <p:cNvSpPr/>
          <p:nvPr/>
        </p:nvSpPr>
        <p:spPr>
          <a:xfrm>
            <a:off x="4343400" y="2788920"/>
            <a:ext cx="18288" cy="18288"/>
          </a:xfrm>
          <a:prstGeom prst="ellipse">
            <a:avLst/>
          </a:prstGeom>
          <a:solidFill>
            <a:srgbClr val="22D3EE">
              <a:alpha val="15000"/>
            </a:srgbClr>
          </a:solidFill>
          <a:ln/>
        </p:spPr>
      </p:sp>
      <p:sp>
        <p:nvSpPr>
          <p:cNvPr id="53" name="Shape 51"/>
          <p:cNvSpPr/>
          <p:nvPr/>
        </p:nvSpPr>
        <p:spPr>
          <a:xfrm>
            <a:off x="5120640" y="2788920"/>
            <a:ext cx="18288" cy="18288"/>
          </a:xfrm>
          <a:prstGeom prst="ellipse">
            <a:avLst/>
          </a:prstGeom>
          <a:solidFill>
            <a:srgbClr val="22D3EE">
              <a:alpha val="15000"/>
            </a:srgbClr>
          </a:solidFill>
          <a:ln/>
        </p:spPr>
      </p:sp>
      <p:sp>
        <p:nvSpPr>
          <p:cNvPr id="54" name="Shape 52"/>
          <p:cNvSpPr/>
          <p:nvPr/>
        </p:nvSpPr>
        <p:spPr>
          <a:xfrm>
            <a:off x="5897880" y="2788920"/>
            <a:ext cx="18288" cy="18288"/>
          </a:xfrm>
          <a:prstGeom prst="ellipse">
            <a:avLst/>
          </a:prstGeom>
          <a:solidFill>
            <a:srgbClr val="22D3EE">
              <a:alpha val="15000"/>
            </a:srgbClr>
          </a:solidFill>
          <a:ln/>
        </p:spPr>
      </p:sp>
      <p:sp>
        <p:nvSpPr>
          <p:cNvPr id="55" name="Shape 53"/>
          <p:cNvSpPr/>
          <p:nvPr/>
        </p:nvSpPr>
        <p:spPr>
          <a:xfrm>
            <a:off x="6675120" y="2788920"/>
            <a:ext cx="18288" cy="18288"/>
          </a:xfrm>
          <a:prstGeom prst="ellipse">
            <a:avLst/>
          </a:prstGeom>
          <a:solidFill>
            <a:srgbClr val="22D3EE">
              <a:alpha val="15000"/>
            </a:srgbClr>
          </a:solidFill>
          <a:ln/>
        </p:spPr>
      </p:sp>
      <p:sp>
        <p:nvSpPr>
          <p:cNvPr id="56" name="Shape 54"/>
          <p:cNvSpPr/>
          <p:nvPr/>
        </p:nvSpPr>
        <p:spPr>
          <a:xfrm>
            <a:off x="7452360" y="2788920"/>
            <a:ext cx="18288" cy="18288"/>
          </a:xfrm>
          <a:prstGeom prst="ellipse">
            <a:avLst/>
          </a:prstGeom>
          <a:solidFill>
            <a:srgbClr val="22D3EE">
              <a:alpha val="15000"/>
            </a:srgbClr>
          </a:solidFill>
          <a:ln/>
        </p:spPr>
      </p:sp>
      <p:sp>
        <p:nvSpPr>
          <p:cNvPr id="57" name="Shape 55"/>
          <p:cNvSpPr/>
          <p:nvPr/>
        </p:nvSpPr>
        <p:spPr>
          <a:xfrm>
            <a:off x="8229600" y="2788920"/>
            <a:ext cx="18288" cy="18288"/>
          </a:xfrm>
          <a:prstGeom prst="ellipse">
            <a:avLst/>
          </a:prstGeom>
          <a:solidFill>
            <a:srgbClr val="22D3EE">
              <a:alpha val="15000"/>
            </a:srgbClr>
          </a:solidFill>
          <a:ln/>
        </p:spPr>
      </p:sp>
      <p:sp>
        <p:nvSpPr>
          <p:cNvPr id="58" name="Shape 56"/>
          <p:cNvSpPr/>
          <p:nvPr/>
        </p:nvSpPr>
        <p:spPr>
          <a:xfrm>
            <a:off x="9006840" y="2788920"/>
            <a:ext cx="18288" cy="18288"/>
          </a:xfrm>
          <a:prstGeom prst="ellipse">
            <a:avLst/>
          </a:prstGeom>
          <a:solidFill>
            <a:srgbClr val="22D3EE">
              <a:alpha val="15000"/>
            </a:srgbClr>
          </a:solidFill>
          <a:ln/>
        </p:spPr>
      </p:sp>
      <p:sp>
        <p:nvSpPr>
          <p:cNvPr id="59" name="Shape 57"/>
          <p:cNvSpPr/>
          <p:nvPr/>
        </p:nvSpPr>
        <p:spPr>
          <a:xfrm>
            <a:off x="9784080" y="2788920"/>
            <a:ext cx="18288" cy="18288"/>
          </a:xfrm>
          <a:prstGeom prst="ellipse">
            <a:avLst/>
          </a:prstGeom>
          <a:solidFill>
            <a:srgbClr val="22D3EE">
              <a:alpha val="15000"/>
            </a:srgbClr>
          </a:solidFill>
          <a:ln/>
        </p:spPr>
      </p:sp>
      <p:sp>
        <p:nvSpPr>
          <p:cNvPr id="60" name="Shape 58"/>
          <p:cNvSpPr/>
          <p:nvPr/>
        </p:nvSpPr>
        <p:spPr>
          <a:xfrm>
            <a:off x="10561320" y="2788920"/>
            <a:ext cx="18288" cy="18288"/>
          </a:xfrm>
          <a:prstGeom prst="ellipse">
            <a:avLst/>
          </a:prstGeom>
          <a:solidFill>
            <a:srgbClr val="22D3EE">
              <a:alpha val="15000"/>
            </a:srgbClr>
          </a:solidFill>
          <a:ln/>
        </p:spPr>
      </p:sp>
      <p:sp>
        <p:nvSpPr>
          <p:cNvPr id="61" name="Shape 59"/>
          <p:cNvSpPr/>
          <p:nvPr/>
        </p:nvSpPr>
        <p:spPr>
          <a:xfrm>
            <a:off x="11338560" y="2788920"/>
            <a:ext cx="18288" cy="18288"/>
          </a:xfrm>
          <a:prstGeom prst="ellipse">
            <a:avLst/>
          </a:prstGeom>
          <a:solidFill>
            <a:srgbClr val="22D3EE">
              <a:alpha val="15000"/>
            </a:srgbClr>
          </a:solidFill>
          <a:ln/>
        </p:spPr>
      </p:sp>
      <p:sp>
        <p:nvSpPr>
          <p:cNvPr id="62" name="Shape 60"/>
          <p:cNvSpPr/>
          <p:nvPr/>
        </p:nvSpPr>
        <p:spPr>
          <a:xfrm>
            <a:off x="457200" y="3566160"/>
            <a:ext cx="18288" cy="18288"/>
          </a:xfrm>
          <a:prstGeom prst="ellipse">
            <a:avLst/>
          </a:prstGeom>
          <a:solidFill>
            <a:srgbClr val="22D3EE">
              <a:alpha val="15000"/>
            </a:srgbClr>
          </a:solidFill>
          <a:ln/>
        </p:spPr>
      </p:sp>
      <p:sp>
        <p:nvSpPr>
          <p:cNvPr id="63" name="Shape 61"/>
          <p:cNvSpPr/>
          <p:nvPr/>
        </p:nvSpPr>
        <p:spPr>
          <a:xfrm>
            <a:off x="1234440" y="3566160"/>
            <a:ext cx="18288" cy="18288"/>
          </a:xfrm>
          <a:prstGeom prst="ellipse">
            <a:avLst/>
          </a:prstGeom>
          <a:solidFill>
            <a:srgbClr val="22D3EE">
              <a:alpha val="15000"/>
            </a:srgbClr>
          </a:solidFill>
          <a:ln/>
        </p:spPr>
      </p:sp>
      <p:sp>
        <p:nvSpPr>
          <p:cNvPr id="64" name="Shape 62"/>
          <p:cNvSpPr/>
          <p:nvPr/>
        </p:nvSpPr>
        <p:spPr>
          <a:xfrm>
            <a:off x="2011680" y="3566160"/>
            <a:ext cx="18288" cy="18288"/>
          </a:xfrm>
          <a:prstGeom prst="ellipse">
            <a:avLst/>
          </a:prstGeom>
          <a:solidFill>
            <a:srgbClr val="22D3EE">
              <a:alpha val="15000"/>
            </a:srgbClr>
          </a:solidFill>
          <a:ln/>
        </p:spPr>
      </p:sp>
      <p:sp>
        <p:nvSpPr>
          <p:cNvPr id="65" name="Shape 63"/>
          <p:cNvSpPr/>
          <p:nvPr/>
        </p:nvSpPr>
        <p:spPr>
          <a:xfrm>
            <a:off x="2788920" y="3566160"/>
            <a:ext cx="18288" cy="18288"/>
          </a:xfrm>
          <a:prstGeom prst="ellipse">
            <a:avLst/>
          </a:prstGeom>
          <a:solidFill>
            <a:srgbClr val="22D3EE">
              <a:alpha val="15000"/>
            </a:srgbClr>
          </a:solidFill>
          <a:ln/>
        </p:spPr>
      </p:sp>
      <p:sp>
        <p:nvSpPr>
          <p:cNvPr id="66" name="Shape 64"/>
          <p:cNvSpPr/>
          <p:nvPr/>
        </p:nvSpPr>
        <p:spPr>
          <a:xfrm>
            <a:off x="3566160" y="3566160"/>
            <a:ext cx="18288" cy="18288"/>
          </a:xfrm>
          <a:prstGeom prst="ellipse">
            <a:avLst/>
          </a:prstGeom>
          <a:solidFill>
            <a:srgbClr val="22D3EE">
              <a:alpha val="15000"/>
            </a:srgbClr>
          </a:solidFill>
          <a:ln/>
        </p:spPr>
      </p:sp>
      <p:sp>
        <p:nvSpPr>
          <p:cNvPr id="67" name="Shape 65"/>
          <p:cNvSpPr/>
          <p:nvPr/>
        </p:nvSpPr>
        <p:spPr>
          <a:xfrm>
            <a:off x="4343400" y="3566160"/>
            <a:ext cx="18288" cy="18288"/>
          </a:xfrm>
          <a:prstGeom prst="ellipse">
            <a:avLst/>
          </a:prstGeom>
          <a:solidFill>
            <a:srgbClr val="22D3EE">
              <a:alpha val="15000"/>
            </a:srgbClr>
          </a:solidFill>
          <a:ln/>
        </p:spPr>
      </p:sp>
      <p:sp>
        <p:nvSpPr>
          <p:cNvPr id="68" name="Shape 66"/>
          <p:cNvSpPr/>
          <p:nvPr/>
        </p:nvSpPr>
        <p:spPr>
          <a:xfrm>
            <a:off x="5120640" y="3566160"/>
            <a:ext cx="18288" cy="18288"/>
          </a:xfrm>
          <a:prstGeom prst="ellipse">
            <a:avLst/>
          </a:prstGeom>
          <a:solidFill>
            <a:srgbClr val="22D3EE">
              <a:alpha val="15000"/>
            </a:srgbClr>
          </a:solidFill>
          <a:ln/>
        </p:spPr>
      </p:sp>
      <p:sp>
        <p:nvSpPr>
          <p:cNvPr id="69" name="Shape 67"/>
          <p:cNvSpPr/>
          <p:nvPr/>
        </p:nvSpPr>
        <p:spPr>
          <a:xfrm>
            <a:off x="5897880" y="3566160"/>
            <a:ext cx="18288" cy="18288"/>
          </a:xfrm>
          <a:prstGeom prst="ellipse">
            <a:avLst/>
          </a:prstGeom>
          <a:solidFill>
            <a:srgbClr val="22D3EE">
              <a:alpha val="15000"/>
            </a:srgbClr>
          </a:solidFill>
          <a:ln/>
        </p:spPr>
      </p:sp>
      <p:sp>
        <p:nvSpPr>
          <p:cNvPr id="70" name="Shape 68"/>
          <p:cNvSpPr/>
          <p:nvPr/>
        </p:nvSpPr>
        <p:spPr>
          <a:xfrm>
            <a:off x="6675120" y="3566160"/>
            <a:ext cx="18288" cy="18288"/>
          </a:xfrm>
          <a:prstGeom prst="ellipse">
            <a:avLst/>
          </a:prstGeom>
          <a:solidFill>
            <a:srgbClr val="22D3EE">
              <a:alpha val="15000"/>
            </a:srgbClr>
          </a:solidFill>
          <a:ln/>
        </p:spPr>
      </p:sp>
      <p:sp>
        <p:nvSpPr>
          <p:cNvPr id="71" name="Shape 69"/>
          <p:cNvSpPr/>
          <p:nvPr/>
        </p:nvSpPr>
        <p:spPr>
          <a:xfrm>
            <a:off x="7452360" y="3566160"/>
            <a:ext cx="18288" cy="18288"/>
          </a:xfrm>
          <a:prstGeom prst="ellipse">
            <a:avLst/>
          </a:prstGeom>
          <a:solidFill>
            <a:srgbClr val="22D3EE">
              <a:alpha val="15000"/>
            </a:srgbClr>
          </a:solidFill>
          <a:ln/>
        </p:spPr>
      </p:sp>
      <p:sp>
        <p:nvSpPr>
          <p:cNvPr id="72" name="Shape 70"/>
          <p:cNvSpPr/>
          <p:nvPr/>
        </p:nvSpPr>
        <p:spPr>
          <a:xfrm>
            <a:off x="8229600" y="3566160"/>
            <a:ext cx="18288" cy="18288"/>
          </a:xfrm>
          <a:prstGeom prst="ellipse">
            <a:avLst/>
          </a:prstGeom>
          <a:solidFill>
            <a:srgbClr val="22D3EE">
              <a:alpha val="15000"/>
            </a:srgbClr>
          </a:solidFill>
          <a:ln/>
        </p:spPr>
      </p:sp>
      <p:sp>
        <p:nvSpPr>
          <p:cNvPr id="73" name="Shape 71"/>
          <p:cNvSpPr/>
          <p:nvPr/>
        </p:nvSpPr>
        <p:spPr>
          <a:xfrm>
            <a:off x="9006840" y="3566160"/>
            <a:ext cx="18288" cy="18288"/>
          </a:xfrm>
          <a:prstGeom prst="ellipse">
            <a:avLst/>
          </a:prstGeom>
          <a:solidFill>
            <a:srgbClr val="22D3EE">
              <a:alpha val="15000"/>
            </a:srgbClr>
          </a:solidFill>
          <a:ln/>
        </p:spPr>
      </p:sp>
      <p:sp>
        <p:nvSpPr>
          <p:cNvPr id="74" name="Shape 72"/>
          <p:cNvSpPr/>
          <p:nvPr/>
        </p:nvSpPr>
        <p:spPr>
          <a:xfrm>
            <a:off x="9784080" y="3566160"/>
            <a:ext cx="18288" cy="18288"/>
          </a:xfrm>
          <a:prstGeom prst="ellipse">
            <a:avLst/>
          </a:prstGeom>
          <a:solidFill>
            <a:srgbClr val="22D3EE">
              <a:alpha val="15000"/>
            </a:srgbClr>
          </a:solidFill>
          <a:ln/>
        </p:spPr>
      </p:sp>
      <p:sp>
        <p:nvSpPr>
          <p:cNvPr id="75" name="Shape 73"/>
          <p:cNvSpPr/>
          <p:nvPr/>
        </p:nvSpPr>
        <p:spPr>
          <a:xfrm>
            <a:off x="10561320" y="3566160"/>
            <a:ext cx="18288" cy="18288"/>
          </a:xfrm>
          <a:prstGeom prst="ellipse">
            <a:avLst/>
          </a:prstGeom>
          <a:solidFill>
            <a:srgbClr val="22D3EE">
              <a:alpha val="15000"/>
            </a:srgbClr>
          </a:solidFill>
          <a:ln/>
        </p:spPr>
      </p:sp>
      <p:sp>
        <p:nvSpPr>
          <p:cNvPr id="76" name="Shape 74"/>
          <p:cNvSpPr/>
          <p:nvPr/>
        </p:nvSpPr>
        <p:spPr>
          <a:xfrm>
            <a:off x="11338560" y="3566160"/>
            <a:ext cx="18288" cy="18288"/>
          </a:xfrm>
          <a:prstGeom prst="ellipse">
            <a:avLst/>
          </a:prstGeom>
          <a:solidFill>
            <a:srgbClr val="22D3EE">
              <a:alpha val="15000"/>
            </a:srgbClr>
          </a:solidFill>
          <a:ln/>
        </p:spPr>
      </p:sp>
      <p:sp>
        <p:nvSpPr>
          <p:cNvPr id="77" name="Shape 75"/>
          <p:cNvSpPr/>
          <p:nvPr/>
        </p:nvSpPr>
        <p:spPr>
          <a:xfrm>
            <a:off x="457200" y="4343400"/>
            <a:ext cx="18288" cy="18288"/>
          </a:xfrm>
          <a:prstGeom prst="ellipse">
            <a:avLst/>
          </a:prstGeom>
          <a:solidFill>
            <a:srgbClr val="22D3EE">
              <a:alpha val="15000"/>
            </a:srgbClr>
          </a:solidFill>
          <a:ln/>
        </p:spPr>
      </p:sp>
      <p:sp>
        <p:nvSpPr>
          <p:cNvPr id="78" name="Shape 76"/>
          <p:cNvSpPr/>
          <p:nvPr/>
        </p:nvSpPr>
        <p:spPr>
          <a:xfrm>
            <a:off x="1234440" y="4343400"/>
            <a:ext cx="18288" cy="18288"/>
          </a:xfrm>
          <a:prstGeom prst="ellipse">
            <a:avLst/>
          </a:prstGeom>
          <a:solidFill>
            <a:srgbClr val="22D3EE">
              <a:alpha val="15000"/>
            </a:srgbClr>
          </a:solidFill>
          <a:ln/>
        </p:spPr>
      </p:sp>
      <p:sp>
        <p:nvSpPr>
          <p:cNvPr id="79" name="Shape 77"/>
          <p:cNvSpPr/>
          <p:nvPr/>
        </p:nvSpPr>
        <p:spPr>
          <a:xfrm>
            <a:off x="2011680" y="4343400"/>
            <a:ext cx="18288" cy="18288"/>
          </a:xfrm>
          <a:prstGeom prst="ellipse">
            <a:avLst/>
          </a:prstGeom>
          <a:solidFill>
            <a:srgbClr val="22D3EE">
              <a:alpha val="15000"/>
            </a:srgbClr>
          </a:solidFill>
          <a:ln/>
        </p:spPr>
      </p:sp>
      <p:sp>
        <p:nvSpPr>
          <p:cNvPr id="80" name="Shape 78"/>
          <p:cNvSpPr/>
          <p:nvPr/>
        </p:nvSpPr>
        <p:spPr>
          <a:xfrm>
            <a:off x="2788920" y="4343400"/>
            <a:ext cx="18288" cy="18288"/>
          </a:xfrm>
          <a:prstGeom prst="ellipse">
            <a:avLst/>
          </a:prstGeom>
          <a:solidFill>
            <a:srgbClr val="22D3EE">
              <a:alpha val="15000"/>
            </a:srgbClr>
          </a:solidFill>
          <a:ln/>
        </p:spPr>
      </p:sp>
      <p:sp>
        <p:nvSpPr>
          <p:cNvPr id="81" name="Shape 79"/>
          <p:cNvSpPr/>
          <p:nvPr/>
        </p:nvSpPr>
        <p:spPr>
          <a:xfrm>
            <a:off x="3566160" y="4343400"/>
            <a:ext cx="18288" cy="18288"/>
          </a:xfrm>
          <a:prstGeom prst="ellipse">
            <a:avLst/>
          </a:prstGeom>
          <a:solidFill>
            <a:srgbClr val="22D3EE">
              <a:alpha val="15000"/>
            </a:srgbClr>
          </a:solidFill>
          <a:ln/>
        </p:spPr>
      </p:sp>
      <p:sp>
        <p:nvSpPr>
          <p:cNvPr id="82" name="Shape 80"/>
          <p:cNvSpPr/>
          <p:nvPr/>
        </p:nvSpPr>
        <p:spPr>
          <a:xfrm>
            <a:off x="4343400" y="4343400"/>
            <a:ext cx="18288" cy="18288"/>
          </a:xfrm>
          <a:prstGeom prst="ellipse">
            <a:avLst/>
          </a:prstGeom>
          <a:solidFill>
            <a:srgbClr val="22D3EE">
              <a:alpha val="15000"/>
            </a:srgbClr>
          </a:solidFill>
          <a:ln/>
        </p:spPr>
      </p:sp>
      <p:sp>
        <p:nvSpPr>
          <p:cNvPr id="83" name="Shape 81"/>
          <p:cNvSpPr/>
          <p:nvPr/>
        </p:nvSpPr>
        <p:spPr>
          <a:xfrm>
            <a:off x="5120640" y="4343400"/>
            <a:ext cx="18288" cy="18288"/>
          </a:xfrm>
          <a:prstGeom prst="ellipse">
            <a:avLst/>
          </a:prstGeom>
          <a:solidFill>
            <a:srgbClr val="22D3EE">
              <a:alpha val="15000"/>
            </a:srgbClr>
          </a:solidFill>
          <a:ln/>
        </p:spPr>
      </p:sp>
      <p:sp>
        <p:nvSpPr>
          <p:cNvPr id="84" name="Shape 82"/>
          <p:cNvSpPr/>
          <p:nvPr/>
        </p:nvSpPr>
        <p:spPr>
          <a:xfrm>
            <a:off x="5897880" y="4343400"/>
            <a:ext cx="18288" cy="18288"/>
          </a:xfrm>
          <a:prstGeom prst="ellipse">
            <a:avLst/>
          </a:prstGeom>
          <a:solidFill>
            <a:srgbClr val="22D3EE">
              <a:alpha val="15000"/>
            </a:srgbClr>
          </a:solidFill>
          <a:ln/>
        </p:spPr>
      </p:sp>
      <p:sp>
        <p:nvSpPr>
          <p:cNvPr id="85" name="Shape 83"/>
          <p:cNvSpPr/>
          <p:nvPr/>
        </p:nvSpPr>
        <p:spPr>
          <a:xfrm>
            <a:off x="6675120" y="4343400"/>
            <a:ext cx="18288" cy="18288"/>
          </a:xfrm>
          <a:prstGeom prst="ellipse">
            <a:avLst/>
          </a:prstGeom>
          <a:solidFill>
            <a:srgbClr val="22D3EE">
              <a:alpha val="15000"/>
            </a:srgbClr>
          </a:solidFill>
          <a:ln/>
        </p:spPr>
      </p:sp>
      <p:sp>
        <p:nvSpPr>
          <p:cNvPr id="86" name="Shape 84"/>
          <p:cNvSpPr/>
          <p:nvPr/>
        </p:nvSpPr>
        <p:spPr>
          <a:xfrm>
            <a:off x="7452360" y="4343400"/>
            <a:ext cx="18288" cy="18288"/>
          </a:xfrm>
          <a:prstGeom prst="ellipse">
            <a:avLst/>
          </a:prstGeom>
          <a:solidFill>
            <a:srgbClr val="22D3EE">
              <a:alpha val="15000"/>
            </a:srgbClr>
          </a:solidFill>
          <a:ln/>
        </p:spPr>
      </p:sp>
      <p:sp>
        <p:nvSpPr>
          <p:cNvPr id="87" name="Shape 85"/>
          <p:cNvSpPr/>
          <p:nvPr/>
        </p:nvSpPr>
        <p:spPr>
          <a:xfrm>
            <a:off x="8229600" y="4343400"/>
            <a:ext cx="18288" cy="18288"/>
          </a:xfrm>
          <a:prstGeom prst="ellipse">
            <a:avLst/>
          </a:prstGeom>
          <a:solidFill>
            <a:srgbClr val="22D3EE">
              <a:alpha val="15000"/>
            </a:srgbClr>
          </a:solidFill>
          <a:ln/>
        </p:spPr>
      </p:sp>
      <p:sp>
        <p:nvSpPr>
          <p:cNvPr id="88" name="Shape 86"/>
          <p:cNvSpPr/>
          <p:nvPr/>
        </p:nvSpPr>
        <p:spPr>
          <a:xfrm>
            <a:off x="9006840" y="4343400"/>
            <a:ext cx="18288" cy="18288"/>
          </a:xfrm>
          <a:prstGeom prst="ellipse">
            <a:avLst/>
          </a:prstGeom>
          <a:solidFill>
            <a:srgbClr val="22D3EE">
              <a:alpha val="15000"/>
            </a:srgbClr>
          </a:solidFill>
          <a:ln/>
        </p:spPr>
      </p:sp>
      <p:sp>
        <p:nvSpPr>
          <p:cNvPr id="89" name="Shape 87"/>
          <p:cNvSpPr/>
          <p:nvPr/>
        </p:nvSpPr>
        <p:spPr>
          <a:xfrm>
            <a:off x="9784080" y="4343400"/>
            <a:ext cx="18288" cy="18288"/>
          </a:xfrm>
          <a:prstGeom prst="ellipse">
            <a:avLst/>
          </a:prstGeom>
          <a:solidFill>
            <a:srgbClr val="22D3EE">
              <a:alpha val="15000"/>
            </a:srgbClr>
          </a:solidFill>
          <a:ln/>
        </p:spPr>
      </p:sp>
      <p:sp>
        <p:nvSpPr>
          <p:cNvPr id="90" name="Shape 88"/>
          <p:cNvSpPr/>
          <p:nvPr/>
        </p:nvSpPr>
        <p:spPr>
          <a:xfrm>
            <a:off x="10561320" y="4343400"/>
            <a:ext cx="18288" cy="18288"/>
          </a:xfrm>
          <a:prstGeom prst="ellipse">
            <a:avLst/>
          </a:prstGeom>
          <a:solidFill>
            <a:srgbClr val="22D3EE">
              <a:alpha val="15000"/>
            </a:srgbClr>
          </a:solidFill>
          <a:ln/>
        </p:spPr>
      </p:sp>
      <p:sp>
        <p:nvSpPr>
          <p:cNvPr id="91" name="Shape 89"/>
          <p:cNvSpPr/>
          <p:nvPr/>
        </p:nvSpPr>
        <p:spPr>
          <a:xfrm>
            <a:off x="11338560" y="4343400"/>
            <a:ext cx="18288" cy="18288"/>
          </a:xfrm>
          <a:prstGeom prst="ellipse">
            <a:avLst/>
          </a:prstGeom>
          <a:solidFill>
            <a:srgbClr val="22D3EE">
              <a:alpha val="15000"/>
            </a:srgbClr>
          </a:solidFill>
          <a:ln/>
        </p:spPr>
      </p:sp>
      <p:sp>
        <p:nvSpPr>
          <p:cNvPr id="92" name="Shape 90"/>
          <p:cNvSpPr/>
          <p:nvPr/>
        </p:nvSpPr>
        <p:spPr>
          <a:xfrm>
            <a:off x="457200" y="5120640"/>
            <a:ext cx="18288" cy="18288"/>
          </a:xfrm>
          <a:prstGeom prst="ellipse">
            <a:avLst/>
          </a:prstGeom>
          <a:solidFill>
            <a:srgbClr val="22D3EE">
              <a:alpha val="15000"/>
            </a:srgbClr>
          </a:solidFill>
          <a:ln/>
        </p:spPr>
      </p:sp>
      <p:sp>
        <p:nvSpPr>
          <p:cNvPr id="93" name="Shape 91"/>
          <p:cNvSpPr/>
          <p:nvPr/>
        </p:nvSpPr>
        <p:spPr>
          <a:xfrm>
            <a:off x="1234440" y="5120640"/>
            <a:ext cx="18288" cy="18288"/>
          </a:xfrm>
          <a:prstGeom prst="ellipse">
            <a:avLst/>
          </a:prstGeom>
          <a:solidFill>
            <a:srgbClr val="22D3EE">
              <a:alpha val="15000"/>
            </a:srgbClr>
          </a:solidFill>
          <a:ln/>
        </p:spPr>
      </p:sp>
      <p:sp>
        <p:nvSpPr>
          <p:cNvPr id="94" name="Shape 92"/>
          <p:cNvSpPr/>
          <p:nvPr/>
        </p:nvSpPr>
        <p:spPr>
          <a:xfrm>
            <a:off x="2011680" y="5120640"/>
            <a:ext cx="18288" cy="18288"/>
          </a:xfrm>
          <a:prstGeom prst="ellipse">
            <a:avLst/>
          </a:prstGeom>
          <a:solidFill>
            <a:srgbClr val="22D3EE">
              <a:alpha val="15000"/>
            </a:srgbClr>
          </a:solidFill>
          <a:ln/>
        </p:spPr>
      </p:sp>
      <p:sp>
        <p:nvSpPr>
          <p:cNvPr id="95" name="Shape 93"/>
          <p:cNvSpPr/>
          <p:nvPr/>
        </p:nvSpPr>
        <p:spPr>
          <a:xfrm>
            <a:off x="2788920" y="5120640"/>
            <a:ext cx="18288" cy="18288"/>
          </a:xfrm>
          <a:prstGeom prst="ellipse">
            <a:avLst/>
          </a:prstGeom>
          <a:solidFill>
            <a:srgbClr val="22D3EE">
              <a:alpha val="15000"/>
            </a:srgbClr>
          </a:solidFill>
          <a:ln/>
        </p:spPr>
      </p:sp>
      <p:sp>
        <p:nvSpPr>
          <p:cNvPr id="96" name="Shape 94"/>
          <p:cNvSpPr/>
          <p:nvPr/>
        </p:nvSpPr>
        <p:spPr>
          <a:xfrm>
            <a:off x="3566160" y="5120640"/>
            <a:ext cx="18288" cy="18288"/>
          </a:xfrm>
          <a:prstGeom prst="ellipse">
            <a:avLst/>
          </a:prstGeom>
          <a:solidFill>
            <a:srgbClr val="22D3EE">
              <a:alpha val="15000"/>
            </a:srgbClr>
          </a:solidFill>
          <a:ln/>
        </p:spPr>
      </p:sp>
      <p:sp>
        <p:nvSpPr>
          <p:cNvPr id="97" name="Shape 95"/>
          <p:cNvSpPr/>
          <p:nvPr/>
        </p:nvSpPr>
        <p:spPr>
          <a:xfrm>
            <a:off x="4343400" y="5120640"/>
            <a:ext cx="18288" cy="18288"/>
          </a:xfrm>
          <a:prstGeom prst="ellipse">
            <a:avLst/>
          </a:prstGeom>
          <a:solidFill>
            <a:srgbClr val="22D3EE">
              <a:alpha val="15000"/>
            </a:srgbClr>
          </a:solidFill>
          <a:ln/>
        </p:spPr>
      </p:sp>
      <p:sp>
        <p:nvSpPr>
          <p:cNvPr id="98" name="Shape 96"/>
          <p:cNvSpPr/>
          <p:nvPr/>
        </p:nvSpPr>
        <p:spPr>
          <a:xfrm>
            <a:off x="5120640" y="5120640"/>
            <a:ext cx="18288" cy="18288"/>
          </a:xfrm>
          <a:prstGeom prst="ellipse">
            <a:avLst/>
          </a:prstGeom>
          <a:solidFill>
            <a:srgbClr val="22D3EE">
              <a:alpha val="15000"/>
            </a:srgbClr>
          </a:solidFill>
          <a:ln/>
        </p:spPr>
      </p:sp>
      <p:sp>
        <p:nvSpPr>
          <p:cNvPr id="99" name="Shape 97"/>
          <p:cNvSpPr/>
          <p:nvPr/>
        </p:nvSpPr>
        <p:spPr>
          <a:xfrm>
            <a:off x="5897880" y="5120640"/>
            <a:ext cx="18288" cy="18288"/>
          </a:xfrm>
          <a:prstGeom prst="ellipse">
            <a:avLst/>
          </a:prstGeom>
          <a:solidFill>
            <a:srgbClr val="22D3EE">
              <a:alpha val="15000"/>
            </a:srgbClr>
          </a:solidFill>
          <a:ln/>
        </p:spPr>
      </p:sp>
      <p:sp>
        <p:nvSpPr>
          <p:cNvPr id="100" name="Shape 98"/>
          <p:cNvSpPr/>
          <p:nvPr/>
        </p:nvSpPr>
        <p:spPr>
          <a:xfrm>
            <a:off x="6675120" y="5120640"/>
            <a:ext cx="18288" cy="18288"/>
          </a:xfrm>
          <a:prstGeom prst="ellipse">
            <a:avLst/>
          </a:prstGeom>
          <a:solidFill>
            <a:srgbClr val="22D3EE">
              <a:alpha val="15000"/>
            </a:srgbClr>
          </a:solidFill>
          <a:ln/>
        </p:spPr>
      </p:sp>
      <p:sp>
        <p:nvSpPr>
          <p:cNvPr id="101" name="Shape 99"/>
          <p:cNvSpPr/>
          <p:nvPr/>
        </p:nvSpPr>
        <p:spPr>
          <a:xfrm>
            <a:off x="7452360" y="5120640"/>
            <a:ext cx="18288" cy="18288"/>
          </a:xfrm>
          <a:prstGeom prst="ellipse">
            <a:avLst/>
          </a:prstGeom>
          <a:solidFill>
            <a:srgbClr val="22D3EE">
              <a:alpha val="15000"/>
            </a:srgbClr>
          </a:solidFill>
          <a:ln/>
        </p:spPr>
      </p:sp>
      <p:sp>
        <p:nvSpPr>
          <p:cNvPr id="102" name="Shape 100"/>
          <p:cNvSpPr/>
          <p:nvPr/>
        </p:nvSpPr>
        <p:spPr>
          <a:xfrm>
            <a:off x="8229600" y="5120640"/>
            <a:ext cx="18288" cy="18288"/>
          </a:xfrm>
          <a:prstGeom prst="ellipse">
            <a:avLst/>
          </a:prstGeom>
          <a:solidFill>
            <a:srgbClr val="22D3EE">
              <a:alpha val="15000"/>
            </a:srgbClr>
          </a:solidFill>
          <a:ln/>
        </p:spPr>
      </p:sp>
      <p:sp>
        <p:nvSpPr>
          <p:cNvPr id="103" name="Shape 101"/>
          <p:cNvSpPr/>
          <p:nvPr/>
        </p:nvSpPr>
        <p:spPr>
          <a:xfrm>
            <a:off x="9006840" y="5120640"/>
            <a:ext cx="18288" cy="18288"/>
          </a:xfrm>
          <a:prstGeom prst="ellipse">
            <a:avLst/>
          </a:prstGeom>
          <a:solidFill>
            <a:srgbClr val="22D3EE">
              <a:alpha val="15000"/>
            </a:srgbClr>
          </a:solidFill>
          <a:ln/>
        </p:spPr>
      </p:sp>
      <p:sp>
        <p:nvSpPr>
          <p:cNvPr id="104" name="Shape 102"/>
          <p:cNvSpPr/>
          <p:nvPr/>
        </p:nvSpPr>
        <p:spPr>
          <a:xfrm>
            <a:off x="9784080" y="5120640"/>
            <a:ext cx="18288" cy="18288"/>
          </a:xfrm>
          <a:prstGeom prst="ellipse">
            <a:avLst/>
          </a:prstGeom>
          <a:solidFill>
            <a:srgbClr val="22D3EE">
              <a:alpha val="15000"/>
            </a:srgbClr>
          </a:solidFill>
          <a:ln/>
        </p:spPr>
      </p:sp>
      <p:sp>
        <p:nvSpPr>
          <p:cNvPr id="105" name="Shape 103"/>
          <p:cNvSpPr/>
          <p:nvPr/>
        </p:nvSpPr>
        <p:spPr>
          <a:xfrm>
            <a:off x="10561320" y="5120640"/>
            <a:ext cx="18288" cy="18288"/>
          </a:xfrm>
          <a:prstGeom prst="ellipse">
            <a:avLst/>
          </a:prstGeom>
          <a:solidFill>
            <a:srgbClr val="22D3EE">
              <a:alpha val="15000"/>
            </a:srgbClr>
          </a:solidFill>
          <a:ln/>
        </p:spPr>
      </p:sp>
      <p:sp>
        <p:nvSpPr>
          <p:cNvPr id="106" name="Shape 104"/>
          <p:cNvSpPr/>
          <p:nvPr/>
        </p:nvSpPr>
        <p:spPr>
          <a:xfrm>
            <a:off x="11338560" y="5120640"/>
            <a:ext cx="18288" cy="18288"/>
          </a:xfrm>
          <a:prstGeom prst="ellipse">
            <a:avLst/>
          </a:prstGeom>
          <a:solidFill>
            <a:srgbClr val="22D3EE">
              <a:alpha val="15000"/>
            </a:srgbClr>
          </a:solidFill>
          <a:ln/>
        </p:spPr>
      </p:sp>
      <p:sp>
        <p:nvSpPr>
          <p:cNvPr id="107" name="Shape 105"/>
          <p:cNvSpPr/>
          <p:nvPr/>
        </p:nvSpPr>
        <p:spPr>
          <a:xfrm>
            <a:off x="457200" y="5897880"/>
            <a:ext cx="18288" cy="18288"/>
          </a:xfrm>
          <a:prstGeom prst="ellipse">
            <a:avLst/>
          </a:prstGeom>
          <a:solidFill>
            <a:srgbClr val="22D3EE">
              <a:alpha val="15000"/>
            </a:srgbClr>
          </a:solidFill>
          <a:ln/>
        </p:spPr>
      </p:sp>
      <p:sp>
        <p:nvSpPr>
          <p:cNvPr id="108" name="Shape 106"/>
          <p:cNvSpPr/>
          <p:nvPr/>
        </p:nvSpPr>
        <p:spPr>
          <a:xfrm>
            <a:off x="1234440" y="5897880"/>
            <a:ext cx="18288" cy="18288"/>
          </a:xfrm>
          <a:prstGeom prst="ellipse">
            <a:avLst/>
          </a:prstGeom>
          <a:solidFill>
            <a:srgbClr val="22D3EE">
              <a:alpha val="15000"/>
            </a:srgbClr>
          </a:solidFill>
          <a:ln/>
        </p:spPr>
      </p:sp>
      <p:sp>
        <p:nvSpPr>
          <p:cNvPr id="109" name="Shape 107"/>
          <p:cNvSpPr/>
          <p:nvPr/>
        </p:nvSpPr>
        <p:spPr>
          <a:xfrm>
            <a:off x="2011680" y="5897880"/>
            <a:ext cx="18288" cy="18288"/>
          </a:xfrm>
          <a:prstGeom prst="ellipse">
            <a:avLst/>
          </a:prstGeom>
          <a:solidFill>
            <a:srgbClr val="22D3EE">
              <a:alpha val="15000"/>
            </a:srgbClr>
          </a:solidFill>
          <a:ln/>
        </p:spPr>
      </p:sp>
      <p:sp>
        <p:nvSpPr>
          <p:cNvPr id="110" name="Shape 108"/>
          <p:cNvSpPr/>
          <p:nvPr/>
        </p:nvSpPr>
        <p:spPr>
          <a:xfrm>
            <a:off x="2788920" y="5897880"/>
            <a:ext cx="18288" cy="18288"/>
          </a:xfrm>
          <a:prstGeom prst="ellipse">
            <a:avLst/>
          </a:prstGeom>
          <a:solidFill>
            <a:srgbClr val="22D3EE">
              <a:alpha val="15000"/>
            </a:srgbClr>
          </a:solidFill>
          <a:ln/>
        </p:spPr>
      </p:sp>
      <p:sp>
        <p:nvSpPr>
          <p:cNvPr id="111" name="Shape 109"/>
          <p:cNvSpPr/>
          <p:nvPr/>
        </p:nvSpPr>
        <p:spPr>
          <a:xfrm>
            <a:off x="3566160" y="5897880"/>
            <a:ext cx="18288" cy="18288"/>
          </a:xfrm>
          <a:prstGeom prst="ellipse">
            <a:avLst/>
          </a:prstGeom>
          <a:solidFill>
            <a:srgbClr val="22D3EE">
              <a:alpha val="15000"/>
            </a:srgbClr>
          </a:solidFill>
          <a:ln/>
        </p:spPr>
      </p:sp>
      <p:sp>
        <p:nvSpPr>
          <p:cNvPr id="112" name="Shape 110"/>
          <p:cNvSpPr/>
          <p:nvPr/>
        </p:nvSpPr>
        <p:spPr>
          <a:xfrm>
            <a:off x="4343400" y="5897880"/>
            <a:ext cx="18288" cy="18288"/>
          </a:xfrm>
          <a:prstGeom prst="ellipse">
            <a:avLst/>
          </a:prstGeom>
          <a:solidFill>
            <a:srgbClr val="22D3EE">
              <a:alpha val="15000"/>
            </a:srgbClr>
          </a:solidFill>
          <a:ln/>
        </p:spPr>
      </p:sp>
      <p:sp>
        <p:nvSpPr>
          <p:cNvPr id="113" name="Shape 111"/>
          <p:cNvSpPr/>
          <p:nvPr/>
        </p:nvSpPr>
        <p:spPr>
          <a:xfrm>
            <a:off x="5120640" y="5897880"/>
            <a:ext cx="18288" cy="18288"/>
          </a:xfrm>
          <a:prstGeom prst="ellipse">
            <a:avLst/>
          </a:prstGeom>
          <a:solidFill>
            <a:srgbClr val="22D3EE">
              <a:alpha val="15000"/>
            </a:srgbClr>
          </a:solidFill>
          <a:ln/>
        </p:spPr>
      </p:sp>
      <p:sp>
        <p:nvSpPr>
          <p:cNvPr id="114" name="Shape 112"/>
          <p:cNvSpPr/>
          <p:nvPr/>
        </p:nvSpPr>
        <p:spPr>
          <a:xfrm>
            <a:off x="5897880" y="5897880"/>
            <a:ext cx="18288" cy="18288"/>
          </a:xfrm>
          <a:prstGeom prst="ellipse">
            <a:avLst/>
          </a:prstGeom>
          <a:solidFill>
            <a:srgbClr val="22D3EE">
              <a:alpha val="15000"/>
            </a:srgbClr>
          </a:solidFill>
          <a:ln/>
        </p:spPr>
      </p:sp>
      <p:sp>
        <p:nvSpPr>
          <p:cNvPr id="115" name="Shape 113"/>
          <p:cNvSpPr/>
          <p:nvPr/>
        </p:nvSpPr>
        <p:spPr>
          <a:xfrm>
            <a:off x="6675120" y="5897880"/>
            <a:ext cx="18288" cy="18288"/>
          </a:xfrm>
          <a:prstGeom prst="ellipse">
            <a:avLst/>
          </a:prstGeom>
          <a:solidFill>
            <a:srgbClr val="22D3EE">
              <a:alpha val="15000"/>
            </a:srgbClr>
          </a:solidFill>
          <a:ln/>
        </p:spPr>
      </p:sp>
      <p:sp>
        <p:nvSpPr>
          <p:cNvPr id="116" name="Shape 114"/>
          <p:cNvSpPr/>
          <p:nvPr/>
        </p:nvSpPr>
        <p:spPr>
          <a:xfrm>
            <a:off x="7452360" y="5897880"/>
            <a:ext cx="18288" cy="18288"/>
          </a:xfrm>
          <a:prstGeom prst="ellipse">
            <a:avLst/>
          </a:prstGeom>
          <a:solidFill>
            <a:srgbClr val="22D3EE">
              <a:alpha val="15000"/>
            </a:srgbClr>
          </a:solidFill>
          <a:ln/>
        </p:spPr>
      </p:sp>
      <p:sp>
        <p:nvSpPr>
          <p:cNvPr id="117" name="Shape 115"/>
          <p:cNvSpPr/>
          <p:nvPr/>
        </p:nvSpPr>
        <p:spPr>
          <a:xfrm>
            <a:off x="8229600" y="5897880"/>
            <a:ext cx="18288" cy="18288"/>
          </a:xfrm>
          <a:prstGeom prst="ellipse">
            <a:avLst/>
          </a:prstGeom>
          <a:solidFill>
            <a:srgbClr val="22D3EE">
              <a:alpha val="15000"/>
            </a:srgbClr>
          </a:solidFill>
          <a:ln/>
        </p:spPr>
      </p:sp>
      <p:sp>
        <p:nvSpPr>
          <p:cNvPr id="118" name="Shape 116"/>
          <p:cNvSpPr/>
          <p:nvPr/>
        </p:nvSpPr>
        <p:spPr>
          <a:xfrm>
            <a:off x="9006840" y="5897880"/>
            <a:ext cx="18288" cy="18288"/>
          </a:xfrm>
          <a:prstGeom prst="ellipse">
            <a:avLst/>
          </a:prstGeom>
          <a:solidFill>
            <a:srgbClr val="22D3EE">
              <a:alpha val="15000"/>
            </a:srgbClr>
          </a:solidFill>
          <a:ln/>
        </p:spPr>
      </p:sp>
      <p:sp>
        <p:nvSpPr>
          <p:cNvPr id="119" name="Shape 117"/>
          <p:cNvSpPr/>
          <p:nvPr/>
        </p:nvSpPr>
        <p:spPr>
          <a:xfrm>
            <a:off x="9784080" y="5897880"/>
            <a:ext cx="18288" cy="18288"/>
          </a:xfrm>
          <a:prstGeom prst="ellipse">
            <a:avLst/>
          </a:prstGeom>
          <a:solidFill>
            <a:srgbClr val="22D3EE">
              <a:alpha val="15000"/>
            </a:srgbClr>
          </a:solidFill>
          <a:ln/>
        </p:spPr>
      </p:sp>
      <p:sp>
        <p:nvSpPr>
          <p:cNvPr id="120" name="Shape 118"/>
          <p:cNvSpPr/>
          <p:nvPr/>
        </p:nvSpPr>
        <p:spPr>
          <a:xfrm>
            <a:off x="10561320" y="5897880"/>
            <a:ext cx="18288" cy="18288"/>
          </a:xfrm>
          <a:prstGeom prst="ellipse">
            <a:avLst/>
          </a:prstGeom>
          <a:solidFill>
            <a:srgbClr val="22D3EE">
              <a:alpha val="15000"/>
            </a:srgbClr>
          </a:solidFill>
          <a:ln/>
        </p:spPr>
      </p:sp>
      <p:sp>
        <p:nvSpPr>
          <p:cNvPr id="121" name="Shape 119"/>
          <p:cNvSpPr/>
          <p:nvPr/>
        </p:nvSpPr>
        <p:spPr>
          <a:xfrm>
            <a:off x="11338560" y="5897880"/>
            <a:ext cx="18288" cy="18288"/>
          </a:xfrm>
          <a:prstGeom prst="ellipse">
            <a:avLst/>
          </a:prstGeom>
          <a:solidFill>
            <a:srgbClr val="22D3EE">
              <a:alpha val="15000"/>
            </a:srgbClr>
          </a:solidFill>
          <a:ln/>
        </p:spPr>
      </p:sp>
      <p:sp>
        <p:nvSpPr>
          <p:cNvPr id="122" name="Shape 120"/>
          <p:cNvSpPr/>
          <p:nvPr/>
        </p:nvSpPr>
        <p:spPr>
          <a:xfrm>
            <a:off x="457200" y="6675120"/>
            <a:ext cx="18288" cy="18288"/>
          </a:xfrm>
          <a:prstGeom prst="ellipse">
            <a:avLst/>
          </a:prstGeom>
          <a:solidFill>
            <a:srgbClr val="22D3EE">
              <a:alpha val="15000"/>
            </a:srgbClr>
          </a:solidFill>
          <a:ln/>
        </p:spPr>
      </p:sp>
      <p:sp>
        <p:nvSpPr>
          <p:cNvPr id="123" name="Shape 121"/>
          <p:cNvSpPr/>
          <p:nvPr/>
        </p:nvSpPr>
        <p:spPr>
          <a:xfrm>
            <a:off x="1234440" y="6675120"/>
            <a:ext cx="18288" cy="18288"/>
          </a:xfrm>
          <a:prstGeom prst="ellipse">
            <a:avLst/>
          </a:prstGeom>
          <a:solidFill>
            <a:srgbClr val="22D3EE">
              <a:alpha val="15000"/>
            </a:srgbClr>
          </a:solidFill>
          <a:ln/>
        </p:spPr>
      </p:sp>
      <p:sp>
        <p:nvSpPr>
          <p:cNvPr id="124" name="Shape 122"/>
          <p:cNvSpPr/>
          <p:nvPr/>
        </p:nvSpPr>
        <p:spPr>
          <a:xfrm>
            <a:off x="2011680" y="6675120"/>
            <a:ext cx="18288" cy="18288"/>
          </a:xfrm>
          <a:prstGeom prst="ellipse">
            <a:avLst/>
          </a:prstGeom>
          <a:solidFill>
            <a:srgbClr val="22D3EE">
              <a:alpha val="15000"/>
            </a:srgbClr>
          </a:solidFill>
          <a:ln/>
        </p:spPr>
      </p:sp>
      <p:sp>
        <p:nvSpPr>
          <p:cNvPr id="125" name="Shape 123"/>
          <p:cNvSpPr/>
          <p:nvPr/>
        </p:nvSpPr>
        <p:spPr>
          <a:xfrm>
            <a:off x="2788920" y="6675120"/>
            <a:ext cx="18288" cy="18288"/>
          </a:xfrm>
          <a:prstGeom prst="ellipse">
            <a:avLst/>
          </a:prstGeom>
          <a:solidFill>
            <a:srgbClr val="22D3EE">
              <a:alpha val="15000"/>
            </a:srgbClr>
          </a:solidFill>
          <a:ln/>
        </p:spPr>
      </p:sp>
      <p:sp>
        <p:nvSpPr>
          <p:cNvPr id="126" name="Shape 124"/>
          <p:cNvSpPr/>
          <p:nvPr/>
        </p:nvSpPr>
        <p:spPr>
          <a:xfrm>
            <a:off x="3566160" y="6675120"/>
            <a:ext cx="18288" cy="18288"/>
          </a:xfrm>
          <a:prstGeom prst="ellipse">
            <a:avLst/>
          </a:prstGeom>
          <a:solidFill>
            <a:srgbClr val="22D3EE">
              <a:alpha val="15000"/>
            </a:srgbClr>
          </a:solidFill>
          <a:ln/>
        </p:spPr>
      </p:sp>
      <p:sp>
        <p:nvSpPr>
          <p:cNvPr id="127" name="Shape 125"/>
          <p:cNvSpPr/>
          <p:nvPr/>
        </p:nvSpPr>
        <p:spPr>
          <a:xfrm>
            <a:off x="4343400" y="6675120"/>
            <a:ext cx="18288" cy="18288"/>
          </a:xfrm>
          <a:prstGeom prst="ellipse">
            <a:avLst/>
          </a:prstGeom>
          <a:solidFill>
            <a:srgbClr val="22D3EE">
              <a:alpha val="15000"/>
            </a:srgbClr>
          </a:solidFill>
          <a:ln/>
        </p:spPr>
      </p:sp>
      <p:sp>
        <p:nvSpPr>
          <p:cNvPr id="128" name="Shape 126"/>
          <p:cNvSpPr/>
          <p:nvPr/>
        </p:nvSpPr>
        <p:spPr>
          <a:xfrm>
            <a:off x="5120640" y="6675120"/>
            <a:ext cx="18288" cy="18288"/>
          </a:xfrm>
          <a:prstGeom prst="ellipse">
            <a:avLst/>
          </a:prstGeom>
          <a:solidFill>
            <a:srgbClr val="22D3EE">
              <a:alpha val="15000"/>
            </a:srgbClr>
          </a:solidFill>
          <a:ln/>
        </p:spPr>
      </p:sp>
      <p:sp>
        <p:nvSpPr>
          <p:cNvPr id="129" name="Shape 127"/>
          <p:cNvSpPr/>
          <p:nvPr/>
        </p:nvSpPr>
        <p:spPr>
          <a:xfrm>
            <a:off x="5897880" y="6675120"/>
            <a:ext cx="18288" cy="18288"/>
          </a:xfrm>
          <a:prstGeom prst="ellipse">
            <a:avLst/>
          </a:prstGeom>
          <a:solidFill>
            <a:srgbClr val="22D3EE">
              <a:alpha val="15000"/>
            </a:srgbClr>
          </a:solidFill>
          <a:ln/>
        </p:spPr>
      </p:sp>
      <p:sp>
        <p:nvSpPr>
          <p:cNvPr id="130" name="Shape 128"/>
          <p:cNvSpPr/>
          <p:nvPr/>
        </p:nvSpPr>
        <p:spPr>
          <a:xfrm>
            <a:off x="6675120" y="6675120"/>
            <a:ext cx="18288" cy="18288"/>
          </a:xfrm>
          <a:prstGeom prst="ellipse">
            <a:avLst/>
          </a:prstGeom>
          <a:solidFill>
            <a:srgbClr val="22D3EE">
              <a:alpha val="15000"/>
            </a:srgbClr>
          </a:solidFill>
          <a:ln/>
        </p:spPr>
      </p:sp>
      <p:sp>
        <p:nvSpPr>
          <p:cNvPr id="131" name="Shape 129"/>
          <p:cNvSpPr/>
          <p:nvPr/>
        </p:nvSpPr>
        <p:spPr>
          <a:xfrm>
            <a:off x="7452360" y="6675120"/>
            <a:ext cx="18288" cy="18288"/>
          </a:xfrm>
          <a:prstGeom prst="ellipse">
            <a:avLst/>
          </a:prstGeom>
          <a:solidFill>
            <a:srgbClr val="22D3EE">
              <a:alpha val="15000"/>
            </a:srgbClr>
          </a:solidFill>
          <a:ln/>
        </p:spPr>
      </p:sp>
      <p:sp>
        <p:nvSpPr>
          <p:cNvPr id="132" name="Shape 130"/>
          <p:cNvSpPr/>
          <p:nvPr/>
        </p:nvSpPr>
        <p:spPr>
          <a:xfrm>
            <a:off x="8229600" y="6675120"/>
            <a:ext cx="18288" cy="18288"/>
          </a:xfrm>
          <a:prstGeom prst="ellipse">
            <a:avLst/>
          </a:prstGeom>
          <a:solidFill>
            <a:srgbClr val="22D3EE">
              <a:alpha val="15000"/>
            </a:srgbClr>
          </a:solidFill>
          <a:ln/>
        </p:spPr>
      </p:sp>
      <p:sp>
        <p:nvSpPr>
          <p:cNvPr id="133" name="Shape 131"/>
          <p:cNvSpPr/>
          <p:nvPr/>
        </p:nvSpPr>
        <p:spPr>
          <a:xfrm>
            <a:off x="9006840" y="6675120"/>
            <a:ext cx="18288" cy="18288"/>
          </a:xfrm>
          <a:prstGeom prst="ellipse">
            <a:avLst/>
          </a:prstGeom>
          <a:solidFill>
            <a:srgbClr val="22D3EE">
              <a:alpha val="15000"/>
            </a:srgbClr>
          </a:solidFill>
          <a:ln/>
        </p:spPr>
      </p:sp>
      <p:sp>
        <p:nvSpPr>
          <p:cNvPr id="134" name="Shape 132"/>
          <p:cNvSpPr/>
          <p:nvPr/>
        </p:nvSpPr>
        <p:spPr>
          <a:xfrm>
            <a:off x="9784080" y="6675120"/>
            <a:ext cx="18288" cy="18288"/>
          </a:xfrm>
          <a:prstGeom prst="ellipse">
            <a:avLst/>
          </a:prstGeom>
          <a:solidFill>
            <a:srgbClr val="22D3EE">
              <a:alpha val="15000"/>
            </a:srgbClr>
          </a:solidFill>
          <a:ln/>
        </p:spPr>
      </p:sp>
      <p:sp>
        <p:nvSpPr>
          <p:cNvPr id="135" name="Shape 133"/>
          <p:cNvSpPr/>
          <p:nvPr/>
        </p:nvSpPr>
        <p:spPr>
          <a:xfrm>
            <a:off x="10561320" y="6675120"/>
            <a:ext cx="18288" cy="18288"/>
          </a:xfrm>
          <a:prstGeom prst="ellipse">
            <a:avLst/>
          </a:prstGeom>
          <a:solidFill>
            <a:srgbClr val="22D3EE">
              <a:alpha val="15000"/>
            </a:srgbClr>
          </a:solidFill>
          <a:ln/>
        </p:spPr>
      </p:sp>
      <p:sp>
        <p:nvSpPr>
          <p:cNvPr id="136" name="Shape 134"/>
          <p:cNvSpPr/>
          <p:nvPr/>
        </p:nvSpPr>
        <p:spPr>
          <a:xfrm>
            <a:off x="11338560" y="6675120"/>
            <a:ext cx="18288" cy="18288"/>
          </a:xfrm>
          <a:prstGeom prst="ellipse">
            <a:avLst/>
          </a:prstGeom>
          <a:solidFill>
            <a:srgbClr val="22D3EE">
              <a:alpha val="15000"/>
            </a:srgbClr>
          </a:solidFill>
          <a:ln/>
        </p:spPr>
      </p:sp>
      <p:sp>
        <p:nvSpPr>
          <p:cNvPr id="137" name="Shape 135"/>
          <p:cNvSpPr/>
          <p:nvPr/>
        </p:nvSpPr>
        <p:spPr>
          <a:xfrm>
            <a:off x="5138928" y="960120"/>
            <a:ext cx="1920240" cy="1920240"/>
          </a:xfrm>
          <a:prstGeom prst="ellipse">
            <a:avLst/>
          </a:prstGeom>
          <a:solidFill>
            <a:srgbClr val="132A4C"/>
          </a:solidFill>
          <a:ln w="19050">
            <a:solidFill>
              <a:srgbClr val="22D3EE"/>
            </a:solidFill>
            <a:prstDash val="solid"/>
          </a:ln>
        </p:spPr>
      </p:sp>
      <p:pic>
        <p:nvPicPr>
          <p:cNvPr id="138" name="Image 0" descr="/home/claude/phishing/icons/shield.png"/>
          <p:cNvPicPr>
            <a:picLocks noChangeAspect="1"/>
          </p:cNvPicPr>
          <p:nvPr/>
        </p:nvPicPr>
        <p:blipFill>
          <a:blip r:embed="rId3"/>
          <a:stretch>
            <a:fillRect/>
          </a:stretch>
        </p:blipFill>
        <p:spPr>
          <a:xfrm>
            <a:off x="5641848" y="1463040"/>
            <a:ext cx="914400" cy="914400"/>
          </a:xfrm>
          <a:prstGeom prst="rect">
            <a:avLst/>
          </a:prstGeom>
        </p:spPr>
      </p:pic>
      <p:sp>
        <p:nvSpPr>
          <p:cNvPr id="139" name="Text 136"/>
          <p:cNvSpPr/>
          <p:nvPr/>
        </p:nvSpPr>
        <p:spPr>
          <a:xfrm>
            <a:off x="731520" y="3246120"/>
            <a:ext cx="10725912" cy="1005840"/>
          </a:xfrm>
          <a:prstGeom prst="rect">
            <a:avLst/>
          </a:prstGeom>
          <a:noFill/>
          <a:ln/>
        </p:spPr>
        <p:txBody>
          <a:bodyPr wrap="square" lIns="0" tIns="0" rIns="0" bIns="0" rtlCol="0" anchor="ctr"/>
          <a:lstStyle/>
          <a:p>
            <a:pPr marL="0" indent="0" algn="ctr">
              <a:buNone/>
            </a:pPr>
            <a:r>
              <a:rPr lang="en-US" sz="4400" b="1" kern="0" spc="100" dirty="0">
                <a:solidFill>
                  <a:srgbClr val="FFFFFF"/>
                </a:solidFill>
                <a:latin typeface="Arial" pitchFamily="34" charset="0"/>
                <a:ea typeface="Arial" pitchFamily="34" charset="-122"/>
                <a:cs typeface="Arial" pitchFamily="34" charset="-120"/>
              </a:rPr>
              <a:t>PHISHING AWARENESS TRAINING</a:t>
            </a:r>
            <a:endParaRPr lang="en-US" sz="4400" dirty="0"/>
          </a:p>
        </p:txBody>
      </p:sp>
      <p:sp>
        <p:nvSpPr>
          <p:cNvPr id="140" name="Text 137"/>
          <p:cNvSpPr/>
          <p:nvPr/>
        </p:nvSpPr>
        <p:spPr>
          <a:xfrm>
            <a:off x="731520" y="4160520"/>
            <a:ext cx="10725912" cy="457200"/>
          </a:xfrm>
          <a:prstGeom prst="rect">
            <a:avLst/>
          </a:prstGeom>
          <a:noFill/>
          <a:ln/>
        </p:spPr>
        <p:txBody>
          <a:bodyPr wrap="square" lIns="0" tIns="0" rIns="0" bIns="0" rtlCol="0" anchor="ctr"/>
          <a:lstStyle/>
          <a:p>
            <a:pPr marL="0" indent="0" algn="ctr">
              <a:buNone/>
            </a:pPr>
            <a:r>
              <a:rPr lang="en-US" sz="1800" dirty="0">
                <a:solidFill>
                  <a:srgbClr val="22D3EE"/>
                </a:solidFill>
                <a:latin typeface="Calibri" pitchFamily="34" charset="0"/>
                <a:ea typeface="Calibri" pitchFamily="34" charset="-122"/>
                <a:cs typeface="Calibri" pitchFamily="34" charset="-120"/>
              </a:rPr>
              <a:t>Recognize, Prevent, and Report Phishing Attacks</a:t>
            </a:r>
            <a:endParaRPr lang="en-US" sz="1800" dirty="0"/>
          </a:p>
        </p:txBody>
      </p:sp>
      <p:sp>
        <p:nvSpPr>
          <p:cNvPr id="142" name="Text 139"/>
          <p:cNvSpPr/>
          <p:nvPr/>
        </p:nvSpPr>
        <p:spPr>
          <a:xfrm>
            <a:off x="731520" y="4983480"/>
            <a:ext cx="10725912" cy="365760"/>
          </a:xfrm>
          <a:prstGeom prst="rect">
            <a:avLst/>
          </a:prstGeom>
          <a:noFill/>
          <a:ln/>
        </p:spPr>
        <p:txBody>
          <a:bodyPr wrap="square" lIns="0" tIns="0" rIns="0" bIns="0" rtlCol="0" anchor="ctr"/>
          <a:lstStyle/>
          <a:p>
            <a:pPr>
              <a:lnSpc>
                <a:spcPct val="150000"/>
              </a:lnSpc>
            </a:pPr>
            <a:r>
              <a:rPr lang="en-US" sz="1600" dirty="0">
                <a:solidFill>
                  <a:schemeClr val="bg1"/>
                </a:solidFill>
                <a:latin typeface="Arial" panose="020B0604020202020204" pitchFamily="34" charset="0"/>
                <a:cs typeface="Arial" panose="020B0604020202020204" pitchFamily="34" charset="0"/>
              </a:rPr>
              <a:t>Prepared </a:t>
            </a:r>
            <a:r>
              <a:rPr lang="en-US" sz="1600" dirty="0" smtClean="0">
                <a:solidFill>
                  <a:schemeClr val="bg1"/>
                </a:solidFill>
                <a:latin typeface="Arial" panose="020B0604020202020204" pitchFamily="34" charset="0"/>
                <a:cs typeface="Arial" panose="020B0604020202020204" pitchFamily="34" charset="0"/>
              </a:rPr>
              <a:t>by: </a:t>
            </a:r>
            <a:r>
              <a:rPr lang="en-US" sz="1600" dirty="0" err="1" smtClean="0">
                <a:solidFill>
                  <a:schemeClr val="bg1"/>
                </a:solidFill>
                <a:latin typeface="Arial" panose="020B0604020202020204" pitchFamily="34" charset="0"/>
                <a:cs typeface="Arial" panose="020B0604020202020204" pitchFamily="34" charset="0"/>
              </a:rPr>
              <a:t>Mawara</a:t>
            </a:r>
            <a:r>
              <a:rPr lang="en-US" sz="1600" dirty="0" smtClean="0">
                <a:solidFill>
                  <a:schemeClr val="bg1"/>
                </a:solidFill>
                <a:latin typeface="Arial" panose="020B0604020202020204" pitchFamily="34" charset="0"/>
                <a:cs typeface="Arial" panose="020B0604020202020204" pitchFamily="34" charset="0"/>
              </a:rPr>
              <a:t> </a:t>
            </a:r>
            <a:r>
              <a:rPr lang="en-US" sz="1600" dirty="0" err="1">
                <a:solidFill>
                  <a:schemeClr val="bg1"/>
                </a:solidFill>
                <a:latin typeface="Arial" panose="020B0604020202020204" pitchFamily="34" charset="0"/>
                <a:cs typeface="Arial" panose="020B0604020202020204" pitchFamily="34" charset="0"/>
              </a:rPr>
              <a:t>Ijaz</a:t>
            </a:r>
            <a:r>
              <a:rPr lang="en-US" sz="1600" dirty="0">
                <a:solidFill>
                  <a:schemeClr val="bg1"/>
                </a:solidFill>
                <a:latin typeface="Arial" panose="020B0604020202020204" pitchFamily="34" charset="0"/>
                <a:cs typeface="Arial" panose="020B0604020202020204" pitchFamily="34" charset="0"/>
              </a:rPr>
              <a:t> </a:t>
            </a:r>
            <a:endParaRPr lang="en-US" sz="1600" dirty="0" smtClean="0">
              <a:solidFill>
                <a:schemeClr val="bg1"/>
              </a:solidFill>
              <a:latin typeface="Arial" panose="020B0604020202020204" pitchFamily="34" charset="0"/>
              <a:cs typeface="Arial" panose="020B0604020202020204" pitchFamily="34" charset="0"/>
            </a:endParaRPr>
          </a:p>
          <a:p>
            <a:pPr>
              <a:lnSpc>
                <a:spcPct val="150000"/>
              </a:lnSpc>
            </a:pPr>
            <a:r>
              <a:rPr lang="en-US" sz="1600" dirty="0" smtClean="0">
                <a:solidFill>
                  <a:schemeClr val="bg1"/>
                </a:solidFill>
                <a:latin typeface="Arial" panose="020B0604020202020204" pitchFamily="34" charset="0"/>
                <a:cs typeface="Arial" panose="020B0604020202020204" pitchFamily="34" charset="0"/>
              </a:rPr>
              <a:t>August </a:t>
            </a:r>
            <a:r>
              <a:rPr lang="en-US" sz="1600" dirty="0">
                <a:solidFill>
                  <a:schemeClr val="bg1"/>
                </a:solidFill>
                <a:latin typeface="Arial" panose="020B0604020202020204" pitchFamily="34" charset="0"/>
                <a:cs typeface="Arial" panose="020B0604020202020204" pitchFamily="34" charset="0"/>
              </a:rPr>
              <a:t>2026</a:t>
            </a:r>
            <a:endParaRPr lang="en-US" sz="1600" dirty="0">
              <a:solidFill>
                <a:schemeClr val="bg1"/>
              </a:solidFill>
              <a:latin typeface="Arial" panose="020B0604020202020204" pitchFamily="34" charset="0"/>
              <a:cs typeface="Arial" panose="020B0604020202020204" pitchFamily="34"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A1628"/>
        </a:solidFill>
        <a:effectLst/>
      </p:bgPr>
    </p:bg>
    <p:spTree>
      <p:nvGrpSpPr>
        <p:cNvPr id="1" name=""/>
        <p:cNvGrpSpPr/>
        <p:nvPr/>
      </p:nvGrpSpPr>
      <p:grpSpPr>
        <a:xfrm>
          <a:off x="0" y="0"/>
          <a:ext cx="0" cy="0"/>
          <a:chOff x="0" y="0"/>
          <a:chExt cx="0" cy="0"/>
        </a:xfrm>
      </p:grpSpPr>
      <p:sp>
        <p:nvSpPr>
          <p:cNvPr id="3" name="Text 1"/>
          <p:cNvSpPr/>
          <p:nvPr/>
        </p:nvSpPr>
        <p:spPr>
          <a:xfrm>
            <a:off x="548640" y="621792"/>
            <a:ext cx="10789920" cy="685800"/>
          </a:xfrm>
          <a:prstGeom prst="rect">
            <a:avLst/>
          </a:prstGeom>
          <a:noFill/>
          <a:ln/>
        </p:spPr>
        <p:txBody>
          <a:bodyPr wrap="square" lIns="0" tIns="0" rIns="0" bIns="0" rtlCol="0" anchor="ctr"/>
          <a:lstStyle/>
          <a:p>
            <a:pPr marL="0" indent="0">
              <a:buNone/>
            </a:pPr>
            <a:r>
              <a:rPr lang="en-US" sz="3200" b="1" dirty="0">
                <a:solidFill>
                  <a:srgbClr val="FFFFFF"/>
                </a:solidFill>
                <a:latin typeface="Arial" pitchFamily="34" charset="0"/>
                <a:ea typeface="Arial" pitchFamily="34" charset="-122"/>
                <a:cs typeface="Arial" pitchFamily="34" charset="-120"/>
              </a:rPr>
              <a:t>Training Objectives</a:t>
            </a:r>
            <a:endParaRPr lang="en-US" sz="3200" dirty="0"/>
          </a:p>
        </p:txBody>
      </p:sp>
      <p:sp>
        <p:nvSpPr>
          <p:cNvPr id="4" name="Shape 2"/>
          <p:cNvSpPr/>
          <p:nvPr/>
        </p:nvSpPr>
        <p:spPr>
          <a:xfrm>
            <a:off x="548640" y="1737360"/>
            <a:ext cx="5212080" cy="1188720"/>
          </a:xfrm>
          <a:prstGeom prst="roundRect">
            <a:avLst>
              <a:gd name="adj" fmla="val 6154"/>
            </a:avLst>
          </a:prstGeom>
          <a:solidFill>
            <a:srgbClr val="10233F"/>
          </a:solidFill>
          <a:ln w="9525">
            <a:solidFill>
              <a:srgbClr val="1D3A63"/>
            </a:solidFill>
            <a:prstDash val="solid"/>
          </a:ln>
          <a:effectLst>
            <a:outerShdw blurRad="76200" dist="38100" dir="5400000" algn="bl" rotWithShape="0">
              <a:srgbClr val="000000">
                <a:alpha val="35000"/>
              </a:srgbClr>
            </a:outerShdw>
          </a:effectLst>
        </p:spPr>
      </p:sp>
      <p:sp>
        <p:nvSpPr>
          <p:cNvPr id="5" name="Shape 3"/>
          <p:cNvSpPr/>
          <p:nvPr/>
        </p:nvSpPr>
        <p:spPr>
          <a:xfrm>
            <a:off x="777240" y="2048256"/>
            <a:ext cx="566928" cy="566928"/>
          </a:xfrm>
          <a:prstGeom prst="ellipse">
            <a:avLst/>
          </a:prstGeom>
          <a:solidFill>
            <a:srgbClr val="132A4C"/>
          </a:solidFill>
          <a:ln w="15875">
            <a:solidFill>
              <a:srgbClr val="22D3EE"/>
            </a:solidFill>
            <a:prstDash val="solid"/>
          </a:ln>
        </p:spPr>
      </p:sp>
      <p:pic>
        <p:nvPicPr>
          <p:cNvPr id="6" name="Image 0" descr="/home/claude/phishing/icons/target.png"/>
          <p:cNvPicPr>
            <a:picLocks noChangeAspect="1"/>
          </p:cNvPicPr>
          <p:nvPr/>
        </p:nvPicPr>
        <p:blipFill>
          <a:blip r:embed="rId3"/>
          <a:stretch>
            <a:fillRect/>
          </a:stretch>
        </p:blipFill>
        <p:spPr>
          <a:xfrm>
            <a:off x="914400" y="2185416"/>
            <a:ext cx="292608" cy="292608"/>
          </a:xfrm>
          <a:prstGeom prst="rect">
            <a:avLst/>
          </a:prstGeom>
        </p:spPr>
      </p:pic>
      <p:sp>
        <p:nvSpPr>
          <p:cNvPr id="7" name="Text 4"/>
          <p:cNvSpPr/>
          <p:nvPr/>
        </p:nvSpPr>
        <p:spPr>
          <a:xfrm>
            <a:off x="1508760" y="1901952"/>
            <a:ext cx="4023360" cy="365760"/>
          </a:xfrm>
          <a:prstGeom prst="rect">
            <a:avLst/>
          </a:prstGeom>
          <a:noFill/>
          <a:ln/>
        </p:spPr>
        <p:txBody>
          <a:bodyPr wrap="square" lIns="0" tIns="0" rIns="0" bIns="0" rtlCol="0" anchor="ctr"/>
          <a:lstStyle/>
          <a:p>
            <a:pPr marL="0" indent="0">
              <a:buNone/>
            </a:pPr>
            <a:r>
              <a:rPr lang="en-US" sz="1600" b="1" dirty="0">
                <a:solidFill>
                  <a:srgbClr val="FFFFFF"/>
                </a:solidFill>
                <a:latin typeface="Arial" pitchFamily="34" charset="0"/>
                <a:ea typeface="Arial" pitchFamily="34" charset="-122"/>
                <a:cs typeface="Arial" pitchFamily="34" charset="-120"/>
              </a:rPr>
              <a:t>Spot the warning signs</a:t>
            </a:r>
            <a:endParaRPr lang="en-US" sz="1600" dirty="0"/>
          </a:p>
        </p:txBody>
      </p:sp>
      <p:sp>
        <p:nvSpPr>
          <p:cNvPr id="8" name="Text 5"/>
          <p:cNvSpPr/>
          <p:nvPr/>
        </p:nvSpPr>
        <p:spPr>
          <a:xfrm>
            <a:off x="1508760" y="2267712"/>
            <a:ext cx="4023360" cy="548640"/>
          </a:xfrm>
          <a:prstGeom prst="rect">
            <a:avLst/>
          </a:prstGeom>
          <a:noFill/>
          <a:ln/>
        </p:spPr>
        <p:txBody>
          <a:bodyPr wrap="square" lIns="0" tIns="0" rIns="0" bIns="0" rtlCol="0" anchor="ctr"/>
          <a:lstStyle/>
          <a:p>
            <a:pPr marL="0" indent="0">
              <a:buNone/>
            </a:pPr>
            <a:r>
              <a:rPr lang="en-US" sz="1200" dirty="0">
                <a:solidFill>
                  <a:srgbClr val="9FB3C8"/>
                </a:solidFill>
                <a:latin typeface="Calibri" pitchFamily="34" charset="0"/>
                <a:ea typeface="Calibri" pitchFamily="34" charset="-122"/>
                <a:cs typeface="Calibri" pitchFamily="34" charset="-120"/>
              </a:rPr>
              <a:t>Learn what a phishing attempt actually looks like in your inbox</a:t>
            </a:r>
            <a:r>
              <a:rPr lang="en-US" sz="1150" dirty="0">
                <a:solidFill>
                  <a:srgbClr val="9FB3C8"/>
                </a:solidFill>
                <a:latin typeface="Calibri" pitchFamily="34" charset="0"/>
                <a:ea typeface="Calibri" pitchFamily="34" charset="-122"/>
                <a:cs typeface="Calibri" pitchFamily="34" charset="-120"/>
              </a:rPr>
              <a:t>.</a:t>
            </a:r>
            <a:endParaRPr lang="en-US" sz="1150" dirty="0"/>
          </a:p>
        </p:txBody>
      </p:sp>
      <p:sp>
        <p:nvSpPr>
          <p:cNvPr id="9" name="Shape 6"/>
          <p:cNvSpPr/>
          <p:nvPr/>
        </p:nvSpPr>
        <p:spPr>
          <a:xfrm>
            <a:off x="6126480" y="1737360"/>
            <a:ext cx="5212080" cy="1188720"/>
          </a:xfrm>
          <a:prstGeom prst="roundRect">
            <a:avLst>
              <a:gd name="adj" fmla="val 6154"/>
            </a:avLst>
          </a:prstGeom>
          <a:solidFill>
            <a:srgbClr val="10233F"/>
          </a:solidFill>
          <a:ln w="9525">
            <a:solidFill>
              <a:srgbClr val="1D3A63"/>
            </a:solidFill>
            <a:prstDash val="solid"/>
          </a:ln>
          <a:effectLst>
            <a:outerShdw blurRad="76200" dist="38100" dir="5400000" algn="bl" rotWithShape="0">
              <a:srgbClr val="000000">
                <a:alpha val="35000"/>
              </a:srgbClr>
            </a:outerShdw>
          </a:effectLst>
        </p:spPr>
      </p:sp>
      <p:sp>
        <p:nvSpPr>
          <p:cNvPr id="10" name="Shape 7"/>
          <p:cNvSpPr/>
          <p:nvPr/>
        </p:nvSpPr>
        <p:spPr>
          <a:xfrm>
            <a:off x="6355080" y="2048256"/>
            <a:ext cx="566928" cy="566928"/>
          </a:xfrm>
          <a:prstGeom prst="ellipse">
            <a:avLst/>
          </a:prstGeom>
          <a:solidFill>
            <a:srgbClr val="132A4C"/>
          </a:solidFill>
          <a:ln w="15875">
            <a:solidFill>
              <a:srgbClr val="22D3EE"/>
            </a:solidFill>
            <a:prstDash val="solid"/>
          </a:ln>
        </p:spPr>
      </p:sp>
      <p:pic>
        <p:nvPicPr>
          <p:cNvPr id="11" name="Image 1" descr="/home/claude/phishing/icons/shield.png"/>
          <p:cNvPicPr>
            <a:picLocks noChangeAspect="1"/>
          </p:cNvPicPr>
          <p:nvPr/>
        </p:nvPicPr>
        <p:blipFill>
          <a:blip r:embed="rId4"/>
          <a:stretch>
            <a:fillRect/>
          </a:stretch>
        </p:blipFill>
        <p:spPr>
          <a:xfrm>
            <a:off x="6492240" y="2185416"/>
            <a:ext cx="292608" cy="292608"/>
          </a:xfrm>
          <a:prstGeom prst="rect">
            <a:avLst/>
          </a:prstGeom>
        </p:spPr>
      </p:pic>
      <p:sp>
        <p:nvSpPr>
          <p:cNvPr id="12" name="Text 8"/>
          <p:cNvSpPr/>
          <p:nvPr/>
        </p:nvSpPr>
        <p:spPr>
          <a:xfrm>
            <a:off x="7086600" y="1901952"/>
            <a:ext cx="4023360" cy="365760"/>
          </a:xfrm>
          <a:prstGeom prst="rect">
            <a:avLst/>
          </a:prstGeom>
          <a:noFill/>
          <a:ln/>
        </p:spPr>
        <p:txBody>
          <a:bodyPr wrap="square" lIns="0" tIns="0" rIns="0" bIns="0" rtlCol="0" anchor="ctr"/>
          <a:lstStyle/>
          <a:p>
            <a:pPr marL="0" indent="0">
              <a:buNone/>
            </a:pPr>
            <a:r>
              <a:rPr lang="en-US" sz="1600" b="1" dirty="0">
                <a:solidFill>
                  <a:srgbClr val="FFFFFF"/>
                </a:solidFill>
                <a:latin typeface="Arial" pitchFamily="34" charset="0"/>
                <a:ea typeface="Arial" pitchFamily="34" charset="-122"/>
                <a:cs typeface="Arial" pitchFamily="34" charset="-120"/>
              </a:rPr>
              <a:t>Build safe habits</a:t>
            </a:r>
            <a:endParaRPr lang="en-US" sz="1600" dirty="0"/>
          </a:p>
        </p:txBody>
      </p:sp>
      <p:sp>
        <p:nvSpPr>
          <p:cNvPr id="13" name="Text 9"/>
          <p:cNvSpPr/>
          <p:nvPr/>
        </p:nvSpPr>
        <p:spPr>
          <a:xfrm>
            <a:off x="7086600" y="2267712"/>
            <a:ext cx="4023360" cy="548640"/>
          </a:xfrm>
          <a:prstGeom prst="rect">
            <a:avLst/>
          </a:prstGeom>
          <a:noFill/>
          <a:ln/>
        </p:spPr>
        <p:txBody>
          <a:bodyPr wrap="square" lIns="0" tIns="0" rIns="0" bIns="0" rtlCol="0" anchor="ctr"/>
          <a:lstStyle/>
          <a:p>
            <a:pPr marL="0" indent="0">
              <a:buNone/>
            </a:pPr>
            <a:r>
              <a:rPr lang="en-US" sz="1200" dirty="0">
                <a:solidFill>
                  <a:srgbClr val="9FB3C8"/>
                </a:solidFill>
                <a:latin typeface="Calibri" pitchFamily="34" charset="0"/>
                <a:ea typeface="Calibri" pitchFamily="34" charset="-122"/>
                <a:cs typeface="Calibri" pitchFamily="34" charset="-120"/>
              </a:rPr>
              <a:t>Pick up simple checks you can run before clicking anything</a:t>
            </a:r>
            <a:r>
              <a:rPr lang="en-US" sz="1150" dirty="0">
                <a:solidFill>
                  <a:srgbClr val="9FB3C8"/>
                </a:solidFill>
                <a:latin typeface="Calibri" pitchFamily="34" charset="0"/>
                <a:ea typeface="Calibri" pitchFamily="34" charset="-122"/>
                <a:cs typeface="Calibri" pitchFamily="34" charset="-120"/>
              </a:rPr>
              <a:t>.</a:t>
            </a:r>
            <a:endParaRPr lang="en-US" sz="1150" dirty="0"/>
          </a:p>
        </p:txBody>
      </p:sp>
      <p:sp>
        <p:nvSpPr>
          <p:cNvPr id="14" name="Shape 10"/>
          <p:cNvSpPr/>
          <p:nvPr/>
        </p:nvSpPr>
        <p:spPr>
          <a:xfrm>
            <a:off x="548640" y="3154680"/>
            <a:ext cx="5212080" cy="1188720"/>
          </a:xfrm>
          <a:prstGeom prst="roundRect">
            <a:avLst>
              <a:gd name="adj" fmla="val 6154"/>
            </a:avLst>
          </a:prstGeom>
          <a:solidFill>
            <a:srgbClr val="10233F"/>
          </a:solidFill>
          <a:ln w="9525">
            <a:solidFill>
              <a:srgbClr val="1D3A63"/>
            </a:solidFill>
            <a:prstDash val="solid"/>
          </a:ln>
          <a:effectLst>
            <a:outerShdw blurRad="76200" dist="38100" dir="5400000" algn="bl" rotWithShape="0">
              <a:srgbClr val="000000">
                <a:alpha val="35000"/>
              </a:srgbClr>
            </a:outerShdw>
          </a:effectLst>
        </p:spPr>
      </p:sp>
      <p:sp>
        <p:nvSpPr>
          <p:cNvPr id="15" name="Shape 11"/>
          <p:cNvSpPr/>
          <p:nvPr/>
        </p:nvSpPr>
        <p:spPr>
          <a:xfrm>
            <a:off x="777240" y="3465576"/>
            <a:ext cx="566928" cy="566928"/>
          </a:xfrm>
          <a:prstGeom prst="ellipse">
            <a:avLst/>
          </a:prstGeom>
          <a:solidFill>
            <a:srgbClr val="132A4C"/>
          </a:solidFill>
          <a:ln w="15875">
            <a:solidFill>
              <a:srgbClr val="22D3EE"/>
            </a:solidFill>
            <a:prstDash val="solid"/>
          </a:ln>
        </p:spPr>
      </p:sp>
      <p:pic>
        <p:nvPicPr>
          <p:cNvPr id="16" name="Image 2" descr="/home/claude/phishing/icons/flag.png"/>
          <p:cNvPicPr>
            <a:picLocks noChangeAspect="1"/>
          </p:cNvPicPr>
          <p:nvPr/>
        </p:nvPicPr>
        <p:blipFill>
          <a:blip r:embed="rId5"/>
          <a:stretch>
            <a:fillRect/>
          </a:stretch>
        </p:blipFill>
        <p:spPr>
          <a:xfrm>
            <a:off x="914400" y="3602736"/>
            <a:ext cx="292608" cy="292608"/>
          </a:xfrm>
          <a:prstGeom prst="rect">
            <a:avLst/>
          </a:prstGeom>
        </p:spPr>
      </p:pic>
      <p:sp>
        <p:nvSpPr>
          <p:cNvPr id="17" name="Text 12"/>
          <p:cNvSpPr/>
          <p:nvPr/>
        </p:nvSpPr>
        <p:spPr>
          <a:xfrm>
            <a:off x="1508760" y="3319272"/>
            <a:ext cx="4023360" cy="365760"/>
          </a:xfrm>
          <a:prstGeom prst="rect">
            <a:avLst/>
          </a:prstGeom>
          <a:noFill/>
          <a:ln/>
        </p:spPr>
        <p:txBody>
          <a:bodyPr wrap="square" lIns="0" tIns="0" rIns="0" bIns="0" rtlCol="0" anchor="ctr"/>
          <a:lstStyle/>
          <a:p>
            <a:pPr marL="0" indent="0">
              <a:buNone/>
            </a:pPr>
            <a:r>
              <a:rPr lang="en-US" sz="1600" b="1" dirty="0">
                <a:solidFill>
                  <a:srgbClr val="FFFFFF"/>
                </a:solidFill>
                <a:latin typeface="Arial" pitchFamily="34" charset="0"/>
                <a:ea typeface="Arial" pitchFamily="34" charset="-122"/>
                <a:cs typeface="Arial" pitchFamily="34" charset="-120"/>
              </a:rPr>
              <a:t>Know how to report</a:t>
            </a:r>
            <a:endParaRPr lang="en-US" sz="1600" dirty="0"/>
          </a:p>
        </p:txBody>
      </p:sp>
      <p:sp>
        <p:nvSpPr>
          <p:cNvPr id="18" name="Text 13"/>
          <p:cNvSpPr/>
          <p:nvPr/>
        </p:nvSpPr>
        <p:spPr>
          <a:xfrm>
            <a:off x="1508760" y="3685032"/>
            <a:ext cx="4023360" cy="548640"/>
          </a:xfrm>
          <a:prstGeom prst="rect">
            <a:avLst/>
          </a:prstGeom>
          <a:noFill/>
          <a:ln/>
        </p:spPr>
        <p:txBody>
          <a:bodyPr wrap="square" lIns="0" tIns="0" rIns="0" bIns="0" rtlCol="0" anchor="ctr"/>
          <a:lstStyle/>
          <a:p>
            <a:pPr marL="0" indent="0">
              <a:buNone/>
            </a:pPr>
            <a:r>
              <a:rPr lang="en-US" sz="1200" dirty="0">
                <a:solidFill>
                  <a:srgbClr val="9FB3C8"/>
                </a:solidFill>
                <a:latin typeface="Calibri" pitchFamily="34" charset="0"/>
                <a:ea typeface="Calibri" pitchFamily="34" charset="-122"/>
                <a:cs typeface="Calibri" pitchFamily="34" charset="-120"/>
              </a:rPr>
              <a:t>Understand exactly who to notify and how, fast</a:t>
            </a:r>
            <a:r>
              <a:rPr lang="en-US" sz="1150" dirty="0">
                <a:solidFill>
                  <a:srgbClr val="9FB3C8"/>
                </a:solidFill>
                <a:latin typeface="Calibri" pitchFamily="34" charset="0"/>
                <a:ea typeface="Calibri" pitchFamily="34" charset="-122"/>
                <a:cs typeface="Calibri" pitchFamily="34" charset="-120"/>
              </a:rPr>
              <a:t>.</a:t>
            </a:r>
            <a:endParaRPr lang="en-US" sz="1150" dirty="0"/>
          </a:p>
        </p:txBody>
      </p:sp>
      <p:sp>
        <p:nvSpPr>
          <p:cNvPr id="19" name="Shape 14"/>
          <p:cNvSpPr/>
          <p:nvPr/>
        </p:nvSpPr>
        <p:spPr>
          <a:xfrm>
            <a:off x="6126480" y="3154680"/>
            <a:ext cx="5212080" cy="1188720"/>
          </a:xfrm>
          <a:prstGeom prst="roundRect">
            <a:avLst>
              <a:gd name="adj" fmla="val 6154"/>
            </a:avLst>
          </a:prstGeom>
          <a:solidFill>
            <a:srgbClr val="10233F"/>
          </a:solidFill>
          <a:ln w="9525">
            <a:solidFill>
              <a:srgbClr val="1D3A63"/>
            </a:solidFill>
            <a:prstDash val="solid"/>
          </a:ln>
          <a:effectLst>
            <a:outerShdw blurRad="76200" dist="38100" dir="5400000" algn="bl" rotWithShape="0">
              <a:srgbClr val="000000">
                <a:alpha val="35000"/>
              </a:srgbClr>
            </a:outerShdw>
          </a:effectLst>
        </p:spPr>
      </p:sp>
      <p:sp>
        <p:nvSpPr>
          <p:cNvPr id="20" name="Shape 15"/>
          <p:cNvSpPr/>
          <p:nvPr/>
        </p:nvSpPr>
        <p:spPr>
          <a:xfrm>
            <a:off x="6355080" y="3465576"/>
            <a:ext cx="566928" cy="566928"/>
          </a:xfrm>
          <a:prstGeom prst="ellipse">
            <a:avLst/>
          </a:prstGeom>
          <a:solidFill>
            <a:srgbClr val="132A4C"/>
          </a:solidFill>
          <a:ln w="15875">
            <a:solidFill>
              <a:srgbClr val="22D3EE"/>
            </a:solidFill>
            <a:prstDash val="solid"/>
          </a:ln>
        </p:spPr>
      </p:sp>
      <p:pic>
        <p:nvPicPr>
          <p:cNvPr id="21" name="Image 3" descr="/home/claude/phishing/icons/users.png"/>
          <p:cNvPicPr>
            <a:picLocks noChangeAspect="1"/>
          </p:cNvPicPr>
          <p:nvPr/>
        </p:nvPicPr>
        <p:blipFill>
          <a:blip r:embed="rId6"/>
          <a:stretch>
            <a:fillRect/>
          </a:stretch>
        </p:blipFill>
        <p:spPr>
          <a:xfrm>
            <a:off x="6492240" y="3602736"/>
            <a:ext cx="292608" cy="292608"/>
          </a:xfrm>
          <a:prstGeom prst="rect">
            <a:avLst/>
          </a:prstGeom>
        </p:spPr>
      </p:pic>
      <p:sp>
        <p:nvSpPr>
          <p:cNvPr id="22" name="Text 16"/>
          <p:cNvSpPr/>
          <p:nvPr/>
        </p:nvSpPr>
        <p:spPr>
          <a:xfrm>
            <a:off x="7086600" y="3319272"/>
            <a:ext cx="4023360" cy="365760"/>
          </a:xfrm>
          <a:prstGeom prst="rect">
            <a:avLst/>
          </a:prstGeom>
          <a:noFill/>
          <a:ln/>
        </p:spPr>
        <p:txBody>
          <a:bodyPr wrap="square" lIns="0" tIns="0" rIns="0" bIns="0" rtlCol="0" anchor="ctr"/>
          <a:lstStyle/>
          <a:p>
            <a:pPr marL="0" indent="0">
              <a:buNone/>
            </a:pPr>
            <a:r>
              <a:rPr lang="en-US" sz="1600" b="1" dirty="0">
                <a:solidFill>
                  <a:srgbClr val="FFFFFF"/>
                </a:solidFill>
                <a:latin typeface="Arial" pitchFamily="34" charset="0"/>
                <a:ea typeface="Arial" pitchFamily="34" charset="-122"/>
                <a:cs typeface="Arial" pitchFamily="34" charset="-120"/>
              </a:rPr>
              <a:t>Protect the whole company</a:t>
            </a:r>
            <a:endParaRPr lang="en-US" sz="1600" dirty="0"/>
          </a:p>
        </p:txBody>
      </p:sp>
      <p:sp>
        <p:nvSpPr>
          <p:cNvPr id="23" name="Text 17"/>
          <p:cNvSpPr/>
          <p:nvPr/>
        </p:nvSpPr>
        <p:spPr>
          <a:xfrm>
            <a:off x="7086600" y="3685032"/>
            <a:ext cx="4023360" cy="548640"/>
          </a:xfrm>
          <a:prstGeom prst="rect">
            <a:avLst/>
          </a:prstGeom>
          <a:noFill/>
          <a:ln/>
        </p:spPr>
        <p:txBody>
          <a:bodyPr wrap="square" lIns="0" tIns="0" rIns="0" bIns="0" rtlCol="0" anchor="ctr"/>
          <a:lstStyle/>
          <a:p>
            <a:pPr marL="0" indent="0">
              <a:buNone/>
            </a:pPr>
            <a:r>
              <a:rPr lang="en-US" sz="1200" dirty="0">
                <a:solidFill>
                  <a:srgbClr val="9FB3C8"/>
                </a:solidFill>
                <a:latin typeface="Calibri" pitchFamily="34" charset="0"/>
                <a:ea typeface="Calibri" pitchFamily="34" charset="-122"/>
                <a:cs typeface="Calibri" pitchFamily="34" charset="-120"/>
              </a:rPr>
              <a:t>One careless click can affect every employee here</a:t>
            </a:r>
            <a:r>
              <a:rPr lang="en-US" sz="1150" dirty="0">
                <a:solidFill>
                  <a:srgbClr val="9FB3C8"/>
                </a:solidFill>
                <a:latin typeface="Calibri" pitchFamily="34" charset="0"/>
                <a:ea typeface="Calibri" pitchFamily="34" charset="-122"/>
                <a:cs typeface="Calibri" pitchFamily="34" charset="-120"/>
              </a:rPr>
              <a:t>.</a:t>
            </a:r>
            <a:endParaRPr lang="en-US" sz="1150" dirty="0"/>
          </a:p>
        </p:txBody>
      </p:sp>
      <p:sp>
        <p:nvSpPr>
          <p:cNvPr id="24" name="Text 18"/>
          <p:cNvSpPr/>
          <p:nvPr/>
        </p:nvSpPr>
        <p:spPr>
          <a:xfrm>
            <a:off x="548640" y="4709160"/>
            <a:ext cx="10789920" cy="548640"/>
          </a:xfrm>
          <a:prstGeom prst="rect">
            <a:avLst/>
          </a:prstGeom>
          <a:noFill/>
          <a:ln/>
        </p:spPr>
        <p:txBody>
          <a:bodyPr wrap="square" lIns="0" tIns="0" rIns="0" bIns="0" rtlCol="0" anchor="ctr"/>
          <a:lstStyle/>
          <a:p>
            <a:pPr marL="0" indent="0" algn="just">
              <a:buNone/>
            </a:pPr>
            <a:r>
              <a:rPr lang="en-US" sz="1400" b="1" dirty="0">
                <a:solidFill>
                  <a:srgbClr val="22D3EE"/>
                </a:solidFill>
                <a:latin typeface="Calibri" pitchFamily="34" charset="0"/>
                <a:ea typeface="Calibri" pitchFamily="34" charset="-122"/>
                <a:cs typeface="Calibri" pitchFamily="34" charset="-120"/>
              </a:rPr>
              <a:t>Why this matters: </a:t>
            </a:r>
            <a:r>
              <a:rPr lang="en-US" sz="1400" b="1" dirty="0" smtClean="0">
                <a:solidFill>
                  <a:srgbClr val="22D3EE"/>
                </a:solidFill>
                <a:latin typeface="Calibri" pitchFamily="34" charset="0"/>
                <a:ea typeface="Calibri" pitchFamily="34" charset="-122"/>
                <a:cs typeface="Calibri" pitchFamily="34" charset="-120"/>
              </a:rPr>
              <a:t> </a:t>
            </a:r>
            <a:r>
              <a:rPr lang="en-US" sz="1400" dirty="0">
                <a:solidFill>
                  <a:srgbClr val="9FB3C8"/>
                </a:solidFill>
                <a:latin typeface="Calibri" pitchFamily="34" charset="0"/>
                <a:ea typeface="Calibri" pitchFamily="34" charset="-122"/>
                <a:cs typeface="Calibri" pitchFamily="34" charset="-120"/>
              </a:rPr>
              <a:t>P</a:t>
            </a:r>
            <a:r>
              <a:rPr lang="en-US" sz="1400" dirty="0" smtClean="0">
                <a:solidFill>
                  <a:srgbClr val="9FB3C8"/>
                </a:solidFill>
                <a:latin typeface="Calibri" pitchFamily="34" charset="0"/>
                <a:ea typeface="Calibri" pitchFamily="34" charset="-122"/>
                <a:cs typeface="Calibri" pitchFamily="34" charset="-120"/>
              </a:rPr>
              <a:t>hishing </a:t>
            </a:r>
            <a:r>
              <a:rPr lang="en-US" sz="1400" dirty="0">
                <a:solidFill>
                  <a:srgbClr val="9FB3C8"/>
                </a:solidFill>
                <a:latin typeface="Calibri" pitchFamily="34" charset="0"/>
                <a:ea typeface="Calibri" pitchFamily="34" charset="-122"/>
                <a:cs typeface="Calibri" pitchFamily="34" charset="-120"/>
              </a:rPr>
              <a:t>is still the number one way attackers get into company networks — and it only takes one person clicking the wrong link</a:t>
            </a:r>
            <a:r>
              <a:rPr lang="en-US" sz="1250" dirty="0">
                <a:solidFill>
                  <a:srgbClr val="9FB3C8"/>
                </a:solidFill>
                <a:latin typeface="Calibri" pitchFamily="34" charset="0"/>
                <a:ea typeface="Calibri" pitchFamily="34" charset="-122"/>
                <a:cs typeface="Calibri" pitchFamily="34" charset="-120"/>
              </a:rPr>
              <a:t>.</a:t>
            </a:r>
            <a:endParaRPr lang="en-US" sz="1250" dirty="0"/>
          </a:p>
        </p:txBody>
      </p:sp>
      <p:sp>
        <p:nvSpPr>
          <p:cNvPr id="25" name="Text 19"/>
          <p:cNvSpPr/>
          <p:nvPr/>
        </p:nvSpPr>
        <p:spPr>
          <a:xfrm>
            <a:off x="11155680" y="6473952"/>
            <a:ext cx="822960" cy="274320"/>
          </a:xfrm>
          <a:prstGeom prst="rect">
            <a:avLst/>
          </a:prstGeom>
          <a:noFill/>
          <a:ln/>
        </p:spPr>
        <p:txBody>
          <a:bodyPr wrap="square" lIns="0" tIns="0" rIns="0" bIns="0" rtlCol="0" anchor="ctr"/>
          <a:lstStyle/>
          <a:p>
            <a:pPr marL="0" indent="0" algn="r">
              <a:buNone/>
            </a:pPr>
            <a:r>
              <a:rPr lang="en-US" sz="900" dirty="0">
                <a:solidFill>
                  <a:srgbClr val="9FB3C8"/>
                </a:solidFill>
                <a:latin typeface="Calibri" pitchFamily="34" charset="0"/>
                <a:ea typeface="Calibri" pitchFamily="34" charset="-122"/>
                <a:cs typeface="Calibri" pitchFamily="34" charset="-120"/>
              </a:rPr>
              <a:t>02 / 16</a:t>
            </a:r>
            <a:endParaRPr lang="en-US" sz="900" dirty="0"/>
          </a:p>
        </p:txBody>
      </p:sp>
      <p:sp>
        <p:nvSpPr>
          <p:cNvPr id="26" name="Text 20"/>
          <p:cNvSpPr/>
          <p:nvPr/>
        </p:nvSpPr>
        <p:spPr>
          <a:xfrm>
            <a:off x="548640" y="6473952"/>
            <a:ext cx="5486400" cy="274320"/>
          </a:xfrm>
          <a:prstGeom prst="rect">
            <a:avLst/>
          </a:prstGeom>
          <a:noFill/>
          <a:ln/>
        </p:spPr>
        <p:txBody>
          <a:bodyPr wrap="square" lIns="0" tIns="0" rIns="0" bIns="0" rtlCol="0" anchor="ctr"/>
          <a:lstStyle/>
          <a:p>
            <a:pPr marL="0" indent="0">
              <a:buNone/>
            </a:pPr>
            <a:r>
              <a:rPr lang="en-US" sz="900" kern="0" spc="100" dirty="0">
                <a:solidFill>
                  <a:srgbClr val="9FB3C8"/>
                </a:solidFill>
                <a:latin typeface="Calibri" pitchFamily="34" charset="0"/>
                <a:ea typeface="Calibri" pitchFamily="34" charset="-122"/>
                <a:cs typeface="Calibri" pitchFamily="34" charset="-120"/>
              </a:rPr>
              <a:t>PHISHING AWARENESS TRAINING</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A1628"/>
        </a:solidFill>
        <a:effectLst/>
      </p:bgPr>
    </p:bg>
    <p:spTree>
      <p:nvGrpSpPr>
        <p:cNvPr id="1" name=""/>
        <p:cNvGrpSpPr/>
        <p:nvPr/>
      </p:nvGrpSpPr>
      <p:grpSpPr>
        <a:xfrm>
          <a:off x="0" y="0"/>
          <a:ext cx="0" cy="0"/>
          <a:chOff x="0" y="0"/>
          <a:chExt cx="0" cy="0"/>
        </a:xfrm>
      </p:grpSpPr>
      <p:sp>
        <p:nvSpPr>
          <p:cNvPr id="2" name="Text 0"/>
          <p:cNvSpPr/>
          <p:nvPr/>
        </p:nvSpPr>
        <p:spPr>
          <a:xfrm>
            <a:off x="548640" y="320040"/>
            <a:ext cx="7315200" cy="320040"/>
          </a:xfrm>
          <a:prstGeom prst="rect">
            <a:avLst/>
          </a:prstGeom>
          <a:noFill/>
          <a:ln/>
        </p:spPr>
        <p:txBody>
          <a:bodyPr wrap="square" lIns="0" tIns="0" rIns="0" bIns="0" rtlCol="0" anchor="ctr"/>
          <a:lstStyle/>
          <a:p>
            <a:pPr marL="0" indent="0">
              <a:buNone/>
            </a:pPr>
            <a:r>
              <a:rPr lang="en-US" sz="1200" b="1" kern="0" spc="200" dirty="0">
                <a:solidFill>
                  <a:srgbClr val="22D3EE"/>
                </a:solidFill>
                <a:latin typeface="Arial" pitchFamily="34" charset="0"/>
                <a:ea typeface="Arial" pitchFamily="34" charset="-122"/>
                <a:cs typeface="Arial" pitchFamily="34" charset="-120"/>
              </a:rPr>
              <a:t>THE BASICS</a:t>
            </a:r>
            <a:endParaRPr lang="en-US" sz="1200" dirty="0"/>
          </a:p>
        </p:txBody>
      </p:sp>
      <p:sp>
        <p:nvSpPr>
          <p:cNvPr id="3" name="Text 1"/>
          <p:cNvSpPr/>
          <p:nvPr/>
        </p:nvSpPr>
        <p:spPr>
          <a:xfrm>
            <a:off x="548640" y="621792"/>
            <a:ext cx="10789920" cy="685800"/>
          </a:xfrm>
          <a:prstGeom prst="rect">
            <a:avLst/>
          </a:prstGeom>
          <a:noFill/>
          <a:ln/>
        </p:spPr>
        <p:txBody>
          <a:bodyPr wrap="square" lIns="0" tIns="0" rIns="0" bIns="0" rtlCol="0" anchor="ctr"/>
          <a:lstStyle/>
          <a:p>
            <a:pPr marL="0" indent="0">
              <a:buNone/>
            </a:pPr>
            <a:r>
              <a:rPr lang="en-US" sz="3200" b="1" dirty="0">
                <a:solidFill>
                  <a:srgbClr val="FFFFFF"/>
                </a:solidFill>
                <a:latin typeface="Arial" pitchFamily="34" charset="0"/>
                <a:ea typeface="Arial" pitchFamily="34" charset="-122"/>
                <a:cs typeface="Arial" pitchFamily="34" charset="-120"/>
              </a:rPr>
              <a:t>What Is Phishing?</a:t>
            </a:r>
            <a:endParaRPr lang="en-US" sz="3200" dirty="0"/>
          </a:p>
        </p:txBody>
      </p:sp>
      <p:sp>
        <p:nvSpPr>
          <p:cNvPr id="4" name="Shape 2"/>
          <p:cNvSpPr/>
          <p:nvPr/>
        </p:nvSpPr>
        <p:spPr>
          <a:xfrm>
            <a:off x="548640" y="1691640"/>
            <a:ext cx="6309360" cy="4343400"/>
          </a:xfrm>
          <a:prstGeom prst="roundRect">
            <a:avLst>
              <a:gd name="adj" fmla="val 1684"/>
            </a:avLst>
          </a:prstGeom>
          <a:solidFill>
            <a:srgbClr val="10233F"/>
          </a:solidFill>
          <a:ln w="9525">
            <a:solidFill>
              <a:srgbClr val="1D3A63"/>
            </a:solidFill>
            <a:prstDash val="solid"/>
          </a:ln>
          <a:effectLst>
            <a:outerShdw blurRad="76200" dist="38100" dir="5400000" algn="bl" rotWithShape="0">
              <a:srgbClr val="000000">
                <a:alpha val="35000"/>
              </a:srgbClr>
            </a:outerShdw>
          </a:effectLst>
        </p:spPr>
      </p:sp>
      <p:sp>
        <p:nvSpPr>
          <p:cNvPr id="5" name="Text 3"/>
          <p:cNvSpPr/>
          <p:nvPr/>
        </p:nvSpPr>
        <p:spPr>
          <a:xfrm>
            <a:off x="914400" y="1965960"/>
            <a:ext cx="5577840" cy="822960"/>
          </a:xfrm>
          <a:prstGeom prst="rect">
            <a:avLst/>
          </a:prstGeom>
          <a:noFill/>
          <a:ln/>
        </p:spPr>
        <p:txBody>
          <a:bodyPr wrap="square" lIns="0" tIns="0" rIns="0" bIns="0" rtlCol="0" anchor="ctr"/>
          <a:lstStyle/>
          <a:p>
            <a:pPr marL="0" indent="0">
              <a:buNone/>
            </a:pPr>
            <a:r>
              <a:rPr lang="en-US" sz="1400" dirty="0">
                <a:solidFill>
                  <a:srgbClr val="FFFFFF"/>
                </a:solidFill>
                <a:latin typeface="Calibri" pitchFamily="34" charset="0"/>
                <a:ea typeface="Calibri" pitchFamily="34" charset="-122"/>
                <a:cs typeface="Calibri" pitchFamily="34" charset="-120"/>
              </a:rPr>
              <a:t>A phishing attack is a fake message designed to trick you into handing over information or access — usually by pretending to be someone you trust.</a:t>
            </a:r>
            <a:endParaRPr lang="en-US" sz="1400" dirty="0"/>
          </a:p>
        </p:txBody>
      </p:sp>
      <p:sp>
        <p:nvSpPr>
          <p:cNvPr id="6" name="Text 4"/>
          <p:cNvSpPr/>
          <p:nvPr/>
        </p:nvSpPr>
        <p:spPr>
          <a:xfrm>
            <a:off x="914400" y="2880360"/>
            <a:ext cx="5577840" cy="2926080"/>
          </a:xfrm>
          <a:prstGeom prst="rect">
            <a:avLst/>
          </a:prstGeom>
          <a:noFill/>
          <a:ln/>
        </p:spPr>
        <p:txBody>
          <a:bodyPr wrap="square" lIns="0" tIns="0" rIns="0" bIns="0" rtlCol="0" anchor="t"/>
          <a:lstStyle/>
          <a:p>
            <a:pPr marL="228600" indent="-228600">
              <a:lnSpc>
                <a:spcPts val="3000"/>
              </a:lnSpc>
              <a:spcAft>
                <a:spcPts val="1200"/>
              </a:spcAft>
              <a:buSzPct val="100000"/>
              <a:buChar char="●"/>
            </a:pPr>
            <a:r>
              <a:rPr lang="en-US" sz="1350" dirty="0" smtClean="0">
                <a:solidFill>
                  <a:srgbClr val="FFFFFF"/>
                </a:solidFill>
                <a:latin typeface="Calibri" pitchFamily="34" charset="0"/>
                <a:ea typeface="Calibri" pitchFamily="34" charset="-122"/>
                <a:cs typeface="Calibri" pitchFamily="34" charset="-120"/>
              </a:rPr>
              <a:t>Attacker sends a message that looks like it's from a bank, coworker, or vendor</a:t>
            </a:r>
            <a:endParaRPr lang="en-US" sz="1350" dirty="0" smtClean="0"/>
          </a:p>
          <a:p>
            <a:pPr marL="228600" indent="-228600">
              <a:lnSpc>
                <a:spcPts val="3000"/>
              </a:lnSpc>
              <a:spcAft>
                <a:spcPts val="1200"/>
              </a:spcAft>
              <a:buSzPct val="100000"/>
              <a:buChar char="●"/>
            </a:pPr>
            <a:r>
              <a:rPr lang="en-US" sz="1350" dirty="0" smtClean="0">
                <a:solidFill>
                  <a:srgbClr val="FFFFFF"/>
                </a:solidFill>
                <a:latin typeface="Calibri" pitchFamily="34" charset="0"/>
                <a:ea typeface="Calibri" pitchFamily="34" charset="-122"/>
                <a:cs typeface="Calibri" pitchFamily="34" charset="-120"/>
              </a:rPr>
              <a:t>Message pushes you toward a link, attachment, or urgent request</a:t>
            </a:r>
            <a:endParaRPr lang="en-US" sz="1350" dirty="0" smtClean="0"/>
          </a:p>
          <a:p>
            <a:pPr marL="228600" indent="-228600">
              <a:lnSpc>
                <a:spcPts val="3000"/>
              </a:lnSpc>
              <a:spcAft>
                <a:spcPts val="1200"/>
              </a:spcAft>
              <a:buSzPct val="100000"/>
              <a:buChar char="●"/>
            </a:pPr>
            <a:r>
              <a:rPr lang="en-US" sz="1350" dirty="0" smtClean="0">
                <a:solidFill>
                  <a:srgbClr val="FFFFFF"/>
                </a:solidFill>
                <a:latin typeface="Calibri" pitchFamily="34" charset="0"/>
                <a:ea typeface="Calibri" pitchFamily="34" charset="-122"/>
                <a:cs typeface="Calibri" pitchFamily="34" charset="-120"/>
              </a:rPr>
              <a:t>You click, log in, or reply — and the attacker gets what they wanted</a:t>
            </a:r>
            <a:endParaRPr lang="en-US" sz="1350" dirty="0" smtClean="0"/>
          </a:p>
          <a:p>
            <a:pPr marL="228600" indent="-228600">
              <a:lnSpc>
                <a:spcPts val="3000"/>
              </a:lnSpc>
              <a:spcAft>
                <a:spcPts val="1200"/>
              </a:spcAft>
              <a:buSzPct val="100000"/>
              <a:buChar char="●"/>
            </a:pPr>
            <a:r>
              <a:rPr lang="en-US" sz="1350" dirty="0" smtClean="0">
                <a:solidFill>
                  <a:srgbClr val="FFFFFF"/>
                </a:solidFill>
                <a:latin typeface="Calibri" pitchFamily="34" charset="0"/>
                <a:ea typeface="Calibri" pitchFamily="34" charset="-122"/>
                <a:cs typeface="Calibri" pitchFamily="34" charset="-120"/>
              </a:rPr>
              <a:t>It works because it targets people, not firewalls</a:t>
            </a:r>
            <a:endParaRPr lang="en-US" sz="1350" dirty="0"/>
          </a:p>
        </p:txBody>
      </p:sp>
      <p:sp>
        <p:nvSpPr>
          <p:cNvPr id="7" name="Shape 5"/>
          <p:cNvSpPr/>
          <p:nvPr/>
        </p:nvSpPr>
        <p:spPr>
          <a:xfrm>
            <a:off x="7315200" y="1691640"/>
            <a:ext cx="4297680" cy="4343400"/>
          </a:xfrm>
          <a:prstGeom prst="roundRect">
            <a:avLst>
              <a:gd name="adj" fmla="val 1702"/>
            </a:avLst>
          </a:prstGeom>
          <a:solidFill>
            <a:srgbClr val="132A4C"/>
          </a:solidFill>
          <a:ln w="9525">
            <a:solidFill>
              <a:srgbClr val="1D3A63"/>
            </a:solidFill>
            <a:prstDash val="solid"/>
          </a:ln>
        </p:spPr>
      </p:sp>
      <p:pic>
        <p:nvPicPr>
          <p:cNvPr id="8" name="Image 0" descr="/home/claude/phishing/icons/mail.png"/>
          <p:cNvPicPr>
            <a:picLocks noChangeAspect="1"/>
          </p:cNvPicPr>
          <p:nvPr/>
        </p:nvPicPr>
        <p:blipFill>
          <a:blip r:embed="rId3"/>
          <a:stretch>
            <a:fillRect/>
          </a:stretch>
        </p:blipFill>
        <p:spPr>
          <a:xfrm>
            <a:off x="8778240" y="2468880"/>
            <a:ext cx="1463040" cy="1463040"/>
          </a:xfrm>
          <a:prstGeom prst="rect">
            <a:avLst/>
          </a:prstGeom>
        </p:spPr>
      </p:pic>
      <p:sp>
        <p:nvSpPr>
          <p:cNvPr id="9" name="Text 6"/>
          <p:cNvSpPr/>
          <p:nvPr/>
        </p:nvSpPr>
        <p:spPr>
          <a:xfrm>
            <a:off x="7680960" y="4114800"/>
            <a:ext cx="3566160" cy="1554480"/>
          </a:xfrm>
          <a:prstGeom prst="rect">
            <a:avLst/>
          </a:prstGeom>
          <a:noFill/>
          <a:ln/>
        </p:spPr>
        <p:txBody>
          <a:bodyPr wrap="square" lIns="0" tIns="0" rIns="0" bIns="0" rtlCol="0" anchor="ctr"/>
          <a:lstStyle/>
          <a:p>
            <a:pPr marL="0" indent="0" algn="ctr">
              <a:buNone/>
            </a:pPr>
            <a:r>
              <a:rPr lang="en-US" sz="1250" i="1" dirty="0">
                <a:solidFill>
                  <a:srgbClr val="9FB3C8"/>
                </a:solidFill>
                <a:latin typeface="Calibri" pitchFamily="34" charset="0"/>
                <a:ea typeface="Calibri" pitchFamily="34" charset="-122"/>
                <a:cs typeface="Calibri" pitchFamily="34" charset="-120"/>
              </a:rPr>
              <a:t>Attackers use phishing because it's cheap, fast, and doesn't require breaking any code — just breaking trust.</a:t>
            </a:r>
            <a:endParaRPr lang="en-US" sz="1250" dirty="0"/>
          </a:p>
        </p:txBody>
      </p:sp>
      <p:sp>
        <p:nvSpPr>
          <p:cNvPr id="10" name="Text 7"/>
          <p:cNvSpPr/>
          <p:nvPr/>
        </p:nvSpPr>
        <p:spPr>
          <a:xfrm>
            <a:off x="11155680" y="6473952"/>
            <a:ext cx="822960" cy="274320"/>
          </a:xfrm>
          <a:prstGeom prst="rect">
            <a:avLst/>
          </a:prstGeom>
          <a:noFill/>
          <a:ln/>
        </p:spPr>
        <p:txBody>
          <a:bodyPr wrap="square" lIns="0" tIns="0" rIns="0" bIns="0" rtlCol="0" anchor="ctr"/>
          <a:lstStyle/>
          <a:p>
            <a:pPr marL="0" indent="0" algn="r">
              <a:buNone/>
            </a:pPr>
            <a:r>
              <a:rPr lang="en-US" sz="900" dirty="0">
                <a:solidFill>
                  <a:srgbClr val="9FB3C8"/>
                </a:solidFill>
                <a:latin typeface="Calibri" pitchFamily="34" charset="0"/>
                <a:ea typeface="Calibri" pitchFamily="34" charset="-122"/>
                <a:cs typeface="Calibri" pitchFamily="34" charset="-120"/>
              </a:rPr>
              <a:t>03 / 16</a:t>
            </a:r>
            <a:endParaRPr lang="en-US" sz="900" dirty="0"/>
          </a:p>
        </p:txBody>
      </p:sp>
      <p:sp>
        <p:nvSpPr>
          <p:cNvPr id="11" name="Text 8"/>
          <p:cNvSpPr/>
          <p:nvPr/>
        </p:nvSpPr>
        <p:spPr>
          <a:xfrm>
            <a:off x="548640" y="6473952"/>
            <a:ext cx="5486400" cy="274320"/>
          </a:xfrm>
          <a:prstGeom prst="rect">
            <a:avLst/>
          </a:prstGeom>
          <a:noFill/>
          <a:ln/>
        </p:spPr>
        <p:txBody>
          <a:bodyPr wrap="square" lIns="0" tIns="0" rIns="0" bIns="0" rtlCol="0" anchor="ctr"/>
          <a:lstStyle/>
          <a:p>
            <a:pPr marL="0" indent="0">
              <a:buNone/>
            </a:pPr>
            <a:r>
              <a:rPr lang="en-US" sz="900" kern="0" spc="100" dirty="0">
                <a:solidFill>
                  <a:srgbClr val="9FB3C8"/>
                </a:solidFill>
                <a:latin typeface="Calibri" pitchFamily="34" charset="0"/>
                <a:ea typeface="Calibri" pitchFamily="34" charset="-122"/>
                <a:cs typeface="Calibri" pitchFamily="34" charset="-120"/>
              </a:rPr>
              <a:t>PHISHING AWARENESS TRAINING</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457200" y="457200"/>
            <a:ext cx="18288" cy="18288"/>
          </a:xfrm>
          <a:prstGeom prst="ellipse">
            <a:avLst/>
          </a:prstGeom>
          <a:solidFill>
            <a:srgbClr val="22D3EE">
              <a:alpha val="15000"/>
            </a:srgbClr>
          </a:solidFill>
          <a:ln/>
        </p:spPr>
      </p:sp>
      <p:sp>
        <p:nvSpPr>
          <p:cNvPr id="3" name="Shape 1"/>
          <p:cNvSpPr/>
          <p:nvPr/>
        </p:nvSpPr>
        <p:spPr>
          <a:xfrm>
            <a:off x="1234440" y="457200"/>
            <a:ext cx="18288" cy="18288"/>
          </a:xfrm>
          <a:prstGeom prst="ellipse">
            <a:avLst/>
          </a:prstGeom>
          <a:solidFill>
            <a:srgbClr val="22D3EE">
              <a:alpha val="15000"/>
            </a:srgbClr>
          </a:solidFill>
          <a:ln/>
        </p:spPr>
      </p:sp>
      <p:sp>
        <p:nvSpPr>
          <p:cNvPr id="4" name="Shape 2"/>
          <p:cNvSpPr/>
          <p:nvPr/>
        </p:nvSpPr>
        <p:spPr>
          <a:xfrm>
            <a:off x="2011680" y="457200"/>
            <a:ext cx="18288" cy="18288"/>
          </a:xfrm>
          <a:prstGeom prst="ellipse">
            <a:avLst/>
          </a:prstGeom>
          <a:solidFill>
            <a:srgbClr val="22D3EE">
              <a:alpha val="15000"/>
            </a:srgbClr>
          </a:solidFill>
          <a:ln/>
        </p:spPr>
      </p:sp>
      <p:sp>
        <p:nvSpPr>
          <p:cNvPr id="5" name="Shape 3"/>
          <p:cNvSpPr/>
          <p:nvPr/>
        </p:nvSpPr>
        <p:spPr>
          <a:xfrm>
            <a:off x="2788920" y="457200"/>
            <a:ext cx="18288" cy="18288"/>
          </a:xfrm>
          <a:prstGeom prst="ellipse">
            <a:avLst/>
          </a:prstGeom>
          <a:solidFill>
            <a:srgbClr val="22D3EE">
              <a:alpha val="15000"/>
            </a:srgbClr>
          </a:solidFill>
          <a:ln/>
        </p:spPr>
      </p:sp>
      <p:sp>
        <p:nvSpPr>
          <p:cNvPr id="6" name="Shape 4"/>
          <p:cNvSpPr/>
          <p:nvPr/>
        </p:nvSpPr>
        <p:spPr>
          <a:xfrm>
            <a:off x="3566160" y="457200"/>
            <a:ext cx="18288" cy="18288"/>
          </a:xfrm>
          <a:prstGeom prst="ellipse">
            <a:avLst/>
          </a:prstGeom>
          <a:solidFill>
            <a:srgbClr val="22D3EE">
              <a:alpha val="15000"/>
            </a:srgbClr>
          </a:solidFill>
          <a:ln/>
        </p:spPr>
      </p:sp>
      <p:sp>
        <p:nvSpPr>
          <p:cNvPr id="7" name="Shape 5"/>
          <p:cNvSpPr/>
          <p:nvPr/>
        </p:nvSpPr>
        <p:spPr>
          <a:xfrm>
            <a:off x="4343400" y="457200"/>
            <a:ext cx="18288" cy="18288"/>
          </a:xfrm>
          <a:prstGeom prst="ellipse">
            <a:avLst/>
          </a:prstGeom>
          <a:solidFill>
            <a:srgbClr val="22D3EE">
              <a:alpha val="15000"/>
            </a:srgbClr>
          </a:solidFill>
          <a:ln/>
        </p:spPr>
      </p:sp>
      <p:sp>
        <p:nvSpPr>
          <p:cNvPr id="8" name="Shape 6"/>
          <p:cNvSpPr/>
          <p:nvPr/>
        </p:nvSpPr>
        <p:spPr>
          <a:xfrm>
            <a:off x="5120640" y="457200"/>
            <a:ext cx="18288" cy="18288"/>
          </a:xfrm>
          <a:prstGeom prst="ellipse">
            <a:avLst/>
          </a:prstGeom>
          <a:solidFill>
            <a:srgbClr val="22D3EE">
              <a:alpha val="15000"/>
            </a:srgbClr>
          </a:solidFill>
          <a:ln/>
        </p:spPr>
      </p:sp>
      <p:sp>
        <p:nvSpPr>
          <p:cNvPr id="9" name="Shape 7"/>
          <p:cNvSpPr/>
          <p:nvPr/>
        </p:nvSpPr>
        <p:spPr>
          <a:xfrm>
            <a:off x="5897880" y="457200"/>
            <a:ext cx="18288" cy="18288"/>
          </a:xfrm>
          <a:prstGeom prst="ellipse">
            <a:avLst/>
          </a:prstGeom>
          <a:solidFill>
            <a:srgbClr val="22D3EE">
              <a:alpha val="15000"/>
            </a:srgbClr>
          </a:solidFill>
          <a:ln/>
        </p:spPr>
      </p:sp>
      <p:sp>
        <p:nvSpPr>
          <p:cNvPr id="10" name="Shape 8"/>
          <p:cNvSpPr/>
          <p:nvPr/>
        </p:nvSpPr>
        <p:spPr>
          <a:xfrm>
            <a:off x="6675120" y="457200"/>
            <a:ext cx="18288" cy="18288"/>
          </a:xfrm>
          <a:prstGeom prst="ellipse">
            <a:avLst/>
          </a:prstGeom>
          <a:solidFill>
            <a:srgbClr val="22D3EE">
              <a:alpha val="15000"/>
            </a:srgbClr>
          </a:solidFill>
          <a:ln/>
        </p:spPr>
      </p:sp>
      <p:sp>
        <p:nvSpPr>
          <p:cNvPr id="11" name="Shape 9"/>
          <p:cNvSpPr/>
          <p:nvPr/>
        </p:nvSpPr>
        <p:spPr>
          <a:xfrm>
            <a:off x="7452360" y="457200"/>
            <a:ext cx="18288" cy="18288"/>
          </a:xfrm>
          <a:prstGeom prst="ellipse">
            <a:avLst/>
          </a:prstGeom>
          <a:solidFill>
            <a:srgbClr val="22D3EE">
              <a:alpha val="15000"/>
            </a:srgbClr>
          </a:solidFill>
          <a:ln/>
        </p:spPr>
      </p:sp>
      <p:sp>
        <p:nvSpPr>
          <p:cNvPr id="12" name="Shape 10"/>
          <p:cNvSpPr/>
          <p:nvPr/>
        </p:nvSpPr>
        <p:spPr>
          <a:xfrm>
            <a:off x="8229600" y="457200"/>
            <a:ext cx="18288" cy="18288"/>
          </a:xfrm>
          <a:prstGeom prst="ellipse">
            <a:avLst/>
          </a:prstGeom>
          <a:solidFill>
            <a:srgbClr val="22D3EE">
              <a:alpha val="15000"/>
            </a:srgbClr>
          </a:solidFill>
          <a:ln/>
        </p:spPr>
      </p:sp>
      <p:sp>
        <p:nvSpPr>
          <p:cNvPr id="13" name="Shape 11"/>
          <p:cNvSpPr/>
          <p:nvPr/>
        </p:nvSpPr>
        <p:spPr>
          <a:xfrm>
            <a:off x="9006840" y="457200"/>
            <a:ext cx="18288" cy="18288"/>
          </a:xfrm>
          <a:prstGeom prst="ellipse">
            <a:avLst/>
          </a:prstGeom>
          <a:solidFill>
            <a:srgbClr val="22D3EE">
              <a:alpha val="15000"/>
            </a:srgbClr>
          </a:solidFill>
          <a:ln/>
        </p:spPr>
      </p:sp>
      <p:sp>
        <p:nvSpPr>
          <p:cNvPr id="14" name="Shape 12"/>
          <p:cNvSpPr/>
          <p:nvPr/>
        </p:nvSpPr>
        <p:spPr>
          <a:xfrm>
            <a:off x="9784080" y="457200"/>
            <a:ext cx="18288" cy="18288"/>
          </a:xfrm>
          <a:prstGeom prst="ellipse">
            <a:avLst/>
          </a:prstGeom>
          <a:solidFill>
            <a:srgbClr val="22D3EE">
              <a:alpha val="15000"/>
            </a:srgbClr>
          </a:solidFill>
          <a:ln/>
        </p:spPr>
      </p:sp>
      <p:sp>
        <p:nvSpPr>
          <p:cNvPr id="15" name="Shape 13"/>
          <p:cNvSpPr/>
          <p:nvPr/>
        </p:nvSpPr>
        <p:spPr>
          <a:xfrm>
            <a:off x="10561320" y="457200"/>
            <a:ext cx="18288" cy="18288"/>
          </a:xfrm>
          <a:prstGeom prst="ellipse">
            <a:avLst/>
          </a:prstGeom>
          <a:solidFill>
            <a:srgbClr val="22D3EE">
              <a:alpha val="15000"/>
            </a:srgbClr>
          </a:solidFill>
          <a:ln/>
        </p:spPr>
      </p:sp>
      <p:sp>
        <p:nvSpPr>
          <p:cNvPr id="16" name="Shape 14"/>
          <p:cNvSpPr/>
          <p:nvPr/>
        </p:nvSpPr>
        <p:spPr>
          <a:xfrm>
            <a:off x="11338560" y="457200"/>
            <a:ext cx="18288" cy="18288"/>
          </a:xfrm>
          <a:prstGeom prst="ellipse">
            <a:avLst/>
          </a:prstGeom>
          <a:solidFill>
            <a:srgbClr val="22D3EE">
              <a:alpha val="15000"/>
            </a:srgbClr>
          </a:solidFill>
          <a:ln/>
        </p:spPr>
      </p:sp>
      <p:sp>
        <p:nvSpPr>
          <p:cNvPr id="17" name="Shape 15"/>
          <p:cNvSpPr/>
          <p:nvPr/>
        </p:nvSpPr>
        <p:spPr>
          <a:xfrm>
            <a:off x="457200" y="1234440"/>
            <a:ext cx="18288" cy="18288"/>
          </a:xfrm>
          <a:prstGeom prst="ellipse">
            <a:avLst/>
          </a:prstGeom>
          <a:solidFill>
            <a:srgbClr val="22D3EE">
              <a:alpha val="15000"/>
            </a:srgbClr>
          </a:solidFill>
          <a:ln/>
        </p:spPr>
      </p:sp>
      <p:sp>
        <p:nvSpPr>
          <p:cNvPr id="18" name="Shape 16"/>
          <p:cNvSpPr/>
          <p:nvPr/>
        </p:nvSpPr>
        <p:spPr>
          <a:xfrm>
            <a:off x="1234440" y="1234440"/>
            <a:ext cx="18288" cy="18288"/>
          </a:xfrm>
          <a:prstGeom prst="ellipse">
            <a:avLst/>
          </a:prstGeom>
          <a:solidFill>
            <a:srgbClr val="22D3EE">
              <a:alpha val="15000"/>
            </a:srgbClr>
          </a:solidFill>
          <a:ln/>
        </p:spPr>
      </p:sp>
      <p:sp>
        <p:nvSpPr>
          <p:cNvPr id="19" name="Shape 17"/>
          <p:cNvSpPr/>
          <p:nvPr/>
        </p:nvSpPr>
        <p:spPr>
          <a:xfrm>
            <a:off x="2011680" y="1234440"/>
            <a:ext cx="18288" cy="18288"/>
          </a:xfrm>
          <a:prstGeom prst="ellipse">
            <a:avLst/>
          </a:prstGeom>
          <a:solidFill>
            <a:srgbClr val="22D3EE">
              <a:alpha val="15000"/>
            </a:srgbClr>
          </a:solidFill>
          <a:ln/>
        </p:spPr>
      </p:sp>
      <p:sp>
        <p:nvSpPr>
          <p:cNvPr id="20" name="Shape 18"/>
          <p:cNvSpPr/>
          <p:nvPr/>
        </p:nvSpPr>
        <p:spPr>
          <a:xfrm>
            <a:off x="2788920" y="1234440"/>
            <a:ext cx="18288" cy="18288"/>
          </a:xfrm>
          <a:prstGeom prst="ellipse">
            <a:avLst/>
          </a:prstGeom>
          <a:solidFill>
            <a:srgbClr val="22D3EE">
              <a:alpha val="15000"/>
            </a:srgbClr>
          </a:solidFill>
          <a:ln/>
        </p:spPr>
      </p:sp>
      <p:sp>
        <p:nvSpPr>
          <p:cNvPr id="21" name="Shape 19"/>
          <p:cNvSpPr/>
          <p:nvPr/>
        </p:nvSpPr>
        <p:spPr>
          <a:xfrm>
            <a:off x="3566160" y="1234440"/>
            <a:ext cx="18288" cy="18288"/>
          </a:xfrm>
          <a:prstGeom prst="ellipse">
            <a:avLst/>
          </a:prstGeom>
          <a:solidFill>
            <a:srgbClr val="22D3EE">
              <a:alpha val="15000"/>
            </a:srgbClr>
          </a:solidFill>
          <a:ln/>
        </p:spPr>
      </p:sp>
      <p:sp>
        <p:nvSpPr>
          <p:cNvPr id="22" name="Shape 20"/>
          <p:cNvSpPr/>
          <p:nvPr/>
        </p:nvSpPr>
        <p:spPr>
          <a:xfrm>
            <a:off x="4343400" y="1234440"/>
            <a:ext cx="18288" cy="18288"/>
          </a:xfrm>
          <a:prstGeom prst="ellipse">
            <a:avLst/>
          </a:prstGeom>
          <a:solidFill>
            <a:srgbClr val="22D3EE">
              <a:alpha val="15000"/>
            </a:srgbClr>
          </a:solidFill>
          <a:ln/>
        </p:spPr>
      </p:sp>
      <p:sp>
        <p:nvSpPr>
          <p:cNvPr id="23" name="Shape 21"/>
          <p:cNvSpPr/>
          <p:nvPr/>
        </p:nvSpPr>
        <p:spPr>
          <a:xfrm>
            <a:off x="5120640" y="1234440"/>
            <a:ext cx="18288" cy="18288"/>
          </a:xfrm>
          <a:prstGeom prst="ellipse">
            <a:avLst/>
          </a:prstGeom>
          <a:solidFill>
            <a:srgbClr val="22D3EE">
              <a:alpha val="15000"/>
            </a:srgbClr>
          </a:solidFill>
          <a:ln/>
        </p:spPr>
      </p:sp>
      <p:sp>
        <p:nvSpPr>
          <p:cNvPr id="24" name="Shape 22"/>
          <p:cNvSpPr/>
          <p:nvPr/>
        </p:nvSpPr>
        <p:spPr>
          <a:xfrm>
            <a:off x="5897880" y="1234440"/>
            <a:ext cx="18288" cy="18288"/>
          </a:xfrm>
          <a:prstGeom prst="ellipse">
            <a:avLst/>
          </a:prstGeom>
          <a:solidFill>
            <a:srgbClr val="22D3EE">
              <a:alpha val="15000"/>
            </a:srgbClr>
          </a:solidFill>
          <a:ln/>
        </p:spPr>
      </p:sp>
      <p:sp>
        <p:nvSpPr>
          <p:cNvPr id="25" name="Shape 23"/>
          <p:cNvSpPr/>
          <p:nvPr/>
        </p:nvSpPr>
        <p:spPr>
          <a:xfrm>
            <a:off x="6675120" y="1234440"/>
            <a:ext cx="18288" cy="18288"/>
          </a:xfrm>
          <a:prstGeom prst="ellipse">
            <a:avLst/>
          </a:prstGeom>
          <a:solidFill>
            <a:srgbClr val="22D3EE">
              <a:alpha val="15000"/>
            </a:srgbClr>
          </a:solidFill>
          <a:ln/>
        </p:spPr>
      </p:sp>
      <p:sp>
        <p:nvSpPr>
          <p:cNvPr id="26" name="Shape 24"/>
          <p:cNvSpPr/>
          <p:nvPr/>
        </p:nvSpPr>
        <p:spPr>
          <a:xfrm>
            <a:off x="7452360" y="1234440"/>
            <a:ext cx="18288" cy="18288"/>
          </a:xfrm>
          <a:prstGeom prst="ellipse">
            <a:avLst/>
          </a:prstGeom>
          <a:solidFill>
            <a:srgbClr val="22D3EE">
              <a:alpha val="15000"/>
            </a:srgbClr>
          </a:solidFill>
          <a:ln/>
        </p:spPr>
      </p:sp>
      <p:sp>
        <p:nvSpPr>
          <p:cNvPr id="27" name="Shape 25"/>
          <p:cNvSpPr/>
          <p:nvPr/>
        </p:nvSpPr>
        <p:spPr>
          <a:xfrm>
            <a:off x="8229600" y="1234440"/>
            <a:ext cx="18288" cy="18288"/>
          </a:xfrm>
          <a:prstGeom prst="ellipse">
            <a:avLst/>
          </a:prstGeom>
          <a:solidFill>
            <a:srgbClr val="22D3EE">
              <a:alpha val="15000"/>
            </a:srgbClr>
          </a:solidFill>
          <a:ln/>
        </p:spPr>
      </p:sp>
      <p:sp>
        <p:nvSpPr>
          <p:cNvPr id="28" name="Shape 26"/>
          <p:cNvSpPr/>
          <p:nvPr/>
        </p:nvSpPr>
        <p:spPr>
          <a:xfrm>
            <a:off x="9006840" y="1234440"/>
            <a:ext cx="18288" cy="18288"/>
          </a:xfrm>
          <a:prstGeom prst="ellipse">
            <a:avLst/>
          </a:prstGeom>
          <a:solidFill>
            <a:srgbClr val="22D3EE">
              <a:alpha val="15000"/>
            </a:srgbClr>
          </a:solidFill>
          <a:ln/>
        </p:spPr>
      </p:sp>
      <p:sp>
        <p:nvSpPr>
          <p:cNvPr id="29" name="Shape 27"/>
          <p:cNvSpPr/>
          <p:nvPr/>
        </p:nvSpPr>
        <p:spPr>
          <a:xfrm>
            <a:off x="9784080" y="1234440"/>
            <a:ext cx="18288" cy="18288"/>
          </a:xfrm>
          <a:prstGeom prst="ellipse">
            <a:avLst/>
          </a:prstGeom>
          <a:solidFill>
            <a:srgbClr val="22D3EE">
              <a:alpha val="15000"/>
            </a:srgbClr>
          </a:solidFill>
          <a:ln/>
        </p:spPr>
      </p:sp>
      <p:sp>
        <p:nvSpPr>
          <p:cNvPr id="30" name="Shape 28"/>
          <p:cNvSpPr/>
          <p:nvPr/>
        </p:nvSpPr>
        <p:spPr>
          <a:xfrm>
            <a:off x="10561320" y="1234440"/>
            <a:ext cx="18288" cy="18288"/>
          </a:xfrm>
          <a:prstGeom prst="ellipse">
            <a:avLst/>
          </a:prstGeom>
          <a:solidFill>
            <a:srgbClr val="22D3EE">
              <a:alpha val="15000"/>
            </a:srgbClr>
          </a:solidFill>
          <a:ln/>
        </p:spPr>
      </p:sp>
      <p:sp>
        <p:nvSpPr>
          <p:cNvPr id="31" name="Shape 29"/>
          <p:cNvSpPr/>
          <p:nvPr/>
        </p:nvSpPr>
        <p:spPr>
          <a:xfrm>
            <a:off x="11338560" y="1234440"/>
            <a:ext cx="18288" cy="18288"/>
          </a:xfrm>
          <a:prstGeom prst="ellipse">
            <a:avLst/>
          </a:prstGeom>
          <a:solidFill>
            <a:srgbClr val="22D3EE">
              <a:alpha val="15000"/>
            </a:srgbClr>
          </a:solidFill>
          <a:ln/>
        </p:spPr>
      </p:sp>
      <p:sp>
        <p:nvSpPr>
          <p:cNvPr id="32" name="Shape 30"/>
          <p:cNvSpPr/>
          <p:nvPr/>
        </p:nvSpPr>
        <p:spPr>
          <a:xfrm>
            <a:off x="457200" y="2011680"/>
            <a:ext cx="18288" cy="18288"/>
          </a:xfrm>
          <a:prstGeom prst="ellipse">
            <a:avLst/>
          </a:prstGeom>
          <a:solidFill>
            <a:srgbClr val="22D3EE">
              <a:alpha val="15000"/>
            </a:srgbClr>
          </a:solidFill>
          <a:ln/>
        </p:spPr>
      </p:sp>
      <p:sp>
        <p:nvSpPr>
          <p:cNvPr id="33" name="Shape 31"/>
          <p:cNvSpPr/>
          <p:nvPr/>
        </p:nvSpPr>
        <p:spPr>
          <a:xfrm>
            <a:off x="1234440" y="2011680"/>
            <a:ext cx="18288" cy="18288"/>
          </a:xfrm>
          <a:prstGeom prst="ellipse">
            <a:avLst/>
          </a:prstGeom>
          <a:solidFill>
            <a:srgbClr val="22D3EE">
              <a:alpha val="15000"/>
            </a:srgbClr>
          </a:solidFill>
          <a:ln/>
        </p:spPr>
      </p:sp>
      <p:sp>
        <p:nvSpPr>
          <p:cNvPr id="34" name="Shape 32"/>
          <p:cNvSpPr/>
          <p:nvPr/>
        </p:nvSpPr>
        <p:spPr>
          <a:xfrm>
            <a:off x="2011680" y="2011680"/>
            <a:ext cx="18288" cy="18288"/>
          </a:xfrm>
          <a:prstGeom prst="ellipse">
            <a:avLst/>
          </a:prstGeom>
          <a:solidFill>
            <a:srgbClr val="22D3EE">
              <a:alpha val="15000"/>
            </a:srgbClr>
          </a:solidFill>
          <a:ln/>
        </p:spPr>
      </p:sp>
      <p:sp>
        <p:nvSpPr>
          <p:cNvPr id="35" name="Shape 33"/>
          <p:cNvSpPr/>
          <p:nvPr/>
        </p:nvSpPr>
        <p:spPr>
          <a:xfrm>
            <a:off x="2788920" y="2011680"/>
            <a:ext cx="18288" cy="18288"/>
          </a:xfrm>
          <a:prstGeom prst="ellipse">
            <a:avLst/>
          </a:prstGeom>
          <a:solidFill>
            <a:srgbClr val="22D3EE">
              <a:alpha val="15000"/>
            </a:srgbClr>
          </a:solidFill>
          <a:ln/>
        </p:spPr>
      </p:sp>
      <p:sp>
        <p:nvSpPr>
          <p:cNvPr id="36" name="Shape 34"/>
          <p:cNvSpPr/>
          <p:nvPr/>
        </p:nvSpPr>
        <p:spPr>
          <a:xfrm>
            <a:off x="3566160" y="2011680"/>
            <a:ext cx="18288" cy="18288"/>
          </a:xfrm>
          <a:prstGeom prst="ellipse">
            <a:avLst/>
          </a:prstGeom>
          <a:solidFill>
            <a:srgbClr val="22D3EE">
              <a:alpha val="15000"/>
            </a:srgbClr>
          </a:solidFill>
          <a:ln/>
        </p:spPr>
      </p:sp>
      <p:sp>
        <p:nvSpPr>
          <p:cNvPr id="37" name="Shape 35"/>
          <p:cNvSpPr/>
          <p:nvPr/>
        </p:nvSpPr>
        <p:spPr>
          <a:xfrm>
            <a:off x="4343400" y="2011680"/>
            <a:ext cx="18288" cy="18288"/>
          </a:xfrm>
          <a:prstGeom prst="ellipse">
            <a:avLst/>
          </a:prstGeom>
          <a:solidFill>
            <a:srgbClr val="22D3EE">
              <a:alpha val="15000"/>
            </a:srgbClr>
          </a:solidFill>
          <a:ln/>
        </p:spPr>
      </p:sp>
      <p:sp>
        <p:nvSpPr>
          <p:cNvPr id="38" name="Shape 36"/>
          <p:cNvSpPr/>
          <p:nvPr/>
        </p:nvSpPr>
        <p:spPr>
          <a:xfrm>
            <a:off x="5120640" y="2011680"/>
            <a:ext cx="18288" cy="18288"/>
          </a:xfrm>
          <a:prstGeom prst="ellipse">
            <a:avLst/>
          </a:prstGeom>
          <a:solidFill>
            <a:srgbClr val="22D3EE">
              <a:alpha val="15000"/>
            </a:srgbClr>
          </a:solidFill>
          <a:ln/>
        </p:spPr>
      </p:sp>
      <p:sp>
        <p:nvSpPr>
          <p:cNvPr id="39" name="Shape 37"/>
          <p:cNvSpPr/>
          <p:nvPr/>
        </p:nvSpPr>
        <p:spPr>
          <a:xfrm>
            <a:off x="5897880" y="2011680"/>
            <a:ext cx="18288" cy="18288"/>
          </a:xfrm>
          <a:prstGeom prst="ellipse">
            <a:avLst/>
          </a:prstGeom>
          <a:solidFill>
            <a:srgbClr val="22D3EE">
              <a:alpha val="15000"/>
            </a:srgbClr>
          </a:solidFill>
          <a:ln/>
        </p:spPr>
      </p:sp>
      <p:sp>
        <p:nvSpPr>
          <p:cNvPr id="40" name="Shape 38"/>
          <p:cNvSpPr/>
          <p:nvPr/>
        </p:nvSpPr>
        <p:spPr>
          <a:xfrm>
            <a:off x="6675120" y="2011680"/>
            <a:ext cx="18288" cy="18288"/>
          </a:xfrm>
          <a:prstGeom prst="ellipse">
            <a:avLst/>
          </a:prstGeom>
          <a:solidFill>
            <a:srgbClr val="22D3EE">
              <a:alpha val="15000"/>
            </a:srgbClr>
          </a:solidFill>
          <a:ln/>
        </p:spPr>
      </p:sp>
      <p:sp>
        <p:nvSpPr>
          <p:cNvPr id="41" name="Shape 39"/>
          <p:cNvSpPr/>
          <p:nvPr/>
        </p:nvSpPr>
        <p:spPr>
          <a:xfrm>
            <a:off x="7452360" y="2011680"/>
            <a:ext cx="18288" cy="18288"/>
          </a:xfrm>
          <a:prstGeom prst="ellipse">
            <a:avLst/>
          </a:prstGeom>
          <a:solidFill>
            <a:srgbClr val="22D3EE">
              <a:alpha val="15000"/>
            </a:srgbClr>
          </a:solidFill>
          <a:ln/>
        </p:spPr>
      </p:sp>
      <p:sp>
        <p:nvSpPr>
          <p:cNvPr id="42" name="Shape 40"/>
          <p:cNvSpPr/>
          <p:nvPr/>
        </p:nvSpPr>
        <p:spPr>
          <a:xfrm>
            <a:off x="8229600" y="2011680"/>
            <a:ext cx="18288" cy="18288"/>
          </a:xfrm>
          <a:prstGeom prst="ellipse">
            <a:avLst/>
          </a:prstGeom>
          <a:solidFill>
            <a:srgbClr val="22D3EE">
              <a:alpha val="15000"/>
            </a:srgbClr>
          </a:solidFill>
          <a:ln/>
        </p:spPr>
      </p:sp>
      <p:sp>
        <p:nvSpPr>
          <p:cNvPr id="43" name="Shape 41"/>
          <p:cNvSpPr/>
          <p:nvPr/>
        </p:nvSpPr>
        <p:spPr>
          <a:xfrm>
            <a:off x="9006840" y="2011680"/>
            <a:ext cx="18288" cy="18288"/>
          </a:xfrm>
          <a:prstGeom prst="ellipse">
            <a:avLst/>
          </a:prstGeom>
          <a:solidFill>
            <a:srgbClr val="22D3EE">
              <a:alpha val="15000"/>
            </a:srgbClr>
          </a:solidFill>
          <a:ln/>
        </p:spPr>
      </p:sp>
      <p:sp>
        <p:nvSpPr>
          <p:cNvPr id="44" name="Shape 42"/>
          <p:cNvSpPr/>
          <p:nvPr/>
        </p:nvSpPr>
        <p:spPr>
          <a:xfrm>
            <a:off x="9784080" y="2011680"/>
            <a:ext cx="18288" cy="18288"/>
          </a:xfrm>
          <a:prstGeom prst="ellipse">
            <a:avLst/>
          </a:prstGeom>
          <a:solidFill>
            <a:srgbClr val="22D3EE">
              <a:alpha val="15000"/>
            </a:srgbClr>
          </a:solidFill>
          <a:ln/>
        </p:spPr>
      </p:sp>
      <p:sp>
        <p:nvSpPr>
          <p:cNvPr id="45" name="Shape 43"/>
          <p:cNvSpPr/>
          <p:nvPr/>
        </p:nvSpPr>
        <p:spPr>
          <a:xfrm>
            <a:off x="10561320" y="2011680"/>
            <a:ext cx="18288" cy="18288"/>
          </a:xfrm>
          <a:prstGeom prst="ellipse">
            <a:avLst/>
          </a:prstGeom>
          <a:solidFill>
            <a:srgbClr val="22D3EE">
              <a:alpha val="15000"/>
            </a:srgbClr>
          </a:solidFill>
          <a:ln/>
        </p:spPr>
      </p:sp>
      <p:sp>
        <p:nvSpPr>
          <p:cNvPr id="46" name="Shape 44"/>
          <p:cNvSpPr/>
          <p:nvPr/>
        </p:nvSpPr>
        <p:spPr>
          <a:xfrm>
            <a:off x="11338560" y="2011680"/>
            <a:ext cx="18288" cy="18288"/>
          </a:xfrm>
          <a:prstGeom prst="ellipse">
            <a:avLst/>
          </a:prstGeom>
          <a:solidFill>
            <a:srgbClr val="22D3EE">
              <a:alpha val="15000"/>
            </a:srgbClr>
          </a:solidFill>
          <a:ln/>
        </p:spPr>
      </p:sp>
      <p:sp>
        <p:nvSpPr>
          <p:cNvPr id="47" name="Shape 45"/>
          <p:cNvSpPr/>
          <p:nvPr/>
        </p:nvSpPr>
        <p:spPr>
          <a:xfrm>
            <a:off x="457200" y="2788920"/>
            <a:ext cx="18288" cy="18288"/>
          </a:xfrm>
          <a:prstGeom prst="ellipse">
            <a:avLst/>
          </a:prstGeom>
          <a:solidFill>
            <a:srgbClr val="22D3EE">
              <a:alpha val="15000"/>
            </a:srgbClr>
          </a:solidFill>
          <a:ln/>
        </p:spPr>
      </p:sp>
      <p:sp>
        <p:nvSpPr>
          <p:cNvPr id="48" name="Shape 46"/>
          <p:cNvSpPr/>
          <p:nvPr/>
        </p:nvSpPr>
        <p:spPr>
          <a:xfrm>
            <a:off x="1234440" y="2788920"/>
            <a:ext cx="18288" cy="18288"/>
          </a:xfrm>
          <a:prstGeom prst="ellipse">
            <a:avLst/>
          </a:prstGeom>
          <a:solidFill>
            <a:srgbClr val="22D3EE">
              <a:alpha val="15000"/>
            </a:srgbClr>
          </a:solidFill>
          <a:ln/>
        </p:spPr>
      </p:sp>
      <p:sp>
        <p:nvSpPr>
          <p:cNvPr id="49" name="Shape 47"/>
          <p:cNvSpPr/>
          <p:nvPr/>
        </p:nvSpPr>
        <p:spPr>
          <a:xfrm>
            <a:off x="2011680" y="2788920"/>
            <a:ext cx="18288" cy="18288"/>
          </a:xfrm>
          <a:prstGeom prst="ellipse">
            <a:avLst/>
          </a:prstGeom>
          <a:solidFill>
            <a:srgbClr val="22D3EE">
              <a:alpha val="15000"/>
            </a:srgbClr>
          </a:solidFill>
          <a:ln/>
        </p:spPr>
      </p:sp>
      <p:sp>
        <p:nvSpPr>
          <p:cNvPr id="50" name="Shape 48"/>
          <p:cNvSpPr/>
          <p:nvPr/>
        </p:nvSpPr>
        <p:spPr>
          <a:xfrm>
            <a:off x="2788920" y="2788920"/>
            <a:ext cx="18288" cy="18288"/>
          </a:xfrm>
          <a:prstGeom prst="ellipse">
            <a:avLst/>
          </a:prstGeom>
          <a:solidFill>
            <a:srgbClr val="22D3EE">
              <a:alpha val="15000"/>
            </a:srgbClr>
          </a:solidFill>
          <a:ln/>
        </p:spPr>
      </p:sp>
      <p:sp>
        <p:nvSpPr>
          <p:cNvPr id="51" name="Shape 49"/>
          <p:cNvSpPr/>
          <p:nvPr/>
        </p:nvSpPr>
        <p:spPr>
          <a:xfrm>
            <a:off x="3566160" y="2788920"/>
            <a:ext cx="18288" cy="18288"/>
          </a:xfrm>
          <a:prstGeom prst="ellipse">
            <a:avLst/>
          </a:prstGeom>
          <a:solidFill>
            <a:srgbClr val="22D3EE">
              <a:alpha val="15000"/>
            </a:srgbClr>
          </a:solidFill>
          <a:ln/>
        </p:spPr>
      </p:sp>
      <p:sp>
        <p:nvSpPr>
          <p:cNvPr id="52" name="Shape 50"/>
          <p:cNvSpPr/>
          <p:nvPr/>
        </p:nvSpPr>
        <p:spPr>
          <a:xfrm>
            <a:off x="4343400" y="2788920"/>
            <a:ext cx="18288" cy="18288"/>
          </a:xfrm>
          <a:prstGeom prst="ellipse">
            <a:avLst/>
          </a:prstGeom>
          <a:solidFill>
            <a:srgbClr val="22D3EE">
              <a:alpha val="15000"/>
            </a:srgbClr>
          </a:solidFill>
          <a:ln/>
        </p:spPr>
      </p:sp>
      <p:sp>
        <p:nvSpPr>
          <p:cNvPr id="53" name="Shape 51"/>
          <p:cNvSpPr/>
          <p:nvPr/>
        </p:nvSpPr>
        <p:spPr>
          <a:xfrm>
            <a:off x="5120640" y="2788920"/>
            <a:ext cx="18288" cy="18288"/>
          </a:xfrm>
          <a:prstGeom prst="ellipse">
            <a:avLst/>
          </a:prstGeom>
          <a:solidFill>
            <a:srgbClr val="22D3EE">
              <a:alpha val="15000"/>
            </a:srgbClr>
          </a:solidFill>
          <a:ln/>
        </p:spPr>
      </p:sp>
      <p:sp>
        <p:nvSpPr>
          <p:cNvPr id="54" name="Shape 52"/>
          <p:cNvSpPr/>
          <p:nvPr/>
        </p:nvSpPr>
        <p:spPr>
          <a:xfrm>
            <a:off x="5897880" y="2788920"/>
            <a:ext cx="18288" cy="18288"/>
          </a:xfrm>
          <a:prstGeom prst="ellipse">
            <a:avLst/>
          </a:prstGeom>
          <a:solidFill>
            <a:srgbClr val="22D3EE">
              <a:alpha val="15000"/>
            </a:srgbClr>
          </a:solidFill>
          <a:ln/>
        </p:spPr>
      </p:sp>
      <p:sp>
        <p:nvSpPr>
          <p:cNvPr id="55" name="Shape 53"/>
          <p:cNvSpPr/>
          <p:nvPr/>
        </p:nvSpPr>
        <p:spPr>
          <a:xfrm>
            <a:off x="6675120" y="2788920"/>
            <a:ext cx="18288" cy="18288"/>
          </a:xfrm>
          <a:prstGeom prst="ellipse">
            <a:avLst/>
          </a:prstGeom>
          <a:solidFill>
            <a:srgbClr val="22D3EE">
              <a:alpha val="15000"/>
            </a:srgbClr>
          </a:solidFill>
          <a:ln/>
        </p:spPr>
      </p:sp>
      <p:sp>
        <p:nvSpPr>
          <p:cNvPr id="56" name="Shape 54"/>
          <p:cNvSpPr/>
          <p:nvPr/>
        </p:nvSpPr>
        <p:spPr>
          <a:xfrm>
            <a:off x="7452360" y="2788920"/>
            <a:ext cx="18288" cy="18288"/>
          </a:xfrm>
          <a:prstGeom prst="ellipse">
            <a:avLst/>
          </a:prstGeom>
          <a:solidFill>
            <a:srgbClr val="22D3EE">
              <a:alpha val="15000"/>
            </a:srgbClr>
          </a:solidFill>
          <a:ln/>
        </p:spPr>
      </p:sp>
      <p:sp>
        <p:nvSpPr>
          <p:cNvPr id="58" name="Shape 56"/>
          <p:cNvSpPr/>
          <p:nvPr/>
        </p:nvSpPr>
        <p:spPr>
          <a:xfrm>
            <a:off x="9006840" y="2788920"/>
            <a:ext cx="18288" cy="18288"/>
          </a:xfrm>
          <a:prstGeom prst="ellipse">
            <a:avLst/>
          </a:prstGeom>
          <a:solidFill>
            <a:srgbClr val="22D3EE">
              <a:alpha val="15000"/>
            </a:srgbClr>
          </a:solidFill>
          <a:ln/>
        </p:spPr>
      </p:sp>
      <p:sp>
        <p:nvSpPr>
          <p:cNvPr id="59" name="Shape 57"/>
          <p:cNvSpPr/>
          <p:nvPr/>
        </p:nvSpPr>
        <p:spPr>
          <a:xfrm>
            <a:off x="9784080" y="2788920"/>
            <a:ext cx="18288" cy="18288"/>
          </a:xfrm>
          <a:prstGeom prst="ellipse">
            <a:avLst/>
          </a:prstGeom>
          <a:solidFill>
            <a:srgbClr val="22D3EE">
              <a:alpha val="15000"/>
            </a:srgbClr>
          </a:solidFill>
          <a:ln/>
        </p:spPr>
      </p:sp>
      <p:sp>
        <p:nvSpPr>
          <p:cNvPr id="60" name="Shape 58"/>
          <p:cNvSpPr/>
          <p:nvPr/>
        </p:nvSpPr>
        <p:spPr>
          <a:xfrm>
            <a:off x="10561320" y="2788920"/>
            <a:ext cx="18288" cy="18288"/>
          </a:xfrm>
          <a:prstGeom prst="ellipse">
            <a:avLst/>
          </a:prstGeom>
          <a:solidFill>
            <a:srgbClr val="22D3EE">
              <a:alpha val="15000"/>
            </a:srgbClr>
          </a:solidFill>
          <a:ln/>
        </p:spPr>
      </p:sp>
      <p:sp>
        <p:nvSpPr>
          <p:cNvPr id="61" name="Shape 59"/>
          <p:cNvSpPr/>
          <p:nvPr/>
        </p:nvSpPr>
        <p:spPr>
          <a:xfrm>
            <a:off x="11338560" y="2788920"/>
            <a:ext cx="18288" cy="18288"/>
          </a:xfrm>
          <a:prstGeom prst="ellipse">
            <a:avLst/>
          </a:prstGeom>
          <a:solidFill>
            <a:srgbClr val="22D3EE">
              <a:alpha val="15000"/>
            </a:srgbClr>
          </a:solidFill>
          <a:ln/>
        </p:spPr>
      </p:sp>
      <p:sp>
        <p:nvSpPr>
          <p:cNvPr id="62" name="Shape 60"/>
          <p:cNvSpPr/>
          <p:nvPr/>
        </p:nvSpPr>
        <p:spPr>
          <a:xfrm>
            <a:off x="457200" y="3566160"/>
            <a:ext cx="18288" cy="18288"/>
          </a:xfrm>
          <a:prstGeom prst="ellipse">
            <a:avLst/>
          </a:prstGeom>
          <a:solidFill>
            <a:srgbClr val="22D3EE">
              <a:alpha val="15000"/>
            </a:srgbClr>
          </a:solidFill>
          <a:ln/>
        </p:spPr>
      </p:sp>
      <p:sp>
        <p:nvSpPr>
          <p:cNvPr id="63" name="Shape 61"/>
          <p:cNvSpPr/>
          <p:nvPr/>
        </p:nvSpPr>
        <p:spPr>
          <a:xfrm>
            <a:off x="1234440" y="3566160"/>
            <a:ext cx="18288" cy="18288"/>
          </a:xfrm>
          <a:prstGeom prst="ellipse">
            <a:avLst/>
          </a:prstGeom>
          <a:solidFill>
            <a:srgbClr val="22D3EE">
              <a:alpha val="15000"/>
            </a:srgbClr>
          </a:solidFill>
          <a:ln/>
        </p:spPr>
      </p:sp>
      <p:sp>
        <p:nvSpPr>
          <p:cNvPr id="64" name="Shape 62"/>
          <p:cNvSpPr/>
          <p:nvPr/>
        </p:nvSpPr>
        <p:spPr>
          <a:xfrm>
            <a:off x="2011680" y="3566160"/>
            <a:ext cx="18288" cy="18288"/>
          </a:xfrm>
          <a:prstGeom prst="ellipse">
            <a:avLst/>
          </a:prstGeom>
          <a:solidFill>
            <a:srgbClr val="22D3EE">
              <a:alpha val="15000"/>
            </a:srgbClr>
          </a:solidFill>
          <a:ln/>
        </p:spPr>
      </p:sp>
      <p:sp>
        <p:nvSpPr>
          <p:cNvPr id="65" name="Shape 63"/>
          <p:cNvSpPr/>
          <p:nvPr/>
        </p:nvSpPr>
        <p:spPr>
          <a:xfrm>
            <a:off x="2788920" y="3566160"/>
            <a:ext cx="18288" cy="18288"/>
          </a:xfrm>
          <a:prstGeom prst="ellipse">
            <a:avLst/>
          </a:prstGeom>
          <a:solidFill>
            <a:srgbClr val="22D3EE">
              <a:alpha val="15000"/>
            </a:srgbClr>
          </a:solidFill>
          <a:ln/>
        </p:spPr>
      </p:sp>
      <p:sp>
        <p:nvSpPr>
          <p:cNvPr id="66" name="Shape 64"/>
          <p:cNvSpPr/>
          <p:nvPr/>
        </p:nvSpPr>
        <p:spPr>
          <a:xfrm>
            <a:off x="3566160" y="3566160"/>
            <a:ext cx="18288" cy="18288"/>
          </a:xfrm>
          <a:prstGeom prst="ellipse">
            <a:avLst/>
          </a:prstGeom>
          <a:solidFill>
            <a:srgbClr val="22D3EE">
              <a:alpha val="15000"/>
            </a:srgbClr>
          </a:solidFill>
          <a:ln/>
        </p:spPr>
      </p:sp>
      <p:sp>
        <p:nvSpPr>
          <p:cNvPr id="67" name="Shape 65"/>
          <p:cNvSpPr/>
          <p:nvPr/>
        </p:nvSpPr>
        <p:spPr>
          <a:xfrm>
            <a:off x="4343400" y="3566160"/>
            <a:ext cx="18288" cy="18288"/>
          </a:xfrm>
          <a:prstGeom prst="ellipse">
            <a:avLst/>
          </a:prstGeom>
          <a:solidFill>
            <a:srgbClr val="22D3EE">
              <a:alpha val="15000"/>
            </a:srgbClr>
          </a:solidFill>
          <a:ln/>
        </p:spPr>
      </p:sp>
      <p:sp>
        <p:nvSpPr>
          <p:cNvPr id="68" name="Shape 66"/>
          <p:cNvSpPr/>
          <p:nvPr/>
        </p:nvSpPr>
        <p:spPr>
          <a:xfrm>
            <a:off x="5120640" y="3566160"/>
            <a:ext cx="18288" cy="18288"/>
          </a:xfrm>
          <a:prstGeom prst="ellipse">
            <a:avLst/>
          </a:prstGeom>
          <a:solidFill>
            <a:srgbClr val="22D3EE">
              <a:alpha val="15000"/>
            </a:srgbClr>
          </a:solidFill>
          <a:ln/>
        </p:spPr>
      </p:sp>
      <p:sp>
        <p:nvSpPr>
          <p:cNvPr id="70" name="Shape 68"/>
          <p:cNvSpPr/>
          <p:nvPr/>
        </p:nvSpPr>
        <p:spPr>
          <a:xfrm>
            <a:off x="6675120" y="3566160"/>
            <a:ext cx="18288" cy="18288"/>
          </a:xfrm>
          <a:prstGeom prst="ellipse">
            <a:avLst/>
          </a:prstGeom>
          <a:solidFill>
            <a:srgbClr val="22D3EE">
              <a:alpha val="15000"/>
            </a:srgbClr>
          </a:solidFill>
          <a:ln/>
        </p:spPr>
      </p:sp>
      <p:sp>
        <p:nvSpPr>
          <p:cNvPr id="71" name="Shape 69"/>
          <p:cNvSpPr/>
          <p:nvPr/>
        </p:nvSpPr>
        <p:spPr>
          <a:xfrm>
            <a:off x="7452360" y="3566160"/>
            <a:ext cx="18288" cy="18288"/>
          </a:xfrm>
          <a:prstGeom prst="ellipse">
            <a:avLst/>
          </a:prstGeom>
          <a:solidFill>
            <a:srgbClr val="22D3EE">
              <a:alpha val="15000"/>
            </a:srgbClr>
          </a:solidFill>
          <a:ln/>
        </p:spPr>
      </p:sp>
      <p:sp>
        <p:nvSpPr>
          <p:cNvPr id="72" name="Shape 70"/>
          <p:cNvSpPr/>
          <p:nvPr/>
        </p:nvSpPr>
        <p:spPr>
          <a:xfrm>
            <a:off x="8229600" y="3566160"/>
            <a:ext cx="18288" cy="18288"/>
          </a:xfrm>
          <a:prstGeom prst="ellipse">
            <a:avLst/>
          </a:prstGeom>
          <a:solidFill>
            <a:srgbClr val="22D3EE">
              <a:alpha val="15000"/>
            </a:srgbClr>
          </a:solidFill>
          <a:ln/>
        </p:spPr>
      </p:sp>
      <p:sp>
        <p:nvSpPr>
          <p:cNvPr id="73" name="Shape 71"/>
          <p:cNvSpPr/>
          <p:nvPr/>
        </p:nvSpPr>
        <p:spPr>
          <a:xfrm>
            <a:off x="9006840" y="3566160"/>
            <a:ext cx="18288" cy="18288"/>
          </a:xfrm>
          <a:prstGeom prst="ellipse">
            <a:avLst/>
          </a:prstGeom>
          <a:solidFill>
            <a:srgbClr val="22D3EE">
              <a:alpha val="15000"/>
            </a:srgbClr>
          </a:solidFill>
          <a:ln/>
        </p:spPr>
      </p:sp>
      <p:sp>
        <p:nvSpPr>
          <p:cNvPr id="74" name="Shape 72"/>
          <p:cNvSpPr/>
          <p:nvPr/>
        </p:nvSpPr>
        <p:spPr>
          <a:xfrm>
            <a:off x="9784080" y="3566160"/>
            <a:ext cx="18288" cy="18288"/>
          </a:xfrm>
          <a:prstGeom prst="ellipse">
            <a:avLst/>
          </a:prstGeom>
          <a:solidFill>
            <a:srgbClr val="22D3EE">
              <a:alpha val="15000"/>
            </a:srgbClr>
          </a:solidFill>
          <a:ln/>
        </p:spPr>
      </p:sp>
      <p:sp>
        <p:nvSpPr>
          <p:cNvPr id="75" name="Shape 73"/>
          <p:cNvSpPr/>
          <p:nvPr/>
        </p:nvSpPr>
        <p:spPr>
          <a:xfrm>
            <a:off x="10561320" y="3566160"/>
            <a:ext cx="18288" cy="18288"/>
          </a:xfrm>
          <a:prstGeom prst="ellipse">
            <a:avLst/>
          </a:prstGeom>
          <a:solidFill>
            <a:srgbClr val="22D3EE">
              <a:alpha val="15000"/>
            </a:srgbClr>
          </a:solidFill>
          <a:ln/>
        </p:spPr>
      </p:sp>
      <p:sp>
        <p:nvSpPr>
          <p:cNvPr id="76" name="Shape 74"/>
          <p:cNvSpPr/>
          <p:nvPr/>
        </p:nvSpPr>
        <p:spPr>
          <a:xfrm>
            <a:off x="11338560" y="3566160"/>
            <a:ext cx="18288" cy="18288"/>
          </a:xfrm>
          <a:prstGeom prst="ellipse">
            <a:avLst/>
          </a:prstGeom>
          <a:solidFill>
            <a:srgbClr val="22D3EE">
              <a:alpha val="15000"/>
            </a:srgbClr>
          </a:solidFill>
          <a:ln/>
        </p:spPr>
      </p:sp>
      <p:sp>
        <p:nvSpPr>
          <p:cNvPr id="77" name="Shape 75"/>
          <p:cNvSpPr/>
          <p:nvPr/>
        </p:nvSpPr>
        <p:spPr>
          <a:xfrm>
            <a:off x="457200" y="4343400"/>
            <a:ext cx="18288" cy="18288"/>
          </a:xfrm>
          <a:prstGeom prst="ellipse">
            <a:avLst/>
          </a:prstGeom>
          <a:solidFill>
            <a:srgbClr val="22D3EE">
              <a:alpha val="15000"/>
            </a:srgbClr>
          </a:solidFill>
          <a:ln/>
        </p:spPr>
      </p:sp>
      <p:sp>
        <p:nvSpPr>
          <p:cNvPr id="78" name="Shape 76"/>
          <p:cNvSpPr/>
          <p:nvPr/>
        </p:nvSpPr>
        <p:spPr>
          <a:xfrm>
            <a:off x="1234440" y="4343400"/>
            <a:ext cx="18288" cy="18288"/>
          </a:xfrm>
          <a:prstGeom prst="ellipse">
            <a:avLst/>
          </a:prstGeom>
          <a:solidFill>
            <a:srgbClr val="22D3EE">
              <a:alpha val="15000"/>
            </a:srgbClr>
          </a:solidFill>
          <a:ln/>
        </p:spPr>
      </p:sp>
      <p:sp>
        <p:nvSpPr>
          <p:cNvPr id="79" name="Shape 77"/>
          <p:cNvSpPr/>
          <p:nvPr/>
        </p:nvSpPr>
        <p:spPr>
          <a:xfrm>
            <a:off x="2011680" y="4343400"/>
            <a:ext cx="18288" cy="18288"/>
          </a:xfrm>
          <a:prstGeom prst="ellipse">
            <a:avLst/>
          </a:prstGeom>
          <a:solidFill>
            <a:srgbClr val="22D3EE">
              <a:alpha val="15000"/>
            </a:srgbClr>
          </a:solidFill>
          <a:ln/>
        </p:spPr>
      </p:sp>
      <p:sp>
        <p:nvSpPr>
          <p:cNvPr id="80" name="Shape 78"/>
          <p:cNvSpPr/>
          <p:nvPr/>
        </p:nvSpPr>
        <p:spPr>
          <a:xfrm>
            <a:off x="2788920" y="4343400"/>
            <a:ext cx="18288" cy="18288"/>
          </a:xfrm>
          <a:prstGeom prst="ellipse">
            <a:avLst/>
          </a:prstGeom>
          <a:solidFill>
            <a:srgbClr val="22D3EE">
              <a:alpha val="15000"/>
            </a:srgbClr>
          </a:solidFill>
          <a:ln/>
        </p:spPr>
      </p:sp>
      <p:sp>
        <p:nvSpPr>
          <p:cNvPr id="81" name="Shape 79"/>
          <p:cNvSpPr/>
          <p:nvPr/>
        </p:nvSpPr>
        <p:spPr>
          <a:xfrm>
            <a:off x="3566160" y="4343400"/>
            <a:ext cx="18288" cy="18288"/>
          </a:xfrm>
          <a:prstGeom prst="ellipse">
            <a:avLst/>
          </a:prstGeom>
          <a:solidFill>
            <a:srgbClr val="22D3EE">
              <a:alpha val="15000"/>
            </a:srgbClr>
          </a:solidFill>
          <a:ln/>
        </p:spPr>
      </p:sp>
      <p:sp>
        <p:nvSpPr>
          <p:cNvPr id="82" name="Shape 80"/>
          <p:cNvSpPr/>
          <p:nvPr/>
        </p:nvSpPr>
        <p:spPr>
          <a:xfrm>
            <a:off x="4343400" y="4343400"/>
            <a:ext cx="18288" cy="18288"/>
          </a:xfrm>
          <a:prstGeom prst="ellipse">
            <a:avLst/>
          </a:prstGeom>
          <a:solidFill>
            <a:srgbClr val="22D3EE">
              <a:alpha val="15000"/>
            </a:srgbClr>
          </a:solidFill>
          <a:ln/>
        </p:spPr>
      </p:sp>
      <p:sp>
        <p:nvSpPr>
          <p:cNvPr id="83" name="Shape 81"/>
          <p:cNvSpPr/>
          <p:nvPr/>
        </p:nvSpPr>
        <p:spPr>
          <a:xfrm>
            <a:off x="5120640" y="4343400"/>
            <a:ext cx="18288" cy="18288"/>
          </a:xfrm>
          <a:prstGeom prst="ellipse">
            <a:avLst/>
          </a:prstGeom>
          <a:solidFill>
            <a:srgbClr val="22D3EE">
              <a:alpha val="15000"/>
            </a:srgbClr>
          </a:solidFill>
          <a:ln/>
        </p:spPr>
      </p:sp>
      <p:sp>
        <p:nvSpPr>
          <p:cNvPr id="84" name="Shape 82"/>
          <p:cNvSpPr/>
          <p:nvPr/>
        </p:nvSpPr>
        <p:spPr>
          <a:xfrm>
            <a:off x="5897880" y="4343400"/>
            <a:ext cx="18288" cy="18288"/>
          </a:xfrm>
          <a:prstGeom prst="ellipse">
            <a:avLst/>
          </a:prstGeom>
          <a:solidFill>
            <a:srgbClr val="22D3EE">
              <a:alpha val="15000"/>
            </a:srgbClr>
          </a:solidFill>
          <a:ln/>
        </p:spPr>
      </p:sp>
      <p:sp>
        <p:nvSpPr>
          <p:cNvPr id="85" name="Shape 83"/>
          <p:cNvSpPr/>
          <p:nvPr/>
        </p:nvSpPr>
        <p:spPr>
          <a:xfrm>
            <a:off x="6675120" y="4343400"/>
            <a:ext cx="18288" cy="18288"/>
          </a:xfrm>
          <a:prstGeom prst="ellipse">
            <a:avLst/>
          </a:prstGeom>
          <a:solidFill>
            <a:srgbClr val="22D3EE">
              <a:alpha val="15000"/>
            </a:srgbClr>
          </a:solidFill>
          <a:ln/>
        </p:spPr>
      </p:sp>
      <p:sp>
        <p:nvSpPr>
          <p:cNvPr id="86" name="Shape 84"/>
          <p:cNvSpPr/>
          <p:nvPr/>
        </p:nvSpPr>
        <p:spPr>
          <a:xfrm>
            <a:off x="7452360" y="4343400"/>
            <a:ext cx="18288" cy="18288"/>
          </a:xfrm>
          <a:prstGeom prst="ellipse">
            <a:avLst/>
          </a:prstGeom>
          <a:solidFill>
            <a:srgbClr val="22D3EE">
              <a:alpha val="15000"/>
            </a:srgbClr>
          </a:solidFill>
          <a:ln/>
        </p:spPr>
      </p:sp>
      <p:sp>
        <p:nvSpPr>
          <p:cNvPr id="87" name="Shape 85"/>
          <p:cNvSpPr/>
          <p:nvPr/>
        </p:nvSpPr>
        <p:spPr>
          <a:xfrm>
            <a:off x="8229600" y="4343400"/>
            <a:ext cx="18288" cy="18288"/>
          </a:xfrm>
          <a:prstGeom prst="ellipse">
            <a:avLst/>
          </a:prstGeom>
          <a:solidFill>
            <a:srgbClr val="22D3EE">
              <a:alpha val="15000"/>
            </a:srgbClr>
          </a:solidFill>
          <a:ln/>
        </p:spPr>
      </p:sp>
      <p:sp>
        <p:nvSpPr>
          <p:cNvPr id="88" name="Shape 86"/>
          <p:cNvSpPr/>
          <p:nvPr/>
        </p:nvSpPr>
        <p:spPr>
          <a:xfrm>
            <a:off x="9006840" y="4343400"/>
            <a:ext cx="18288" cy="18288"/>
          </a:xfrm>
          <a:prstGeom prst="ellipse">
            <a:avLst/>
          </a:prstGeom>
          <a:solidFill>
            <a:srgbClr val="22D3EE">
              <a:alpha val="15000"/>
            </a:srgbClr>
          </a:solidFill>
          <a:ln/>
        </p:spPr>
      </p:sp>
      <p:sp>
        <p:nvSpPr>
          <p:cNvPr id="89" name="Shape 87"/>
          <p:cNvSpPr/>
          <p:nvPr/>
        </p:nvSpPr>
        <p:spPr>
          <a:xfrm>
            <a:off x="9784080" y="4343400"/>
            <a:ext cx="18288" cy="18288"/>
          </a:xfrm>
          <a:prstGeom prst="ellipse">
            <a:avLst/>
          </a:prstGeom>
          <a:solidFill>
            <a:srgbClr val="22D3EE">
              <a:alpha val="15000"/>
            </a:srgbClr>
          </a:solidFill>
          <a:ln/>
        </p:spPr>
      </p:sp>
      <p:sp>
        <p:nvSpPr>
          <p:cNvPr id="90" name="Shape 88"/>
          <p:cNvSpPr/>
          <p:nvPr/>
        </p:nvSpPr>
        <p:spPr>
          <a:xfrm>
            <a:off x="10561320" y="4343400"/>
            <a:ext cx="18288" cy="18288"/>
          </a:xfrm>
          <a:prstGeom prst="ellipse">
            <a:avLst/>
          </a:prstGeom>
          <a:solidFill>
            <a:srgbClr val="22D3EE">
              <a:alpha val="15000"/>
            </a:srgbClr>
          </a:solidFill>
          <a:ln/>
        </p:spPr>
      </p:sp>
      <p:sp>
        <p:nvSpPr>
          <p:cNvPr id="91" name="Shape 89"/>
          <p:cNvSpPr/>
          <p:nvPr/>
        </p:nvSpPr>
        <p:spPr>
          <a:xfrm>
            <a:off x="11338560" y="4343400"/>
            <a:ext cx="18288" cy="18288"/>
          </a:xfrm>
          <a:prstGeom prst="ellipse">
            <a:avLst/>
          </a:prstGeom>
          <a:solidFill>
            <a:srgbClr val="22D3EE">
              <a:alpha val="15000"/>
            </a:srgbClr>
          </a:solidFill>
          <a:ln/>
        </p:spPr>
      </p:sp>
      <p:sp>
        <p:nvSpPr>
          <p:cNvPr id="92" name="Shape 90"/>
          <p:cNvSpPr/>
          <p:nvPr/>
        </p:nvSpPr>
        <p:spPr>
          <a:xfrm>
            <a:off x="457200" y="5120640"/>
            <a:ext cx="18288" cy="18288"/>
          </a:xfrm>
          <a:prstGeom prst="ellipse">
            <a:avLst/>
          </a:prstGeom>
          <a:solidFill>
            <a:srgbClr val="22D3EE">
              <a:alpha val="15000"/>
            </a:srgbClr>
          </a:solidFill>
          <a:ln/>
        </p:spPr>
      </p:sp>
      <p:sp>
        <p:nvSpPr>
          <p:cNvPr id="93" name="Shape 91"/>
          <p:cNvSpPr/>
          <p:nvPr/>
        </p:nvSpPr>
        <p:spPr>
          <a:xfrm>
            <a:off x="1234440" y="5120640"/>
            <a:ext cx="18288" cy="18288"/>
          </a:xfrm>
          <a:prstGeom prst="ellipse">
            <a:avLst/>
          </a:prstGeom>
          <a:solidFill>
            <a:srgbClr val="22D3EE">
              <a:alpha val="15000"/>
            </a:srgbClr>
          </a:solidFill>
          <a:ln/>
        </p:spPr>
      </p:sp>
      <p:sp>
        <p:nvSpPr>
          <p:cNvPr id="94" name="Shape 92"/>
          <p:cNvSpPr/>
          <p:nvPr/>
        </p:nvSpPr>
        <p:spPr>
          <a:xfrm>
            <a:off x="2011680" y="5120640"/>
            <a:ext cx="18288" cy="18288"/>
          </a:xfrm>
          <a:prstGeom prst="ellipse">
            <a:avLst/>
          </a:prstGeom>
          <a:solidFill>
            <a:srgbClr val="22D3EE">
              <a:alpha val="15000"/>
            </a:srgbClr>
          </a:solidFill>
          <a:ln/>
        </p:spPr>
      </p:sp>
      <p:sp>
        <p:nvSpPr>
          <p:cNvPr id="95" name="Shape 93"/>
          <p:cNvSpPr/>
          <p:nvPr/>
        </p:nvSpPr>
        <p:spPr>
          <a:xfrm>
            <a:off x="2788920" y="5120640"/>
            <a:ext cx="18288" cy="18288"/>
          </a:xfrm>
          <a:prstGeom prst="ellipse">
            <a:avLst/>
          </a:prstGeom>
          <a:solidFill>
            <a:srgbClr val="22D3EE">
              <a:alpha val="15000"/>
            </a:srgbClr>
          </a:solidFill>
          <a:ln/>
        </p:spPr>
      </p:sp>
      <p:sp>
        <p:nvSpPr>
          <p:cNvPr id="96" name="Shape 94"/>
          <p:cNvSpPr/>
          <p:nvPr/>
        </p:nvSpPr>
        <p:spPr>
          <a:xfrm>
            <a:off x="3566160" y="5120640"/>
            <a:ext cx="18288" cy="18288"/>
          </a:xfrm>
          <a:prstGeom prst="ellipse">
            <a:avLst/>
          </a:prstGeom>
          <a:solidFill>
            <a:srgbClr val="22D3EE">
              <a:alpha val="15000"/>
            </a:srgbClr>
          </a:solidFill>
          <a:ln/>
        </p:spPr>
      </p:sp>
      <p:sp>
        <p:nvSpPr>
          <p:cNvPr id="97" name="Shape 95"/>
          <p:cNvSpPr/>
          <p:nvPr/>
        </p:nvSpPr>
        <p:spPr>
          <a:xfrm>
            <a:off x="4343400" y="5120640"/>
            <a:ext cx="18288" cy="18288"/>
          </a:xfrm>
          <a:prstGeom prst="ellipse">
            <a:avLst/>
          </a:prstGeom>
          <a:solidFill>
            <a:srgbClr val="22D3EE">
              <a:alpha val="15000"/>
            </a:srgbClr>
          </a:solidFill>
          <a:ln/>
        </p:spPr>
      </p:sp>
      <p:sp>
        <p:nvSpPr>
          <p:cNvPr id="98" name="Shape 96"/>
          <p:cNvSpPr/>
          <p:nvPr/>
        </p:nvSpPr>
        <p:spPr>
          <a:xfrm>
            <a:off x="5120640" y="5120640"/>
            <a:ext cx="18288" cy="18288"/>
          </a:xfrm>
          <a:prstGeom prst="ellipse">
            <a:avLst/>
          </a:prstGeom>
          <a:solidFill>
            <a:srgbClr val="22D3EE">
              <a:alpha val="15000"/>
            </a:srgbClr>
          </a:solidFill>
          <a:ln/>
        </p:spPr>
      </p:sp>
      <p:sp>
        <p:nvSpPr>
          <p:cNvPr id="99" name="Shape 97"/>
          <p:cNvSpPr/>
          <p:nvPr/>
        </p:nvSpPr>
        <p:spPr>
          <a:xfrm>
            <a:off x="5897880" y="5120640"/>
            <a:ext cx="18288" cy="18288"/>
          </a:xfrm>
          <a:prstGeom prst="ellipse">
            <a:avLst/>
          </a:prstGeom>
          <a:solidFill>
            <a:srgbClr val="22D3EE">
              <a:alpha val="15000"/>
            </a:srgbClr>
          </a:solidFill>
          <a:ln/>
        </p:spPr>
      </p:sp>
      <p:sp>
        <p:nvSpPr>
          <p:cNvPr id="100" name="Shape 98"/>
          <p:cNvSpPr/>
          <p:nvPr/>
        </p:nvSpPr>
        <p:spPr>
          <a:xfrm>
            <a:off x="6675120" y="5120640"/>
            <a:ext cx="18288" cy="18288"/>
          </a:xfrm>
          <a:prstGeom prst="ellipse">
            <a:avLst/>
          </a:prstGeom>
          <a:solidFill>
            <a:srgbClr val="22D3EE">
              <a:alpha val="15000"/>
            </a:srgbClr>
          </a:solidFill>
          <a:ln/>
        </p:spPr>
      </p:sp>
      <p:sp>
        <p:nvSpPr>
          <p:cNvPr id="101" name="Shape 99"/>
          <p:cNvSpPr/>
          <p:nvPr/>
        </p:nvSpPr>
        <p:spPr>
          <a:xfrm>
            <a:off x="7452360" y="5120640"/>
            <a:ext cx="18288" cy="18288"/>
          </a:xfrm>
          <a:prstGeom prst="ellipse">
            <a:avLst/>
          </a:prstGeom>
          <a:solidFill>
            <a:srgbClr val="22D3EE">
              <a:alpha val="15000"/>
            </a:srgbClr>
          </a:solidFill>
          <a:ln/>
        </p:spPr>
      </p:sp>
      <p:sp>
        <p:nvSpPr>
          <p:cNvPr id="102" name="Shape 100"/>
          <p:cNvSpPr/>
          <p:nvPr/>
        </p:nvSpPr>
        <p:spPr>
          <a:xfrm>
            <a:off x="8229600" y="5120640"/>
            <a:ext cx="18288" cy="18288"/>
          </a:xfrm>
          <a:prstGeom prst="ellipse">
            <a:avLst/>
          </a:prstGeom>
          <a:solidFill>
            <a:srgbClr val="22D3EE">
              <a:alpha val="15000"/>
            </a:srgbClr>
          </a:solidFill>
          <a:ln/>
        </p:spPr>
      </p:sp>
      <p:sp>
        <p:nvSpPr>
          <p:cNvPr id="103" name="Shape 101"/>
          <p:cNvSpPr/>
          <p:nvPr/>
        </p:nvSpPr>
        <p:spPr>
          <a:xfrm>
            <a:off x="9006840" y="5120640"/>
            <a:ext cx="18288" cy="18288"/>
          </a:xfrm>
          <a:prstGeom prst="ellipse">
            <a:avLst/>
          </a:prstGeom>
          <a:solidFill>
            <a:srgbClr val="22D3EE">
              <a:alpha val="15000"/>
            </a:srgbClr>
          </a:solidFill>
          <a:ln/>
        </p:spPr>
      </p:sp>
      <p:sp>
        <p:nvSpPr>
          <p:cNvPr id="104" name="Shape 102"/>
          <p:cNvSpPr/>
          <p:nvPr/>
        </p:nvSpPr>
        <p:spPr>
          <a:xfrm>
            <a:off x="9784080" y="5120640"/>
            <a:ext cx="18288" cy="18288"/>
          </a:xfrm>
          <a:prstGeom prst="ellipse">
            <a:avLst/>
          </a:prstGeom>
          <a:solidFill>
            <a:srgbClr val="22D3EE">
              <a:alpha val="15000"/>
            </a:srgbClr>
          </a:solidFill>
          <a:ln/>
        </p:spPr>
      </p:sp>
      <p:sp>
        <p:nvSpPr>
          <p:cNvPr id="105" name="Shape 103"/>
          <p:cNvSpPr/>
          <p:nvPr/>
        </p:nvSpPr>
        <p:spPr>
          <a:xfrm>
            <a:off x="10561320" y="5120640"/>
            <a:ext cx="18288" cy="18288"/>
          </a:xfrm>
          <a:prstGeom prst="ellipse">
            <a:avLst/>
          </a:prstGeom>
          <a:solidFill>
            <a:srgbClr val="22D3EE">
              <a:alpha val="15000"/>
            </a:srgbClr>
          </a:solidFill>
          <a:ln/>
        </p:spPr>
      </p:sp>
      <p:sp>
        <p:nvSpPr>
          <p:cNvPr id="106" name="Shape 104"/>
          <p:cNvSpPr/>
          <p:nvPr/>
        </p:nvSpPr>
        <p:spPr>
          <a:xfrm>
            <a:off x="11338560" y="5120640"/>
            <a:ext cx="18288" cy="18288"/>
          </a:xfrm>
          <a:prstGeom prst="ellipse">
            <a:avLst/>
          </a:prstGeom>
          <a:solidFill>
            <a:srgbClr val="22D3EE">
              <a:alpha val="15000"/>
            </a:srgbClr>
          </a:solidFill>
          <a:ln/>
        </p:spPr>
      </p:sp>
      <p:sp>
        <p:nvSpPr>
          <p:cNvPr id="107" name="Shape 105"/>
          <p:cNvSpPr/>
          <p:nvPr/>
        </p:nvSpPr>
        <p:spPr>
          <a:xfrm>
            <a:off x="457200" y="5897880"/>
            <a:ext cx="18288" cy="18288"/>
          </a:xfrm>
          <a:prstGeom prst="ellipse">
            <a:avLst/>
          </a:prstGeom>
          <a:solidFill>
            <a:srgbClr val="22D3EE">
              <a:alpha val="15000"/>
            </a:srgbClr>
          </a:solidFill>
          <a:ln/>
        </p:spPr>
      </p:sp>
      <p:sp>
        <p:nvSpPr>
          <p:cNvPr id="108" name="Shape 106"/>
          <p:cNvSpPr/>
          <p:nvPr/>
        </p:nvSpPr>
        <p:spPr>
          <a:xfrm>
            <a:off x="1234440" y="5897880"/>
            <a:ext cx="18288" cy="18288"/>
          </a:xfrm>
          <a:prstGeom prst="ellipse">
            <a:avLst/>
          </a:prstGeom>
          <a:solidFill>
            <a:srgbClr val="22D3EE">
              <a:alpha val="15000"/>
            </a:srgbClr>
          </a:solidFill>
          <a:ln/>
        </p:spPr>
      </p:sp>
      <p:sp>
        <p:nvSpPr>
          <p:cNvPr id="109" name="Shape 107"/>
          <p:cNvSpPr/>
          <p:nvPr/>
        </p:nvSpPr>
        <p:spPr>
          <a:xfrm>
            <a:off x="2011680" y="5897880"/>
            <a:ext cx="18288" cy="18288"/>
          </a:xfrm>
          <a:prstGeom prst="ellipse">
            <a:avLst/>
          </a:prstGeom>
          <a:solidFill>
            <a:srgbClr val="22D3EE">
              <a:alpha val="15000"/>
            </a:srgbClr>
          </a:solidFill>
          <a:ln/>
        </p:spPr>
      </p:sp>
      <p:sp>
        <p:nvSpPr>
          <p:cNvPr id="110" name="Shape 108"/>
          <p:cNvSpPr/>
          <p:nvPr/>
        </p:nvSpPr>
        <p:spPr>
          <a:xfrm>
            <a:off x="2788920" y="5897880"/>
            <a:ext cx="18288" cy="18288"/>
          </a:xfrm>
          <a:prstGeom prst="ellipse">
            <a:avLst/>
          </a:prstGeom>
          <a:solidFill>
            <a:srgbClr val="22D3EE">
              <a:alpha val="15000"/>
            </a:srgbClr>
          </a:solidFill>
          <a:ln/>
        </p:spPr>
      </p:sp>
      <p:sp>
        <p:nvSpPr>
          <p:cNvPr id="111" name="Shape 109"/>
          <p:cNvSpPr/>
          <p:nvPr/>
        </p:nvSpPr>
        <p:spPr>
          <a:xfrm>
            <a:off x="3566160" y="5897880"/>
            <a:ext cx="18288" cy="18288"/>
          </a:xfrm>
          <a:prstGeom prst="ellipse">
            <a:avLst/>
          </a:prstGeom>
          <a:solidFill>
            <a:srgbClr val="22D3EE">
              <a:alpha val="15000"/>
            </a:srgbClr>
          </a:solidFill>
          <a:ln/>
        </p:spPr>
      </p:sp>
      <p:sp>
        <p:nvSpPr>
          <p:cNvPr id="112" name="Shape 110"/>
          <p:cNvSpPr/>
          <p:nvPr/>
        </p:nvSpPr>
        <p:spPr>
          <a:xfrm>
            <a:off x="4343400" y="5897880"/>
            <a:ext cx="18288" cy="18288"/>
          </a:xfrm>
          <a:prstGeom prst="ellipse">
            <a:avLst/>
          </a:prstGeom>
          <a:solidFill>
            <a:srgbClr val="22D3EE">
              <a:alpha val="15000"/>
            </a:srgbClr>
          </a:solidFill>
          <a:ln/>
        </p:spPr>
      </p:sp>
      <p:sp>
        <p:nvSpPr>
          <p:cNvPr id="113" name="Shape 111"/>
          <p:cNvSpPr/>
          <p:nvPr/>
        </p:nvSpPr>
        <p:spPr>
          <a:xfrm>
            <a:off x="5120640" y="5897880"/>
            <a:ext cx="18288" cy="18288"/>
          </a:xfrm>
          <a:prstGeom prst="ellipse">
            <a:avLst/>
          </a:prstGeom>
          <a:solidFill>
            <a:srgbClr val="22D3EE">
              <a:alpha val="15000"/>
            </a:srgbClr>
          </a:solidFill>
          <a:ln/>
        </p:spPr>
      </p:sp>
      <p:sp>
        <p:nvSpPr>
          <p:cNvPr id="114" name="Shape 112"/>
          <p:cNvSpPr/>
          <p:nvPr/>
        </p:nvSpPr>
        <p:spPr>
          <a:xfrm>
            <a:off x="5897880" y="5897880"/>
            <a:ext cx="18288" cy="18288"/>
          </a:xfrm>
          <a:prstGeom prst="ellipse">
            <a:avLst/>
          </a:prstGeom>
          <a:solidFill>
            <a:srgbClr val="22D3EE">
              <a:alpha val="15000"/>
            </a:srgbClr>
          </a:solidFill>
          <a:ln/>
        </p:spPr>
      </p:sp>
      <p:sp>
        <p:nvSpPr>
          <p:cNvPr id="115" name="Shape 113"/>
          <p:cNvSpPr/>
          <p:nvPr/>
        </p:nvSpPr>
        <p:spPr>
          <a:xfrm>
            <a:off x="6675120" y="5897880"/>
            <a:ext cx="18288" cy="18288"/>
          </a:xfrm>
          <a:prstGeom prst="ellipse">
            <a:avLst/>
          </a:prstGeom>
          <a:solidFill>
            <a:srgbClr val="22D3EE">
              <a:alpha val="15000"/>
            </a:srgbClr>
          </a:solidFill>
          <a:ln/>
        </p:spPr>
      </p:sp>
      <p:sp>
        <p:nvSpPr>
          <p:cNvPr id="116" name="Shape 114"/>
          <p:cNvSpPr/>
          <p:nvPr/>
        </p:nvSpPr>
        <p:spPr>
          <a:xfrm>
            <a:off x="7452360" y="5897880"/>
            <a:ext cx="18288" cy="18288"/>
          </a:xfrm>
          <a:prstGeom prst="ellipse">
            <a:avLst/>
          </a:prstGeom>
          <a:solidFill>
            <a:srgbClr val="22D3EE">
              <a:alpha val="15000"/>
            </a:srgbClr>
          </a:solidFill>
          <a:ln/>
        </p:spPr>
      </p:sp>
      <p:sp>
        <p:nvSpPr>
          <p:cNvPr id="117" name="Shape 115"/>
          <p:cNvSpPr/>
          <p:nvPr/>
        </p:nvSpPr>
        <p:spPr>
          <a:xfrm>
            <a:off x="8229600" y="5897880"/>
            <a:ext cx="18288" cy="18288"/>
          </a:xfrm>
          <a:prstGeom prst="ellipse">
            <a:avLst/>
          </a:prstGeom>
          <a:solidFill>
            <a:srgbClr val="22D3EE">
              <a:alpha val="15000"/>
            </a:srgbClr>
          </a:solidFill>
          <a:ln/>
        </p:spPr>
      </p:sp>
      <p:sp>
        <p:nvSpPr>
          <p:cNvPr id="118" name="Shape 116"/>
          <p:cNvSpPr/>
          <p:nvPr/>
        </p:nvSpPr>
        <p:spPr>
          <a:xfrm>
            <a:off x="9006840" y="5897880"/>
            <a:ext cx="18288" cy="18288"/>
          </a:xfrm>
          <a:prstGeom prst="ellipse">
            <a:avLst/>
          </a:prstGeom>
          <a:solidFill>
            <a:srgbClr val="22D3EE">
              <a:alpha val="15000"/>
            </a:srgbClr>
          </a:solidFill>
          <a:ln/>
        </p:spPr>
      </p:sp>
      <p:sp>
        <p:nvSpPr>
          <p:cNvPr id="119" name="Shape 117"/>
          <p:cNvSpPr/>
          <p:nvPr/>
        </p:nvSpPr>
        <p:spPr>
          <a:xfrm>
            <a:off x="9784080" y="5897880"/>
            <a:ext cx="18288" cy="18288"/>
          </a:xfrm>
          <a:prstGeom prst="ellipse">
            <a:avLst/>
          </a:prstGeom>
          <a:solidFill>
            <a:srgbClr val="22D3EE">
              <a:alpha val="15000"/>
            </a:srgbClr>
          </a:solidFill>
          <a:ln/>
        </p:spPr>
      </p:sp>
      <p:sp>
        <p:nvSpPr>
          <p:cNvPr id="120" name="Shape 118"/>
          <p:cNvSpPr/>
          <p:nvPr/>
        </p:nvSpPr>
        <p:spPr>
          <a:xfrm>
            <a:off x="10561320" y="5897880"/>
            <a:ext cx="18288" cy="18288"/>
          </a:xfrm>
          <a:prstGeom prst="ellipse">
            <a:avLst/>
          </a:prstGeom>
          <a:solidFill>
            <a:srgbClr val="22D3EE">
              <a:alpha val="15000"/>
            </a:srgbClr>
          </a:solidFill>
          <a:ln/>
        </p:spPr>
      </p:sp>
      <p:sp>
        <p:nvSpPr>
          <p:cNvPr id="121" name="Shape 119"/>
          <p:cNvSpPr/>
          <p:nvPr/>
        </p:nvSpPr>
        <p:spPr>
          <a:xfrm>
            <a:off x="11338560" y="5897880"/>
            <a:ext cx="18288" cy="18288"/>
          </a:xfrm>
          <a:prstGeom prst="ellipse">
            <a:avLst/>
          </a:prstGeom>
          <a:solidFill>
            <a:srgbClr val="22D3EE">
              <a:alpha val="15000"/>
            </a:srgbClr>
          </a:solidFill>
          <a:ln/>
        </p:spPr>
      </p:sp>
      <p:sp>
        <p:nvSpPr>
          <p:cNvPr id="122" name="Shape 120"/>
          <p:cNvSpPr/>
          <p:nvPr/>
        </p:nvSpPr>
        <p:spPr>
          <a:xfrm>
            <a:off x="457200" y="6675120"/>
            <a:ext cx="18288" cy="18288"/>
          </a:xfrm>
          <a:prstGeom prst="ellipse">
            <a:avLst/>
          </a:prstGeom>
          <a:solidFill>
            <a:srgbClr val="22D3EE">
              <a:alpha val="15000"/>
            </a:srgbClr>
          </a:solidFill>
          <a:ln/>
        </p:spPr>
      </p:sp>
      <p:sp>
        <p:nvSpPr>
          <p:cNvPr id="123" name="Shape 121"/>
          <p:cNvSpPr/>
          <p:nvPr/>
        </p:nvSpPr>
        <p:spPr>
          <a:xfrm>
            <a:off x="1234440" y="6675120"/>
            <a:ext cx="18288" cy="18288"/>
          </a:xfrm>
          <a:prstGeom prst="ellipse">
            <a:avLst/>
          </a:prstGeom>
          <a:solidFill>
            <a:srgbClr val="22D3EE">
              <a:alpha val="15000"/>
            </a:srgbClr>
          </a:solidFill>
          <a:ln/>
        </p:spPr>
      </p:sp>
      <p:sp>
        <p:nvSpPr>
          <p:cNvPr id="124" name="Shape 122"/>
          <p:cNvSpPr/>
          <p:nvPr/>
        </p:nvSpPr>
        <p:spPr>
          <a:xfrm>
            <a:off x="2011680" y="6675120"/>
            <a:ext cx="18288" cy="18288"/>
          </a:xfrm>
          <a:prstGeom prst="ellipse">
            <a:avLst/>
          </a:prstGeom>
          <a:solidFill>
            <a:srgbClr val="22D3EE">
              <a:alpha val="15000"/>
            </a:srgbClr>
          </a:solidFill>
          <a:ln/>
        </p:spPr>
      </p:sp>
      <p:sp>
        <p:nvSpPr>
          <p:cNvPr id="125" name="Shape 123"/>
          <p:cNvSpPr/>
          <p:nvPr/>
        </p:nvSpPr>
        <p:spPr>
          <a:xfrm>
            <a:off x="2788920" y="6675120"/>
            <a:ext cx="18288" cy="18288"/>
          </a:xfrm>
          <a:prstGeom prst="ellipse">
            <a:avLst/>
          </a:prstGeom>
          <a:solidFill>
            <a:srgbClr val="22D3EE">
              <a:alpha val="15000"/>
            </a:srgbClr>
          </a:solidFill>
          <a:ln/>
        </p:spPr>
      </p:sp>
      <p:sp>
        <p:nvSpPr>
          <p:cNvPr id="126" name="Shape 124"/>
          <p:cNvSpPr/>
          <p:nvPr/>
        </p:nvSpPr>
        <p:spPr>
          <a:xfrm>
            <a:off x="3566160" y="6675120"/>
            <a:ext cx="18288" cy="18288"/>
          </a:xfrm>
          <a:prstGeom prst="ellipse">
            <a:avLst/>
          </a:prstGeom>
          <a:solidFill>
            <a:srgbClr val="22D3EE">
              <a:alpha val="15000"/>
            </a:srgbClr>
          </a:solidFill>
          <a:ln/>
        </p:spPr>
      </p:sp>
      <p:sp>
        <p:nvSpPr>
          <p:cNvPr id="127" name="Shape 125"/>
          <p:cNvSpPr/>
          <p:nvPr/>
        </p:nvSpPr>
        <p:spPr>
          <a:xfrm>
            <a:off x="4343400" y="6675120"/>
            <a:ext cx="18288" cy="18288"/>
          </a:xfrm>
          <a:prstGeom prst="ellipse">
            <a:avLst/>
          </a:prstGeom>
          <a:solidFill>
            <a:srgbClr val="22D3EE">
              <a:alpha val="15000"/>
            </a:srgbClr>
          </a:solidFill>
          <a:ln/>
        </p:spPr>
      </p:sp>
      <p:sp>
        <p:nvSpPr>
          <p:cNvPr id="128" name="Shape 126"/>
          <p:cNvSpPr/>
          <p:nvPr/>
        </p:nvSpPr>
        <p:spPr>
          <a:xfrm>
            <a:off x="5120640" y="6675120"/>
            <a:ext cx="18288" cy="18288"/>
          </a:xfrm>
          <a:prstGeom prst="ellipse">
            <a:avLst/>
          </a:prstGeom>
          <a:solidFill>
            <a:srgbClr val="22D3EE">
              <a:alpha val="15000"/>
            </a:srgbClr>
          </a:solidFill>
          <a:ln/>
        </p:spPr>
      </p:sp>
      <p:sp>
        <p:nvSpPr>
          <p:cNvPr id="129" name="Shape 127"/>
          <p:cNvSpPr/>
          <p:nvPr/>
        </p:nvSpPr>
        <p:spPr>
          <a:xfrm>
            <a:off x="5897880" y="6675120"/>
            <a:ext cx="18288" cy="18288"/>
          </a:xfrm>
          <a:prstGeom prst="ellipse">
            <a:avLst/>
          </a:prstGeom>
          <a:solidFill>
            <a:srgbClr val="22D3EE">
              <a:alpha val="15000"/>
            </a:srgbClr>
          </a:solidFill>
          <a:ln/>
        </p:spPr>
      </p:sp>
      <p:sp>
        <p:nvSpPr>
          <p:cNvPr id="130" name="Shape 128"/>
          <p:cNvSpPr/>
          <p:nvPr/>
        </p:nvSpPr>
        <p:spPr>
          <a:xfrm>
            <a:off x="6675120" y="6675120"/>
            <a:ext cx="18288" cy="18288"/>
          </a:xfrm>
          <a:prstGeom prst="ellipse">
            <a:avLst/>
          </a:prstGeom>
          <a:solidFill>
            <a:srgbClr val="22D3EE">
              <a:alpha val="15000"/>
            </a:srgbClr>
          </a:solidFill>
          <a:ln/>
        </p:spPr>
      </p:sp>
      <p:sp>
        <p:nvSpPr>
          <p:cNvPr id="131" name="Shape 129"/>
          <p:cNvSpPr/>
          <p:nvPr/>
        </p:nvSpPr>
        <p:spPr>
          <a:xfrm>
            <a:off x="7452360" y="6675120"/>
            <a:ext cx="18288" cy="18288"/>
          </a:xfrm>
          <a:prstGeom prst="ellipse">
            <a:avLst/>
          </a:prstGeom>
          <a:solidFill>
            <a:srgbClr val="22D3EE">
              <a:alpha val="15000"/>
            </a:srgbClr>
          </a:solidFill>
          <a:ln/>
        </p:spPr>
      </p:sp>
      <p:sp>
        <p:nvSpPr>
          <p:cNvPr id="132" name="Shape 130"/>
          <p:cNvSpPr/>
          <p:nvPr/>
        </p:nvSpPr>
        <p:spPr>
          <a:xfrm>
            <a:off x="8229600" y="6675120"/>
            <a:ext cx="18288" cy="18288"/>
          </a:xfrm>
          <a:prstGeom prst="ellipse">
            <a:avLst/>
          </a:prstGeom>
          <a:solidFill>
            <a:srgbClr val="22D3EE">
              <a:alpha val="15000"/>
            </a:srgbClr>
          </a:solidFill>
          <a:ln/>
        </p:spPr>
      </p:sp>
      <p:sp>
        <p:nvSpPr>
          <p:cNvPr id="133" name="Shape 131"/>
          <p:cNvSpPr/>
          <p:nvPr/>
        </p:nvSpPr>
        <p:spPr>
          <a:xfrm>
            <a:off x="9006840" y="6675120"/>
            <a:ext cx="18288" cy="18288"/>
          </a:xfrm>
          <a:prstGeom prst="ellipse">
            <a:avLst/>
          </a:prstGeom>
          <a:solidFill>
            <a:srgbClr val="22D3EE">
              <a:alpha val="15000"/>
            </a:srgbClr>
          </a:solidFill>
          <a:ln/>
        </p:spPr>
      </p:sp>
      <p:sp>
        <p:nvSpPr>
          <p:cNvPr id="134" name="Shape 132"/>
          <p:cNvSpPr/>
          <p:nvPr/>
        </p:nvSpPr>
        <p:spPr>
          <a:xfrm>
            <a:off x="9784080" y="6675120"/>
            <a:ext cx="18288" cy="18288"/>
          </a:xfrm>
          <a:prstGeom prst="ellipse">
            <a:avLst/>
          </a:prstGeom>
          <a:solidFill>
            <a:srgbClr val="22D3EE">
              <a:alpha val="15000"/>
            </a:srgbClr>
          </a:solidFill>
          <a:ln/>
        </p:spPr>
      </p:sp>
      <p:sp>
        <p:nvSpPr>
          <p:cNvPr id="135" name="Shape 133"/>
          <p:cNvSpPr/>
          <p:nvPr/>
        </p:nvSpPr>
        <p:spPr>
          <a:xfrm>
            <a:off x="10561320" y="6675120"/>
            <a:ext cx="18288" cy="18288"/>
          </a:xfrm>
          <a:prstGeom prst="ellipse">
            <a:avLst/>
          </a:prstGeom>
          <a:solidFill>
            <a:srgbClr val="22D3EE">
              <a:alpha val="15000"/>
            </a:srgbClr>
          </a:solidFill>
          <a:ln/>
        </p:spPr>
      </p:sp>
      <p:sp>
        <p:nvSpPr>
          <p:cNvPr id="136" name="Shape 134"/>
          <p:cNvSpPr/>
          <p:nvPr/>
        </p:nvSpPr>
        <p:spPr>
          <a:xfrm>
            <a:off x="11338560" y="6675120"/>
            <a:ext cx="18288" cy="18288"/>
          </a:xfrm>
          <a:prstGeom prst="ellipse">
            <a:avLst/>
          </a:prstGeom>
          <a:solidFill>
            <a:srgbClr val="22D3EE">
              <a:alpha val="15000"/>
            </a:srgbClr>
          </a:solidFill>
          <a:ln/>
        </p:spPr>
      </p:sp>
      <p:sp>
        <p:nvSpPr>
          <p:cNvPr id="139" name="Text 136"/>
          <p:cNvSpPr/>
          <p:nvPr/>
        </p:nvSpPr>
        <p:spPr>
          <a:xfrm>
            <a:off x="731520" y="3246120"/>
            <a:ext cx="10175292" cy="109728"/>
          </a:xfrm>
          <a:prstGeom prst="rect">
            <a:avLst/>
          </a:prstGeom>
          <a:noFill/>
          <a:ln/>
        </p:spPr>
        <p:txBody>
          <a:bodyPr wrap="square" lIns="0" tIns="0" rIns="0" bIns="0" rtlCol="0" anchor="ctr"/>
          <a:lstStyle/>
          <a:p>
            <a:pPr algn="ctr"/>
            <a:endParaRPr lang="en-US" sz="2800" dirty="0" smtClean="0">
              <a:solidFill>
                <a:schemeClr val="bg1"/>
              </a:solidFill>
              <a:latin typeface="Arial" panose="020B0604020202020204" pitchFamily="34" charset="0"/>
              <a:cs typeface="Arial" panose="020B0604020202020204" pitchFamily="34" charset="0"/>
            </a:endParaRPr>
          </a:p>
          <a:p>
            <a:pPr algn="ctr"/>
            <a:endParaRPr lang="en-US" sz="2800" dirty="0">
              <a:solidFill>
                <a:schemeClr val="bg1"/>
              </a:solidFill>
              <a:latin typeface="Arial" panose="020B0604020202020204" pitchFamily="34" charset="0"/>
              <a:cs typeface="Arial" panose="020B0604020202020204" pitchFamily="34" charset="0"/>
            </a:endParaRPr>
          </a:p>
          <a:p>
            <a:pPr algn="ctr"/>
            <a:r>
              <a:rPr lang="en-US" sz="2800" dirty="0">
                <a:solidFill>
                  <a:schemeClr val="bg1"/>
                </a:solidFill>
                <a:latin typeface="Arial" panose="020B0604020202020204" pitchFamily="34" charset="0"/>
                <a:cs typeface="Arial" panose="020B0604020202020204" pitchFamily="34" charset="0"/>
              </a:rPr>
              <a:t> </a:t>
            </a:r>
            <a:r>
              <a:rPr lang="en-US" sz="2800" dirty="0" smtClean="0">
                <a:solidFill>
                  <a:schemeClr val="bg1"/>
                </a:solidFill>
                <a:latin typeface="Arial" panose="020B0604020202020204" pitchFamily="34" charset="0"/>
                <a:cs typeface="Arial" panose="020B0604020202020204" pitchFamily="34" charset="0"/>
              </a:rPr>
              <a:t> </a:t>
            </a:r>
          </a:p>
          <a:p>
            <a:pPr algn="ctr"/>
            <a:endParaRPr lang="en-US" sz="2800" dirty="0">
              <a:solidFill>
                <a:schemeClr val="bg1"/>
              </a:solidFill>
              <a:latin typeface="Arial" panose="020B0604020202020204" pitchFamily="34" charset="0"/>
              <a:cs typeface="Arial" panose="020B0604020202020204" pitchFamily="34" charset="0"/>
            </a:endParaRPr>
          </a:p>
          <a:p>
            <a:pPr algn="ctr"/>
            <a:endParaRPr lang="en-US" sz="2800" dirty="0">
              <a:solidFill>
                <a:schemeClr val="bg1"/>
              </a:solidFill>
              <a:latin typeface="Arial" panose="020B0604020202020204" pitchFamily="34" charset="0"/>
              <a:cs typeface="Arial" panose="020B0604020202020204" pitchFamily="34" charset="0"/>
            </a:endParaRPr>
          </a:p>
          <a:p>
            <a:pPr algn="ctr"/>
            <a:r>
              <a:rPr lang="en-US" sz="2800" dirty="0">
                <a:solidFill>
                  <a:schemeClr val="bg1"/>
                </a:solidFill>
                <a:latin typeface="Arial" panose="020B0604020202020204" pitchFamily="34" charset="0"/>
                <a:cs typeface="Arial" panose="020B0604020202020204" pitchFamily="34" charset="0"/>
              </a:rPr>
              <a:t> </a:t>
            </a:r>
          </a:p>
        </p:txBody>
      </p:sp>
      <p:sp>
        <p:nvSpPr>
          <p:cNvPr id="140" name="Text 137"/>
          <p:cNvSpPr/>
          <p:nvPr/>
        </p:nvSpPr>
        <p:spPr>
          <a:xfrm>
            <a:off x="731520" y="4160520"/>
            <a:ext cx="10725912" cy="457200"/>
          </a:xfrm>
          <a:prstGeom prst="rect">
            <a:avLst/>
          </a:prstGeom>
          <a:noFill/>
          <a:ln/>
        </p:spPr>
        <p:txBody>
          <a:bodyPr wrap="square" lIns="0" tIns="0" rIns="0" bIns="0" rtlCol="0" anchor="ctr"/>
          <a:lstStyle/>
          <a:p>
            <a:pPr marL="0" indent="0" algn="ctr">
              <a:buNone/>
            </a:pPr>
            <a:endParaRPr lang="en-US" sz="1800" dirty="0"/>
          </a:p>
        </p:txBody>
      </p:sp>
      <p:sp>
        <p:nvSpPr>
          <p:cNvPr id="142" name="Text 139"/>
          <p:cNvSpPr/>
          <p:nvPr/>
        </p:nvSpPr>
        <p:spPr>
          <a:xfrm>
            <a:off x="731520" y="4983480"/>
            <a:ext cx="10725912" cy="365760"/>
          </a:xfrm>
          <a:prstGeom prst="rect">
            <a:avLst/>
          </a:prstGeom>
          <a:noFill/>
          <a:ln/>
        </p:spPr>
        <p:txBody>
          <a:bodyPr wrap="square" lIns="0" tIns="0" rIns="0" bIns="0" rtlCol="0" anchor="ctr"/>
          <a:lstStyle/>
          <a:p>
            <a:pPr>
              <a:lnSpc>
                <a:spcPct val="150000"/>
              </a:lnSpc>
            </a:pPr>
            <a:endParaRPr lang="en-US" sz="1600" dirty="0">
              <a:solidFill>
                <a:schemeClr val="bg1"/>
              </a:solidFill>
              <a:latin typeface="Arial" panose="020B0604020202020204" pitchFamily="34" charset="0"/>
              <a:cs typeface="Arial" panose="020B0604020202020204" pitchFamily="34" charset="0"/>
            </a:endParaRPr>
          </a:p>
        </p:txBody>
      </p:sp>
      <p:sp>
        <p:nvSpPr>
          <p:cNvPr id="147" name="Rounded Rectangle 146"/>
          <p:cNvSpPr/>
          <p:nvPr/>
        </p:nvSpPr>
        <p:spPr>
          <a:xfrm>
            <a:off x="4965804" y="285749"/>
            <a:ext cx="1706723" cy="63211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latin typeface="Arial" panose="020B0604020202020204" pitchFamily="34" charset="0"/>
                <a:cs typeface="Arial" panose="020B0604020202020204" pitchFamily="34" charset="0"/>
              </a:rPr>
              <a:t>Attacker</a:t>
            </a:r>
            <a:endParaRPr lang="en-US" dirty="0">
              <a:latin typeface="Arial" panose="020B0604020202020204" pitchFamily="34" charset="0"/>
              <a:cs typeface="Arial" panose="020B0604020202020204" pitchFamily="34" charset="0"/>
            </a:endParaRPr>
          </a:p>
        </p:txBody>
      </p:sp>
      <p:sp>
        <p:nvSpPr>
          <p:cNvPr id="148" name="Rounded Rectangle 147"/>
          <p:cNvSpPr/>
          <p:nvPr/>
        </p:nvSpPr>
        <p:spPr>
          <a:xfrm>
            <a:off x="4968398" y="1319022"/>
            <a:ext cx="1706722" cy="555498"/>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Arial" panose="020B0604020202020204" pitchFamily="34" charset="0"/>
                <a:cs typeface="Arial" panose="020B0604020202020204" pitchFamily="34" charset="0"/>
              </a:rPr>
              <a:t>Fake Email</a:t>
            </a:r>
          </a:p>
        </p:txBody>
      </p:sp>
      <p:sp>
        <p:nvSpPr>
          <p:cNvPr id="149" name="Rounded Rectangle 148"/>
          <p:cNvSpPr/>
          <p:nvPr/>
        </p:nvSpPr>
        <p:spPr>
          <a:xfrm>
            <a:off x="4965804" y="2269482"/>
            <a:ext cx="1727604" cy="64008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solidFill>
                <a:schemeClr val="bg1"/>
              </a:solidFill>
              <a:latin typeface="Arial" panose="020B0604020202020204" pitchFamily="34" charset="0"/>
              <a:cs typeface="Arial" panose="020B0604020202020204" pitchFamily="34" charset="0"/>
            </a:endParaRPr>
          </a:p>
          <a:p>
            <a:pPr algn="ctr"/>
            <a:endParaRPr lang="en-US" sz="1600" dirty="0" smtClean="0">
              <a:solidFill>
                <a:schemeClr val="bg1"/>
              </a:solidFill>
              <a:latin typeface="Arial" panose="020B0604020202020204" pitchFamily="34" charset="0"/>
              <a:cs typeface="Arial" panose="020B0604020202020204" pitchFamily="34" charset="0"/>
            </a:endParaRPr>
          </a:p>
          <a:p>
            <a:pPr algn="ctr"/>
            <a:r>
              <a:rPr lang="en-US" sz="1600" dirty="0" smtClean="0">
                <a:solidFill>
                  <a:schemeClr val="bg1"/>
                </a:solidFill>
                <a:latin typeface="Arial" panose="020B0604020202020204" pitchFamily="34" charset="0"/>
                <a:cs typeface="Arial" panose="020B0604020202020204" pitchFamily="34" charset="0"/>
              </a:rPr>
              <a:t>Victim </a:t>
            </a:r>
            <a:r>
              <a:rPr lang="en-US" sz="1600" dirty="0">
                <a:solidFill>
                  <a:schemeClr val="bg1"/>
                </a:solidFill>
                <a:latin typeface="Arial" panose="020B0604020202020204" pitchFamily="34" charset="0"/>
                <a:cs typeface="Arial" panose="020B0604020202020204" pitchFamily="34" charset="0"/>
              </a:rPr>
              <a:t>Clicks Link</a:t>
            </a:r>
          </a:p>
          <a:p>
            <a:pPr algn="ctr"/>
            <a:endParaRPr lang="en-US" sz="1600" dirty="0" smtClean="0">
              <a:solidFill>
                <a:schemeClr val="bg1"/>
              </a:solidFill>
              <a:latin typeface="Arial" panose="020B0604020202020204" pitchFamily="34" charset="0"/>
              <a:cs typeface="Arial" panose="020B0604020202020204" pitchFamily="34" charset="0"/>
            </a:endParaRPr>
          </a:p>
          <a:p>
            <a:pPr algn="ctr"/>
            <a:endParaRPr lang="en-US" sz="2000" dirty="0"/>
          </a:p>
        </p:txBody>
      </p:sp>
      <p:sp>
        <p:nvSpPr>
          <p:cNvPr id="150" name="Rounded Rectangle 149"/>
          <p:cNvSpPr/>
          <p:nvPr/>
        </p:nvSpPr>
        <p:spPr>
          <a:xfrm>
            <a:off x="4952560" y="3355330"/>
            <a:ext cx="1704130" cy="549158"/>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smtClean="0">
                <a:latin typeface="Arial" panose="020B0604020202020204" pitchFamily="34" charset="0"/>
                <a:cs typeface="Arial" panose="020B0604020202020204" pitchFamily="34" charset="0"/>
              </a:rPr>
              <a:t>Fake Website</a:t>
            </a:r>
            <a:endParaRPr lang="en-US" sz="1600" dirty="0">
              <a:latin typeface="Arial" panose="020B0604020202020204" pitchFamily="34" charset="0"/>
              <a:cs typeface="Arial" panose="020B0604020202020204" pitchFamily="34" charset="0"/>
            </a:endParaRPr>
          </a:p>
        </p:txBody>
      </p:sp>
      <p:sp>
        <p:nvSpPr>
          <p:cNvPr id="151" name="Rounded Rectangle 150"/>
          <p:cNvSpPr/>
          <p:nvPr/>
        </p:nvSpPr>
        <p:spPr>
          <a:xfrm>
            <a:off x="4943416" y="4389994"/>
            <a:ext cx="1749992" cy="57475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latin typeface="Arial" panose="020B0604020202020204" pitchFamily="34" charset="0"/>
                <a:cs typeface="Arial" panose="020B0604020202020204" pitchFamily="34" charset="0"/>
              </a:rPr>
              <a:t>Credentials Stolen</a:t>
            </a:r>
          </a:p>
        </p:txBody>
      </p:sp>
      <p:sp>
        <p:nvSpPr>
          <p:cNvPr id="152" name="Rounded Rectangle 151"/>
          <p:cNvSpPr/>
          <p:nvPr/>
        </p:nvSpPr>
        <p:spPr>
          <a:xfrm>
            <a:off x="4940968" y="5416677"/>
            <a:ext cx="1752439" cy="618363"/>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bg1"/>
                </a:solidFill>
                <a:latin typeface="Arial" panose="020B0604020202020204" pitchFamily="34" charset="0"/>
                <a:cs typeface="Arial" panose="020B0604020202020204" pitchFamily="34" charset="0"/>
              </a:rPr>
              <a:t>Account Compromised</a:t>
            </a:r>
            <a:endParaRPr lang="en-US" sz="1600" dirty="0">
              <a:solidFill>
                <a:schemeClr val="bg1"/>
              </a:solidFill>
              <a:latin typeface="Arial" panose="020B0604020202020204" pitchFamily="34" charset="0"/>
              <a:cs typeface="Arial" panose="020B0604020202020204" pitchFamily="34" charset="0"/>
            </a:endParaRPr>
          </a:p>
        </p:txBody>
      </p:sp>
      <p:cxnSp>
        <p:nvCxnSpPr>
          <p:cNvPr id="157" name="Straight Arrow Connector 156"/>
          <p:cNvCxnSpPr/>
          <p:nvPr/>
        </p:nvCxnSpPr>
        <p:spPr>
          <a:xfrm flipH="1">
            <a:off x="5804624" y="940897"/>
            <a:ext cx="1" cy="369867"/>
          </a:xfrm>
          <a:prstGeom prst="straightConnector1">
            <a:avLst/>
          </a:prstGeom>
          <a:ln w="38100">
            <a:solidFill>
              <a:schemeClr val="bg1"/>
            </a:solidFill>
            <a:tailEnd type="triangle"/>
          </a:ln>
        </p:spPr>
        <p:style>
          <a:lnRef idx="3">
            <a:schemeClr val="dk1"/>
          </a:lnRef>
          <a:fillRef idx="0">
            <a:schemeClr val="dk1"/>
          </a:fillRef>
          <a:effectRef idx="2">
            <a:schemeClr val="dk1"/>
          </a:effectRef>
          <a:fontRef idx="minor">
            <a:schemeClr val="tx1"/>
          </a:fontRef>
        </p:style>
      </p:cxnSp>
      <p:cxnSp>
        <p:nvCxnSpPr>
          <p:cNvPr id="163" name="Straight Arrow Connector 162"/>
          <p:cNvCxnSpPr/>
          <p:nvPr/>
        </p:nvCxnSpPr>
        <p:spPr>
          <a:xfrm>
            <a:off x="5820765" y="1896231"/>
            <a:ext cx="10139" cy="374945"/>
          </a:xfrm>
          <a:prstGeom prst="straightConnector1">
            <a:avLst/>
          </a:prstGeom>
          <a:ln w="38100">
            <a:solidFill>
              <a:schemeClr val="bg1"/>
            </a:solidFill>
            <a:tailEnd type="triangle"/>
          </a:ln>
        </p:spPr>
        <p:style>
          <a:lnRef idx="3">
            <a:schemeClr val="dk1"/>
          </a:lnRef>
          <a:fillRef idx="0">
            <a:schemeClr val="dk1"/>
          </a:fillRef>
          <a:effectRef idx="2">
            <a:schemeClr val="dk1"/>
          </a:effectRef>
          <a:fontRef idx="minor">
            <a:schemeClr val="tx1"/>
          </a:fontRef>
        </p:style>
      </p:cxnSp>
      <p:cxnSp>
        <p:nvCxnSpPr>
          <p:cNvPr id="165" name="Straight Arrow Connector 164"/>
          <p:cNvCxnSpPr/>
          <p:nvPr/>
        </p:nvCxnSpPr>
        <p:spPr>
          <a:xfrm>
            <a:off x="5785185" y="2922891"/>
            <a:ext cx="0" cy="425583"/>
          </a:xfrm>
          <a:prstGeom prst="straightConnector1">
            <a:avLst/>
          </a:prstGeom>
          <a:ln w="38100">
            <a:solidFill>
              <a:schemeClr val="bg1"/>
            </a:solidFill>
            <a:tailEnd type="triangle"/>
          </a:ln>
        </p:spPr>
        <p:style>
          <a:lnRef idx="3">
            <a:schemeClr val="dk1"/>
          </a:lnRef>
          <a:fillRef idx="0">
            <a:schemeClr val="dk1"/>
          </a:fillRef>
          <a:effectRef idx="2">
            <a:schemeClr val="dk1"/>
          </a:effectRef>
          <a:fontRef idx="minor">
            <a:schemeClr val="tx1"/>
          </a:fontRef>
        </p:style>
      </p:cxnSp>
      <p:cxnSp>
        <p:nvCxnSpPr>
          <p:cNvPr id="170" name="Straight Arrow Connector 169"/>
          <p:cNvCxnSpPr/>
          <p:nvPr/>
        </p:nvCxnSpPr>
        <p:spPr>
          <a:xfrm flipH="1">
            <a:off x="5779386" y="3938503"/>
            <a:ext cx="1" cy="404897"/>
          </a:xfrm>
          <a:prstGeom prst="straightConnector1">
            <a:avLst/>
          </a:prstGeom>
          <a:ln w="38100">
            <a:solidFill>
              <a:schemeClr val="bg1"/>
            </a:solidFill>
            <a:tailEnd type="triangle"/>
          </a:ln>
        </p:spPr>
        <p:style>
          <a:lnRef idx="3">
            <a:schemeClr val="dk1"/>
          </a:lnRef>
          <a:fillRef idx="0">
            <a:schemeClr val="dk1"/>
          </a:fillRef>
          <a:effectRef idx="2">
            <a:schemeClr val="dk1"/>
          </a:effectRef>
          <a:fontRef idx="minor">
            <a:schemeClr val="tx1"/>
          </a:fontRef>
        </p:style>
      </p:cxnSp>
      <p:cxnSp>
        <p:nvCxnSpPr>
          <p:cNvPr id="171" name="Straight Arrow Connector 170"/>
          <p:cNvCxnSpPr/>
          <p:nvPr/>
        </p:nvCxnSpPr>
        <p:spPr>
          <a:xfrm flipH="1">
            <a:off x="5820765" y="4988797"/>
            <a:ext cx="1" cy="438415"/>
          </a:xfrm>
          <a:prstGeom prst="straightConnector1">
            <a:avLst/>
          </a:prstGeom>
          <a:ln w="38100">
            <a:solidFill>
              <a:schemeClr val="bg1"/>
            </a:solidFill>
            <a:tailEnd type="triangle"/>
          </a:ln>
        </p:spPr>
        <p:style>
          <a:lnRef idx="3">
            <a:schemeClr val="dk1"/>
          </a:lnRef>
          <a:fillRef idx="0">
            <a:schemeClr val="dk1"/>
          </a:fillRef>
          <a:effectRef idx="2">
            <a:schemeClr val="dk1"/>
          </a:effectRef>
          <a:fontRef idx="minor">
            <a:schemeClr val="tx1"/>
          </a:fontRef>
        </p:style>
      </p:cxnSp>
    </p:spTree>
    <p:extLst>
      <p:ext uri="{BB962C8B-B14F-4D97-AF65-F5344CB8AC3E}">
        <p14:creationId xmlns:p14="http://schemas.microsoft.com/office/powerpoint/2010/main" val="378953083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bg>
      <p:bgPr>
        <a:solidFill>
          <a:srgbClr val="0A1628"/>
        </a:solidFill>
        <a:effectLst/>
      </p:bgPr>
    </p:bg>
    <p:spTree>
      <p:nvGrpSpPr>
        <p:cNvPr id="1" name=""/>
        <p:cNvGrpSpPr/>
        <p:nvPr/>
      </p:nvGrpSpPr>
      <p:grpSpPr>
        <a:xfrm>
          <a:off x="0" y="0"/>
          <a:ext cx="0" cy="0"/>
          <a:chOff x="0" y="0"/>
          <a:chExt cx="0" cy="0"/>
        </a:xfrm>
      </p:grpSpPr>
      <p:sp>
        <p:nvSpPr>
          <p:cNvPr id="2" name="Text 0"/>
          <p:cNvSpPr/>
          <p:nvPr/>
        </p:nvSpPr>
        <p:spPr>
          <a:xfrm>
            <a:off x="548640" y="320040"/>
            <a:ext cx="7315200" cy="320040"/>
          </a:xfrm>
          <a:prstGeom prst="rect">
            <a:avLst/>
          </a:prstGeom>
          <a:noFill/>
          <a:ln/>
        </p:spPr>
        <p:txBody>
          <a:bodyPr wrap="square" lIns="0" tIns="0" rIns="0" bIns="0" rtlCol="0" anchor="ctr"/>
          <a:lstStyle/>
          <a:p>
            <a:pPr marL="0" indent="0">
              <a:buNone/>
            </a:pPr>
            <a:r>
              <a:rPr lang="en-US" sz="1200" b="1" kern="0" spc="200" dirty="0">
                <a:solidFill>
                  <a:srgbClr val="22D3EE"/>
                </a:solidFill>
                <a:latin typeface="Arial" pitchFamily="34" charset="0"/>
                <a:ea typeface="Arial" pitchFamily="34" charset="-122"/>
                <a:cs typeface="Arial" pitchFamily="34" charset="-120"/>
              </a:rPr>
              <a:t>THE STAKES</a:t>
            </a:r>
            <a:endParaRPr lang="en-US" sz="1200" dirty="0"/>
          </a:p>
        </p:txBody>
      </p:sp>
      <p:sp>
        <p:nvSpPr>
          <p:cNvPr id="3" name="Text 1"/>
          <p:cNvSpPr/>
          <p:nvPr/>
        </p:nvSpPr>
        <p:spPr>
          <a:xfrm>
            <a:off x="548640" y="621792"/>
            <a:ext cx="10789920" cy="685800"/>
          </a:xfrm>
          <a:prstGeom prst="rect">
            <a:avLst/>
          </a:prstGeom>
          <a:noFill/>
          <a:ln/>
        </p:spPr>
        <p:txBody>
          <a:bodyPr wrap="square" lIns="0" tIns="0" rIns="0" bIns="0" rtlCol="0" anchor="ctr"/>
          <a:lstStyle/>
          <a:p>
            <a:pPr marL="0" indent="0">
              <a:buNone/>
            </a:pPr>
            <a:r>
              <a:rPr lang="en-US" sz="3200" b="1" dirty="0">
                <a:solidFill>
                  <a:srgbClr val="FFFFFF"/>
                </a:solidFill>
                <a:latin typeface="Arial" pitchFamily="34" charset="0"/>
                <a:ea typeface="Arial" pitchFamily="34" charset="-122"/>
                <a:cs typeface="Arial" pitchFamily="34" charset="-120"/>
              </a:rPr>
              <a:t>Why Phishing Is Dangerous</a:t>
            </a:r>
            <a:endParaRPr lang="en-US" sz="3200" dirty="0"/>
          </a:p>
        </p:txBody>
      </p:sp>
      <p:sp>
        <p:nvSpPr>
          <p:cNvPr id="4" name="Shape 2"/>
          <p:cNvSpPr/>
          <p:nvPr/>
        </p:nvSpPr>
        <p:spPr>
          <a:xfrm>
            <a:off x="548640" y="1828800"/>
            <a:ext cx="2606040" cy="2011680"/>
          </a:xfrm>
          <a:prstGeom prst="roundRect">
            <a:avLst>
              <a:gd name="adj" fmla="val 3636"/>
            </a:avLst>
          </a:prstGeom>
          <a:solidFill>
            <a:srgbClr val="10233F"/>
          </a:solidFill>
          <a:ln w="9525">
            <a:solidFill>
              <a:srgbClr val="1D3A63"/>
            </a:solidFill>
            <a:prstDash val="solid"/>
          </a:ln>
          <a:effectLst>
            <a:outerShdw blurRad="76200" dist="38100" dir="5400000" algn="bl" rotWithShape="0">
              <a:srgbClr val="000000">
                <a:alpha val="35000"/>
              </a:srgbClr>
            </a:outerShdw>
          </a:effectLst>
        </p:spPr>
      </p:sp>
      <p:sp>
        <p:nvSpPr>
          <p:cNvPr id="5" name="Text 3"/>
          <p:cNvSpPr/>
          <p:nvPr/>
        </p:nvSpPr>
        <p:spPr>
          <a:xfrm>
            <a:off x="548640" y="2057400"/>
            <a:ext cx="2606040" cy="822960"/>
          </a:xfrm>
          <a:prstGeom prst="rect">
            <a:avLst/>
          </a:prstGeom>
          <a:noFill/>
          <a:ln/>
        </p:spPr>
        <p:txBody>
          <a:bodyPr wrap="square" lIns="0" tIns="0" rIns="0" bIns="0" rtlCol="0" anchor="ctr"/>
          <a:lstStyle/>
          <a:p>
            <a:pPr marL="0" indent="0" algn="ctr">
              <a:buNone/>
            </a:pPr>
            <a:r>
              <a:rPr lang="en-US" sz="3400" b="1" dirty="0">
                <a:solidFill>
                  <a:srgbClr val="22D3EE"/>
                </a:solidFill>
                <a:latin typeface="Arial" pitchFamily="34" charset="0"/>
                <a:ea typeface="Arial" pitchFamily="34" charset="-122"/>
                <a:cs typeface="Arial" pitchFamily="34" charset="-120"/>
              </a:rPr>
              <a:t>91%</a:t>
            </a:r>
            <a:endParaRPr lang="en-US" sz="3400" dirty="0"/>
          </a:p>
        </p:txBody>
      </p:sp>
      <p:sp>
        <p:nvSpPr>
          <p:cNvPr id="6" name="Text 4"/>
          <p:cNvSpPr/>
          <p:nvPr/>
        </p:nvSpPr>
        <p:spPr>
          <a:xfrm>
            <a:off x="685800" y="2880360"/>
            <a:ext cx="2331720" cy="822960"/>
          </a:xfrm>
          <a:prstGeom prst="rect">
            <a:avLst/>
          </a:prstGeom>
          <a:noFill/>
          <a:ln/>
        </p:spPr>
        <p:txBody>
          <a:bodyPr wrap="square" lIns="0" tIns="0" rIns="0" bIns="0" rtlCol="0" anchor="ctr"/>
          <a:lstStyle/>
          <a:p>
            <a:pPr marL="0" indent="0" algn="ctr">
              <a:buNone/>
            </a:pPr>
            <a:r>
              <a:rPr lang="en-US" sz="1100" dirty="0">
                <a:solidFill>
                  <a:srgbClr val="9FB3C8"/>
                </a:solidFill>
                <a:latin typeface="Calibri" pitchFamily="34" charset="0"/>
                <a:ea typeface="Calibri" pitchFamily="34" charset="-122"/>
                <a:cs typeface="Calibri" pitchFamily="34" charset="-120"/>
              </a:rPr>
              <a:t>of cyberattacks start</a:t>
            </a:r>
            <a:endParaRPr lang="en-US" sz="1100" dirty="0"/>
          </a:p>
          <a:p>
            <a:pPr marL="0" indent="0" algn="ctr">
              <a:buNone/>
            </a:pPr>
            <a:r>
              <a:rPr lang="en-US" sz="1100" dirty="0">
                <a:solidFill>
                  <a:srgbClr val="9FB3C8"/>
                </a:solidFill>
                <a:latin typeface="Calibri" pitchFamily="34" charset="0"/>
                <a:ea typeface="Calibri" pitchFamily="34" charset="-122"/>
                <a:cs typeface="Calibri" pitchFamily="34" charset="-120"/>
              </a:rPr>
              <a:t>with a phishing email</a:t>
            </a:r>
            <a:endParaRPr lang="en-US" sz="1100" dirty="0"/>
          </a:p>
        </p:txBody>
      </p:sp>
      <p:sp>
        <p:nvSpPr>
          <p:cNvPr id="7" name="Shape 5"/>
          <p:cNvSpPr/>
          <p:nvPr/>
        </p:nvSpPr>
        <p:spPr>
          <a:xfrm>
            <a:off x="3383280" y="1828800"/>
            <a:ext cx="2606040" cy="2011680"/>
          </a:xfrm>
          <a:prstGeom prst="roundRect">
            <a:avLst>
              <a:gd name="adj" fmla="val 3636"/>
            </a:avLst>
          </a:prstGeom>
          <a:solidFill>
            <a:srgbClr val="10233F"/>
          </a:solidFill>
          <a:ln w="9525">
            <a:solidFill>
              <a:srgbClr val="1D3A63"/>
            </a:solidFill>
            <a:prstDash val="solid"/>
          </a:ln>
          <a:effectLst>
            <a:outerShdw blurRad="76200" dist="38100" dir="5400000" algn="bl" rotWithShape="0">
              <a:srgbClr val="000000">
                <a:alpha val="35000"/>
              </a:srgbClr>
            </a:outerShdw>
          </a:effectLst>
        </p:spPr>
      </p:sp>
      <p:sp>
        <p:nvSpPr>
          <p:cNvPr id="8" name="Text 6"/>
          <p:cNvSpPr/>
          <p:nvPr/>
        </p:nvSpPr>
        <p:spPr>
          <a:xfrm>
            <a:off x="3383280" y="2057400"/>
            <a:ext cx="2606040" cy="822960"/>
          </a:xfrm>
          <a:prstGeom prst="rect">
            <a:avLst/>
          </a:prstGeom>
          <a:noFill/>
          <a:ln/>
        </p:spPr>
        <p:txBody>
          <a:bodyPr wrap="square" lIns="0" tIns="0" rIns="0" bIns="0" rtlCol="0" anchor="ctr"/>
          <a:lstStyle/>
          <a:p>
            <a:pPr marL="0" indent="0" algn="ctr">
              <a:buNone/>
            </a:pPr>
            <a:r>
              <a:rPr lang="en-US" sz="3400" b="1" dirty="0">
                <a:solidFill>
                  <a:srgbClr val="22D3EE"/>
                </a:solidFill>
                <a:latin typeface="Arial" pitchFamily="34" charset="0"/>
                <a:ea typeface="Arial" pitchFamily="34" charset="-122"/>
                <a:cs typeface="Arial" pitchFamily="34" charset="-120"/>
              </a:rPr>
              <a:t>$4.9M</a:t>
            </a:r>
            <a:endParaRPr lang="en-US" sz="3400" dirty="0"/>
          </a:p>
        </p:txBody>
      </p:sp>
      <p:sp>
        <p:nvSpPr>
          <p:cNvPr id="9" name="Text 7"/>
          <p:cNvSpPr/>
          <p:nvPr/>
        </p:nvSpPr>
        <p:spPr>
          <a:xfrm>
            <a:off x="3520440" y="2880360"/>
            <a:ext cx="2331720" cy="822960"/>
          </a:xfrm>
          <a:prstGeom prst="rect">
            <a:avLst/>
          </a:prstGeom>
          <a:noFill/>
          <a:ln/>
        </p:spPr>
        <p:txBody>
          <a:bodyPr wrap="square" lIns="0" tIns="0" rIns="0" bIns="0" rtlCol="0" anchor="ctr"/>
          <a:lstStyle/>
          <a:p>
            <a:pPr marL="0" indent="0" algn="ctr">
              <a:buNone/>
            </a:pPr>
            <a:r>
              <a:rPr lang="en-US" sz="1100" dirty="0">
                <a:solidFill>
                  <a:srgbClr val="9FB3C8"/>
                </a:solidFill>
                <a:latin typeface="Calibri" pitchFamily="34" charset="0"/>
                <a:ea typeface="Calibri" pitchFamily="34" charset="-122"/>
                <a:cs typeface="Calibri" pitchFamily="34" charset="-120"/>
              </a:rPr>
              <a:t>average cost of a</a:t>
            </a:r>
            <a:endParaRPr lang="en-US" sz="1100" dirty="0"/>
          </a:p>
          <a:p>
            <a:pPr marL="0" indent="0" algn="ctr">
              <a:buNone/>
            </a:pPr>
            <a:r>
              <a:rPr lang="en-US" sz="1100" dirty="0">
                <a:solidFill>
                  <a:srgbClr val="9FB3C8"/>
                </a:solidFill>
                <a:latin typeface="Calibri" pitchFamily="34" charset="0"/>
                <a:ea typeface="Calibri" pitchFamily="34" charset="-122"/>
                <a:cs typeface="Calibri" pitchFamily="34" charset="-120"/>
              </a:rPr>
              <a:t>data breach today</a:t>
            </a:r>
            <a:endParaRPr lang="en-US" sz="1100" dirty="0"/>
          </a:p>
        </p:txBody>
      </p:sp>
      <p:sp>
        <p:nvSpPr>
          <p:cNvPr id="10" name="Shape 8"/>
          <p:cNvSpPr/>
          <p:nvPr/>
        </p:nvSpPr>
        <p:spPr>
          <a:xfrm>
            <a:off x="6217920" y="1828800"/>
            <a:ext cx="2606040" cy="2011680"/>
          </a:xfrm>
          <a:prstGeom prst="roundRect">
            <a:avLst>
              <a:gd name="adj" fmla="val 3636"/>
            </a:avLst>
          </a:prstGeom>
          <a:solidFill>
            <a:srgbClr val="10233F"/>
          </a:solidFill>
          <a:ln w="9525">
            <a:solidFill>
              <a:srgbClr val="1D3A63"/>
            </a:solidFill>
            <a:prstDash val="solid"/>
          </a:ln>
          <a:effectLst>
            <a:outerShdw blurRad="76200" dist="38100" dir="5400000" algn="bl" rotWithShape="0">
              <a:srgbClr val="000000">
                <a:alpha val="35000"/>
              </a:srgbClr>
            </a:outerShdw>
          </a:effectLst>
        </p:spPr>
      </p:sp>
      <p:sp>
        <p:nvSpPr>
          <p:cNvPr id="11" name="Text 9"/>
          <p:cNvSpPr/>
          <p:nvPr/>
        </p:nvSpPr>
        <p:spPr>
          <a:xfrm>
            <a:off x="6217920" y="2057400"/>
            <a:ext cx="2606040" cy="822960"/>
          </a:xfrm>
          <a:prstGeom prst="rect">
            <a:avLst/>
          </a:prstGeom>
          <a:noFill/>
          <a:ln/>
        </p:spPr>
        <p:txBody>
          <a:bodyPr wrap="square" lIns="0" tIns="0" rIns="0" bIns="0" rtlCol="0" anchor="ctr"/>
          <a:lstStyle/>
          <a:p>
            <a:pPr marL="0" indent="0" algn="ctr">
              <a:buNone/>
            </a:pPr>
            <a:r>
              <a:rPr lang="en-US" sz="3400" b="1" dirty="0">
                <a:solidFill>
                  <a:srgbClr val="22D3EE"/>
                </a:solidFill>
                <a:latin typeface="Arial" pitchFamily="34" charset="0"/>
                <a:ea typeface="Arial" pitchFamily="34" charset="-122"/>
                <a:cs typeface="Arial" pitchFamily="34" charset="-120"/>
              </a:rPr>
              <a:t>1 in 4</a:t>
            </a:r>
            <a:endParaRPr lang="en-US" sz="3400" dirty="0"/>
          </a:p>
        </p:txBody>
      </p:sp>
      <p:sp>
        <p:nvSpPr>
          <p:cNvPr id="12" name="Text 10"/>
          <p:cNvSpPr/>
          <p:nvPr/>
        </p:nvSpPr>
        <p:spPr>
          <a:xfrm>
            <a:off x="6355080" y="2880360"/>
            <a:ext cx="2331720" cy="822960"/>
          </a:xfrm>
          <a:prstGeom prst="rect">
            <a:avLst/>
          </a:prstGeom>
          <a:noFill/>
          <a:ln/>
        </p:spPr>
        <p:txBody>
          <a:bodyPr wrap="square" lIns="0" tIns="0" rIns="0" bIns="0" rtlCol="0" anchor="ctr"/>
          <a:lstStyle/>
          <a:p>
            <a:pPr marL="0" indent="0" algn="ctr">
              <a:buNone/>
            </a:pPr>
            <a:r>
              <a:rPr lang="en-US" sz="1100" dirty="0">
                <a:solidFill>
                  <a:srgbClr val="9FB3C8"/>
                </a:solidFill>
                <a:latin typeface="Calibri" pitchFamily="34" charset="0"/>
                <a:ea typeface="Calibri" pitchFamily="34" charset="-122"/>
                <a:cs typeface="Calibri" pitchFamily="34" charset="-120"/>
              </a:rPr>
              <a:t>employees will click a</a:t>
            </a:r>
            <a:endParaRPr lang="en-US" sz="1100" dirty="0"/>
          </a:p>
          <a:p>
            <a:pPr marL="0" indent="0" algn="ctr">
              <a:buNone/>
            </a:pPr>
            <a:r>
              <a:rPr lang="en-US" sz="1100" dirty="0">
                <a:solidFill>
                  <a:srgbClr val="9FB3C8"/>
                </a:solidFill>
                <a:latin typeface="Calibri" pitchFamily="34" charset="0"/>
                <a:ea typeface="Calibri" pitchFamily="34" charset="-122"/>
                <a:cs typeface="Calibri" pitchFamily="34" charset="-120"/>
              </a:rPr>
              <a:t>phishing link if tested</a:t>
            </a:r>
            <a:endParaRPr lang="en-US" sz="1100" dirty="0"/>
          </a:p>
        </p:txBody>
      </p:sp>
      <p:sp>
        <p:nvSpPr>
          <p:cNvPr id="13" name="Shape 11"/>
          <p:cNvSpPr/>
          <p:nvPr/>
        </p:nvSpPr>
        <p:spPr>
          <a:xfrm>
            <a:off x="9052560" y="1828800"/>
            <a:ext cx="2606040" cy="2011680"/>
          </a:xfrm>
          <a:prstGeom prst="roundRect">
            <a:avLst>
              <a:gd name="adj" fmla="val 3636"/>
            </a:avLst>
          </a:prstGeom>
          <a:solidFill>
            <a:srgbClr val="10233F"/>
          </a:solidFill>
          <a:ln w="9525">
            <a:solidFill>
              <a:srgbClr val="1D3A63"/>
            </a:solidFill>
            <a:prstDash val="solid"/>
          </a:ln>
          <a:effectLst>
            <a:outerShdw blurRad="76200" dist="38100" dir="5400000" algn="bl" rotWithShape="0">
              <a:srgbClr val="000000">
                <a:alpha val="35000"/>
              </a:srgbClr>
            </a:outerShdw>
          </a:effectLst>
        </p:spPr>
      </p:sp>
      <p:sp>
        <p:nvSpPr>
          <p:cNvPr id="14" name="Text 12"/>
          <p:cNvSpPr/>
          <p:nvPr/>
        </p:nvSpPr>
        <p:spPr>
          <a:xfrm>
            <a:off x="9052560" y="2057400"/>
            <a:ext cx="2606040" cy="822960"/>
          </a:xfrm>
          <a:prstGeom prst="rect">
            <a:avLst/>
          </a:prstGeom>
          <a:noFill/>
          <a:ln/>
        </p:spPr>
        <p:txBody>
          <a:bodyPr wrap="square" lIns="0" tIns="0" rIns="0" bIns="0" rtlCol="0" anchor="ctr"/>
          <a:lstStyle/>
          <a:p>
            <a:pPr marL="0" indent="0" algn="ctr">
              <a:buNone/>
            </a:pPr>
            <a:r>
              <a:rPr lang="en-US" sz="3400" b="1" dirty="0">
                <a:solidFill>
                  <a:srgbClr val="22D3EE"/>
                </a:solidFill>
                <a:latin typeface="Arial" pitchFamily="34" charset="0"/>
                <a:ea typeface="Arial" pitchFamily="34" charset="-122"/>
                <a:cs typeface="Arial" pitchFamily="34" charset="-120"/>
              </a:rPr>
              <a:t>60%</a:t>
            </a:r>
            <a:endParaRPr lang="en-US" sz="3400" dirty="0"/>
          </a:p>
        </p:txBody>
      </p:sp>
      <p:sp>
        <p:nvSpPr>
          <p:cNvPr id="15" name="Text 13"/>
          <p:cNvSpPr/>
          <p:nvPr/>
        </p:nvSpPr>
        <p:spPr>
          <a:xfrm>
            <a:off x="9189720" y="2880360"/>
            <a:ext cx="2331720" cy="822960"/>
          </a:xfrm>
          <a:prstGeom prst="rect">
            <a:avLst/>
          </a:prstGeom>
          <a:noFill/>
          <a:ln/>
        </p:spPr>
        <p:txBody>
          <a:bodyPr wrap="square" lIns="0" tIns="0" rIns="0" bIns="0" rtlCol="0" anchor="ctr"/>
          <a:lstStyle/>
          <a:p>
            <a:pPr marL="0" indent="0" algn="ctr">
              <a:buNone/>
            </a:pPr>
            <a:r>
              <a:rPr lang="en-US" sz="1100" dirty="0">
                <a:solidFill>
                  <a:srgbClr val="9FB3C8"/>
                </a:solidFill>
                <a:latin typeface="Calibri" pitchFamily="34" charset="0"/>
                <a:ea typeface="Calibri" pitchFamily="34" charset="-122"/>
                <a:cs typeface="Calibri" pitchFamily="34" charset="-120"/>
              </a:rPr>
              <a:t>of small businesses close</a:t>
            </a:r>
            <a:endParaRPr lang="en-US" sz="1100" dirty="0"/>
          </a:p>
          <a:p>
            <a:pPr marL="0" indent="0" algn="ctr">
              <a:buNone/>
            </a:pPr>
            <a:r>
              <a:rPr lang="en-US" sz="1100" dirty="0">
                <a:solidFill>
                  <a:srgbClr val="9FB3C8"/>
                </a:solidFill>
                <a:latin typeface="Calibri" pitchFamily="34" charset="0"/>
                <a:ea typeface="Calibri" pitchFamily="34" charset="-122"/>
                <a:cs typeface="Calibri" pitchFamily="34" charset="-120"/>
              </a:rPr>
              <a:t>within 6 months of a breach</a:t>
            </a:r>
            <a:endParaRPr lang="en-US" sz="1100" dirty="0"/>
          </a:p>
        </p:txBody>
      </p:sp>
      <p:sp>
        <p:nvSpPr>
          <p:cNvPr id="16" name="Shape 14"/>
          <p:cNvSpPr/>
          <p:nvPr/>
        </p:nvSpPr>
        <p:spPr>
          <a:xfrm>
            <a:off x="548640" y="4160520"/>
            <a:ext cx="502920" cy="502920"/>
          </a:xfrm>
          <a:prstGeom prst="ellipse">
            <a:avLst/>
          </a:prstGeom>
          <a:solidFill>
            <a:srgbClr val="132A4C"/>
          </a:solidFill>
          <a:ln w="15875">
            <a:solidFill>
              <a:srgbClr val="22D3EE"/>
            </a:solidFill>
            <a:prstDash val="solid"/>
          </a:ln>
        </p:spPr>
      </p:sp>
      <p:pic>
        <p:nvPicPr>
          <p:cNvPr id="17" name="Image 0" descr="/home/claude/phishing/icons/dollar.png"/>
          <p:cNvPicPr>
            <a:picLocks noChangeAspect="1"/>
          </p:cNvPicPr>
          <p:nvPr/>
        </p:nvPicPr>
        <p:blipFill>
          <a:blip r:embed="rId3"/>
          <a:stretch>
            <a:fillRect/>
          </a:stretch>
        </p:blipFill>
        <p:spPr>
          <a:xfrm>
            <a:off x="685800" y="4297680"/>
            <a:ext cx="228600" cy="228600"/>
          </a:xfrm>
          <a:prstGeom prst="rect">
            <a:avLst/>
          </a:prstGeom>
        </p:spPr>
      </p:pic>
      <p:sp>
        <p:nvSpPr>
          <p:cNvPr id="18" name="Text 15"/>
          <p:cNvSpPr/>
          <p:nvPr/>
        </p:nvSpPr>
        <p:spPr>
          <a:xfrm>
            <a:off x="1188720" y="4133088"/>
            <a:ext cx="2862072" cy="320040"/>
          </a:xfrm>
          <a:prstGeom prst="rect">
            <a:avLst/>
          </a:prstGeom>
          <a:noFill/>
          <a:ln/>
        </p:spPr>
        <p:txBody>
          <a:bodyPr wrap="square" lIns="0" tIns="0" rIns="0" bIns="0" rtlCol="0" anchor="ctr"/>
          <a:lstStyle/>
          <a:p>
            <a:pPr marL="0" indent="0">
              <a:buNone/>
            </a:pPr>
            <a:r>
              <a:rPr lang="en-US" sz="1350" b="1" dirty="0">
                <a:solidFill>
                  <a:srgbClr val="FFFFFF"/>
                </a:solidFill>
                <a:latin typeface="Arial" pitchFamily="34" charset="0"/>
                <a:ea typeface="Arial" pitchFamily="34" charset="-122"/>
                <a:cs typeface="Arial" pitchFamily="34" charset="-120"/>
              </a:rPr>
              <a:t>Financial losses</a:t>
            </a:r>
            <a:endParaRPr lang="en-US" sz="1350" dirty="0"/>
          </a:p>
        </p:txBody>
      </p:sp>
      <p:sp>
        <p:nvSpPr>
          <p:cNvPr id="19" name="Text 16"/>
          <p:cNvSpPr/>
          <p:nvPr/>
        </p:nvSpPr>
        <p:spPr>
          <a:xfrm>
            <a:off x="1188720" y="4434840"/>
            <a:ext cx="2862072" cy="457200"/>
          </a:xfrm>
          <a:prstGeom prst="rect">
            <a:avLst/>
          </a:prstGeom>
          <a:noFill/>
          <a:ln/>
        </p:spPr>
        <p:txBody>
          <a:bodyPr wrap="square" lIns="0" tIns="0" rIns="0" bIns="0" rtlCol="0" anchor="ctr"/>
          <a:lstStyle/>
          <a:p>
            <a:pPr marL="0" indent="0">
              <a:buNone/>
            </a:pPr>
            <a:r>
              <a:rPr lang="en-US" sz="1050" dirty="0">
                <a:solidFill>
                  <a:srgbClr val="9FB3C8"/>
                </a:solidFill>
                <a:latin typeface="Calibri" pitchFamily="34" charset="0"/>
                <a:ea typeface="Calibri" pitchFamily="34" charset="-122"/>
                <a:cs typeface="Calibri" pitchFamily="34" charset="-120"/>
              </a:rPr>
              <a:t>Wire fraud, stolen funds, recovery costs</a:t>
            </a:r>
            <a:endParaRPr lang="en-US" sz="1050" dirty="0"/>
          </a:p>
        </p:txBody>
      </p:sp>
      <p:sp>
        <p:nvSpPr>
          <p:cNvPr id="20" name="Shape 17"/>
          <p:cNvSpPr/>
          <p:nvPr/>
        </p:nvSpPr>
        <p:spPr>
          <a:xfrm>
            <a:off x="4169664" y="4160520"/>
            <a:ext cx="502920" cy="502920"/>
          </a:xfrm>
          <a:prstGeom prst="ellipse">
            <a:avLst/>
          </a:prstGeom>
          <a:solidFill>
            <a:srgbClr val="132A4C"/>
          </a:solidFill>
          <a:ln w="15875">
            <a:solidFill>
              <a:srgbClr val="22D3EE"/>
            </a:solidFill>
            <a:prstDash val="solid"/>
          </a:ln>
        </p:spPr>
      </p:sp>
      <p:pic>
        <p:nvPicPr>
          <p:cNvPr id="21" name="Image 1" descr="/home/claude/phishing/icons/userx.png"/>
          <p:cNvPicPr>
            <a:picLocks noChangeAspect="1"/>
          </p:cNvPicPr>
          <p:nvPr/>
        </p:nvPicPr>
        <p:blipFill>
          <a:blip r:embed="rId4"/>
          <a:stretch>
            <a:fillRect/>
          </a:stretch>
        </p:blipFill>
        <p:spPr>
          <a:xfrm>
            <a:off x="4306824" y="4297680"/>
            <a:ext cx="228600" cy="228600"/>
          </a:xfrm>
          <a:prstGeom prst="rect">
            <a:avLst/>
          </a:prstGeom>
        </p:spPr>
      </p:pic>
      <p:sp>
        <p:nvSpPr>
          <p:cNvPr id="22" name="Text 18"/>
          <p:cNvSpPr/>
          <p:nvPr/>
        </p:nvSpPr>
        <p:spPr>
          <a:xfrm>
            <a:off x="4809744" y="4133088"/>
            <a:ext cx="2862072" cy="320040"/>
          </a:xfrm>
          <a:prstGeom prst="rect">
            <a:avLst/>
          </a:prstGeom>
          <a:noFill/>
          <a:ln/>
        </p:spPr>
        <p:txBody>
          <a:bodyPr wrap="square" lIns="0" tIns="0" rIns="0" bIns="0" rtlCol="0" anchor="ctr"/>
          <a:lstStyle/>
          <a:p>
            <a:pPr marL="0" indent="0">
              <a:buNone/>
            </a:pPr>
            <a:r>
              <a:rPr lang="en-US" sz="1350" b="1" dirty="0">
                <a:solidFill>
                  <a:srgbClr val="FFFFFF"/>
                </a:solidFill>
                <a:latin typeface="Arial" pitchFamily="34" charset="0"/>
                <a:ea typeface="Arial" pitchFamily="34" charset="-122"/>
                <a:cs typeface="Arial" pitchFamily="34" charset="-120"/>
              </a:rPr>
              <a:t>Identity theft</a:t>
            </a:r>
            <a:endParaRPr lang="en-US" sz="1350" dirty="0"/>
          </a:p>
        </p:txBody>
      </p:sp>
      <p:sp>
        <p:nvSpPr>
          <p:cNvPr id="23" name="Text 19"/>
          <p:cNvSpPr/>
          <p:nvPr/>
        </p:nvSpPr>
        <p:spPr>
          <a:xfrm>
            <a:off x="4809744" y="4434840"/>
            <a:ext cx="2862072" cy="457200"/>
          </a:xfrm>
          <a:prstGeom prst="rect">
            <a:avLst/>
          </a:prstGeom>
          <a:noFill/>
          <a:ln/>
        </p:spPr>
        <p:txBody>
          <a:bodyPr wrap="square" lIns="0" tIns="0" rIns="0" bIns="0" rtlCol="0" anchor="ctr"/>
          <a:lstStyle/>
          <a:p>
            <a:pPr marL="0" indent="0">
              <a:buNone/>
            </a:pPr>
            <a:r>
              <a:rPr lang="en-US" sz="1050" dirty="0">
                <a:solidFill>
                  <a:srgbClr val="9FB3C8"/>
                </a:solidFill>
                <a:latin typeface="Calibri" pitchFamily="34" charset="0"/>
                <a:ea typeface="Calibri" pitchFamily="34" charset="-122"/>
                <a:cs typeface="Calibri" pitchFamily="34" charset="-120"/>
              </a:rPr>
              <a:t>Stolen credentials used across accounts</a:t>
            </a:r>
            <a:endParaRPr lang="en-US" sz="1050" dirty="0"/>
          </a:p>
        </p:txBody>
      </p:sp>
      <p:sp>
        <p:nvSpPr>
          <p:cNvPr id="24" name="Shape 20"/>
          <p:cNvSpPr/>
          <p:nvPr/>
        </p:nvSpPr>
        <p:spPr>
          <a:xfrm>
            <a:off x="7790688" y="4160520"/>
            <a:ext cx="502920" cy="502920"/>
          </a:xfrm>
          <a:prstGeom prst="ellipse">
            <a:avLst/>
          </a:prstGeom>
          <a:solidFill>
            <a:srgbClr val="132A4C"/>
          </a:solidFill>
          <a:ln w="15875">
            <a:solidFill>
              <a:srgbClr val="22D3EE"/>
            </a:solidFill>
            <a:prstDash val="solid"/>
          </a:ln>
        </p:spPr>
      </p:sp>
      <p:pic>
        <p:nvPicPr>
          <p:cNvPr id="25" name="Image 2" descr="/home/claude/phishing/icons/trenddown.png"/>
          <p:cNvPicPr>
            <a:picLocks noChangeAspect="1"/>
          </p:cNvPicPr>
          <p:nvPr/>
        </p:nvPicPr>
        <p:blipFill>
          <a:blip r:embed="rId5"/>
          <a:stretch>
            <a:fillRect/>
          </a:stretch>
        </p:blipFill>
        <p:spPr>
          <a:xfrm>
            <a:off x="7927848" y="4297680"/>
            <a:ext cx="228600" cy="228600"/>
          </a:xfrm>
          <a:prstGeom prst="rect">
            <a:avLst/>
          </a:prstGeom>
        </p:spPr>
      </p:pic>
      <p:sp>
        <p:nvSpPr>
          <p:cNvPr id="26" name="Text 21"/>
          <p:cNvSpPr/>
          <p:nvPr/>
        </p:nvSpPr>
        <p:spPr>
          <a:xfrm>
            <a:off x="8430768" y="4133088"/>
            <a:ext cx="2862072" cy="320040"/>
          </a:xfrm>
          <a:prstGeom prst="rect">
            <a:avLst/>
          </a:prstGeom>
          <a:noFill/>
          <a:ln/>
        </p:spPr>
        <p:txBody>
          <a:bodyPr wrap="square" lIns="0" tIns="0" rIns="0" bIns="0" rtlCol="0" anchor="ctr"/>
          <a:lstStyle/>
          <a:p>
            <a:pPr marL="0" indent="0">
              <a:buNone/>
            </a:pPr>
            <a:r>
              <a:rPr lang="en-US" sz="1350" b="1" dirty="0">
                <a:solidFill>
                  <a:srgbClr val="FFFFFF"/>
                </a:solidFill>
                <a:latin typeface="Arial" pitchFamily="34" charset="0"/>
                <a:ea typeface="Arial" pitchFamily="34" charset="-122"/>
                <a:cs typeface="Arial" pitchFamily="34" charset="-120"/>
              </a:rPr>
              <a:t>Business impact</a:t>
            </a:r>
            <a:endParaRPr lang="en-US" sz="1350" dirty="0"/>
          </a:p>
        </p:txBody>
      </p:sp>
      <p:sp>
        <p:nvSpPr>
          <p:cNvPr id="27" name="Text 22"/>
          <p:cNvSpPr/>
          <p:nvPr/>
        </p:nvSpPr>
        <p:spPr>
          <a:xfrm>
            <a:off x="8430768" y="4434840"/>
            <a:ext cx="2862072" cy="457200"/>
          </a:xfrm>
          <a:prstGeom prst="rect">
            <a:avLst/>
          </a:prstGeom>
          <a:noFill/>
          <a:ln/>
        </p:spPr>
        <p:txBody>
          <a:bodyPr wrap="square" lIns="0" tIns="0" rIns="0" bIns="0" rtlCol="0" anchor="ctr"/>
          <a:lstStyle/>
          <a:p>
            <a:pPr marL="0" indent="0">
              <a:buNone/>
            </a:pPr>
            <a:r>
              <a:rPr lang="en-US" sz="1050" dirty="0">
                <a:solidFill>
                  <a:srgbClr val="9FB3C8"/>
                </a:solidFill>
                <a:latin typeface="Calibri" pitchFamily="34" charset="0"/>
                <a:ea typeface="Calibri" pitchFamily="34" charset="-122"/>
                <a:cs typeface="Calibri" pitchFamily="34" charset="-120"/>
              </a:rPr>
              <a:t>Downtime, lost trust, legal exposure</a:t>
            </a:r>
            <a:endParaRPr lang="en-US" sz="1050" dirty="0"/>
          </a:p>
        </p:txBody>
      </p:sp>
      <p:sp>
        <p:nvSpPr>
          <p:cNvPr id="28" name="Text 23"/>
          <p:cNvSpPr/>
          <p:nvPr/>
        </p:nvSpPr>
        <p:spPr>
          <a:xfrm>
            <a:off x="11155680" y="6473952"/>
            <a:ext cx="822960" cy="274320"/>
          </a:xfrm>
          <a:prstGeom prst="rect">
            <a:avLst/>
          </a:prstGeom>
          <a:noFill/>
          <a:ln/>
        </p:spPr>
        <p:txBody>
          <a:bodyPr wrap="square" lIns="0" tIns="0" rIns="0" bIns="0" rtlCol="0" anchor="ctr"/>
          <a:lstStyle/>
          <a:p>
            <a:pPr marL="0" indent="0" algn="r">
              <a:buNone/>
            </a:pPr>
            <a:r>
              <a:rPr lang="en-US" sz="900" dirty="0">
                <a:solidFill>
                  <a:srgbClr val="9FB3C8"/>
                </a:solidFill>
                <a:latin typeface="Calibri" pitchFamily="34" charset="0"/>
                <a:ea typeface="Calibri" pitchFamily="34" charset="-122"/>
                <a:cs typeface="Calibri" pitchFamily="34" charset="-120"/>
              </a:rPr>
              <a:t>04 / 16</a:t>
            </a:r>
            <a:endParaRPr lang="en-US" sz="900" dirty="0"/>
          </a:p>
        </p:txBody>
      </p:sp>
      <p:sp>
        <p:nvSpPr>
          <p:cNvPr id="29" name="Text 24"/>
          <p:cNvSpPr/>
          <p:nvPr/>
        </p:nvSpPr>
        <p:spPr>
          <a:xfrm>
            <a:off x="548640" y="6473952"/>
            <a:ext cx="5486400" cy="274320"/>
          </a:xfrm>
          <a:prstGeom prst="rect">
            <a:avLst/>
          </a:prstGeom>
          <a:noFill/>
          <a:ln/>
        </p:spPr>
        <p:txBody>
          <a:bodyPr wrap="square" lIns="0" tIns="0" rIns="0" bIns="0" rtlCol="0" anchor="ctr"/>
          <a:lstStyle/>
          <a:p>
            <a:pPr marL="0" indent="0">
              <a:buNone/>
            </a:pPr>
            <a:r>
              <a:rPr lang="en-US" sz="900" kern="0" spc="100" dirty="0">
                <a:solidFill>
                  <a:srgbClr val="9FB3C8"/>
                </a:solidFill>
                <a:latin typeface="Calibri" pitchFamily="34" charset="0"/>
                <a:ea typeface="Calibri" pitchFamily="34" charset="-122"/>
                <a:cs typeface="Calibri" pitchFamily="34" charset="-120"/>
              </a:rPr>
              <a:t>PHISHING AWARENESS TRAINING</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bg>
      <p:bgPr>
        <a:solidFill>
          <a:srgbClr val="0A1628"/>
        </a:solidFill>
        <a:effectLst/>
      </p:bgPr>
    </p:bg>
    <p:spTree>
      <p:nvGrpSpPr>
        <p:cNvPr id="1" name=""/>
        <p:cNvGrpSpPr/>
        <p:nvPr/>
      </p:nvGrpSpPr>
      <p:grpSpPr>
        <a:xfrm>
          <a:off x="0" y="0"/>
          <a:ext cx="0" cy="0"/>
          <a:chOff x="0" y="0"/>
          <a:chExt cx="0" cy="0"/>
        </a:xfrm>
      </p:grpSpPr>
      <p:sp>
        <p:nvSpPr>
          <p:cNvPr id="2" name="Text 0"/>
          <p:cNvSpPr/>
          <p:nvPr/>
        </p:nvSpPr>
        <p:spPr>
          <a:xfrm>
            <a:off x="548640" y="320040"/>
            <a:ext cx="7315200" cy="320040"/>
          </a:xfrm>
          <a:prstGeom prst="rect">
            <a:avLst/>
          </a:prstGeom>
          <a:noFill/>
          <a:ln/>
        </p:spPr>
        <p:txBody>
          <a:bodyPr wrap="square" lIns="0" tIns="0" rIns="0" bIns="0" rtlCol="0" anchor="ctr"/>
          <a:lstStyle/>
          <a:p>
            <a:pPr marL="0" indent="0">
              <a:buNone/>
            </a:pPr>
            <a:r>
              <a:rPr lang="en-US" sz="1200" b="1" kern="0" spc="200" dirty="0">
                <a:solidFill>
                  <a:srgbClr val="22D3EE"/>
                </a:solidFill>
                <a:latin typeface="Arial" pitchFamily="34" charset="0"/>
                <a:ea typeface="Arial" pitchFamily="34" charset="-122"/>
                <a:cs typeface="Arial" pitchFamily="34" charset="-120"/>
              </a:rPr>
              <a:t>KNOW YOUR ENEMY</a:t>
            </a:r>
            <a:endParaRPr lang="en-US" sz="1200" dirty="0"/>
          </a:p>
        </p:txBody>
      </p:sp>
      <p:sp>
        <p:nvSpPr>
          <p:cNvPr id="3" name="Text 1"/>
          <p:cNvSpPr/>
          <p:nvPr/>
        </p:nvSpPr>
        <p:spPr>
          <a:xfrm>
            <a:off x="548640" y="621792"/>
            <a:ext cx="10789920" cy="685800"/>
          </a:xfrm>
          <a:prstGeom prst="rect">
            <a:avLst/>
          </a:prstGeom>
          <a:noFill/>
          <a:ln/>
        </p:spPr>
        <p:txBody>
          <a:bodyPr wrap="square" lIns="0" tIns="0" rIns="0" bIns="0" rtlCol="0" anchor="ctr"/>
          <a:lstStyle/>
          <a:p>
            <a:pPr marL="0" indent="0">
              <a:buNone/>
            </a:pPr>
            <a:r>
              <a:rPr lang="en-US" sz="3200" b="1" dirty="0">
                <a:solidFill>
                  <a:srgbClr val="FFFFFF"/>
                </a:solidFill>
                <a:latin typeface="Arial" pitchFamily="34" charset="0"/>
                <a:ea typeface="Arial" pitchFamily="34" charset="-122"/>
                <a:cs typeface="Arial" pitchFamily="34" charset="-120"/>
              </a:rPr>
              <a:t>Types of Phishing</a:t>
            </a:r>
            <a:endParaRPr lang="en-US" sz="3200" dirty="0"/>
          </a:p>
        </p:txBody>
      </p:sp>
      <p:sp>
        <p:nvSpPr>
          <p:cNvPr id="4" name="Shape 2"/>
          <p:cNvSpPr/>
          <p:nvPr/>
        </p:nvSpPr>
        <p:spPr>
          <a:xfrm>
            <a:off x="548640" y="1874520"/>
            <a:ext cx="2084832" cy="3977640"/>
          </a:xfrm>
          <a:prstGeom prst="roundRect">
            <a:avLst>
              <a:gd name="adj" fmla="val 3509"/>
            </a:avLst>
          </a:prstGeom>
          <a:solidFill>
            <a:srgbClr val="10233F"/>
          </a:solidFill>
          <a:ln w="9525">
            <a:solidFill>
              <a:srgbClr val="1D3A63"/>
            </a:solidFill>
            <a:prstDash val="solid"/>
          </a:ln>
          <a:effectLst>
            <a:outerShdw blurRad="76200" dist="38100" dir="5400000" algn="bl" rotWithShape="0">
              <a:srgbClr val="000000">
                <a:alpha val="35000"/>
              </a:srgbClr>
            </a:outerShdw>
          </a:effectLst>
        </p:spPr>
      </p:sp>
      <p:sp>
        <p:nvSpPr>
          <p:cNvPr id="5" name="Shape 3"/>
          <p:cNvSpPr/>
          <p:nvPr/>
        </p:nvSpPr>
        <p:spPr>
          <a:xfrm>
            <a:off x="1307592" y="2194560"/>
            <a:ext cx="566928" cy="566928"/>
          </a:xfrm>
          <a:prstGeom prst="ellipse">
            <a:avLst/>
          </a:prstGeom>
          <a:solidFill>
            <a:srgbClr val="132A4C"/>
          </a:solidFill>
          <a:ln w="15875">
            <a:solidFill>
              <a:srgbClr val="22D3EE"/>
            </a:solidFill>
            <a:prstDash val="solid"/>
          </a:ln>
        </p:spPr>
      </p:sp>
      <p:pic>
        <p:nvPicPr>
          <p:cNvPr id="6" name="Image 0" descr="/home/claude/phishing/icons/mail.png"/>
          <p:cNvPicPr>
            <a:picLocks noChangeAspect="1"/>
          </p:cNvPicPr>
          <p:nvPr/>
        </p:nvPicPr>
        <p:blipFill>
          <a:blip r:embed="rId3"/>
          <a:stretch>
            <a:fillRect/>
          </a:stretch>
        </p:blipFill>
        <p:spPr>
          <a:xfrm>
            <a:off x="1444752" y="2331720"/>
            <a:ext cx="292608" cy="292608"/>
          </a:xfrm>
          <a:prstGeom prst="rect">
            <a:avLst/>
          </a:prstGeom>
        </p:spPr>
      </p:pic>
      <p:sp>
        <p:nvSpPr>
          <p:cNvPr id="7" name="Text 4"/>
          <p:cNvSpPr/>
          <p:nvPr/>
        </p:nvSpPr>
        <p:spPr>
          <a:xfrm>
            <a:off x="640080" y="2971800"/>
            <a:ext cx="1901952" cy="548640"/>
          </a:xfrm>
          <a:prstGeom prst="rect">
            <a:avLst/>
          </a:prstGeom>
          <a:noFill/>
          <a:ln/>
        </p:spPr>
        <p:txBody>
          <a:bodyPr wrap="square" lIns="0" tIns="0" rIns="0" bIns="0" rtlCol="0" anchor="ctr"/>
          <a:lstStyle/>
          <a:p>
            <a:pPr marL="0" indent="0" algn="ctr">
              <a:buNone/>
            </a:pPr>
            <a:r>
              <a:rPr lang="en-US" sz="1350" b="1" dirty="0">
                <a:solidFill>
                  <a:srgbClr val="FFFFFF"/>
                </a:solidFill>
                <a:latin typeface="Arial" pitchFamily="34" charset="0"/>
                <a:ea typeface="Arial" pitchFamily="34" charset="-122"/>
                <a:cs typeface="Arial" pitchFamily="34" charset="-120"/>
              </a:rPr>
              <a:t>Email Phishing</a:t>
            </a:r>
            <a:endParaRPr lang="en-US" sz="1350" dirty="0"/>
          </a:p>
        </p:txBody>
      </p:sp>
      <p:sp>
        <p:nvSpPr>
          <p:cNvPr id="8" name="Text 5"/>
          <p:cNvSpPr/>
          <p:nvPr/>
        </p:nvSpPr>
        <p:spPr>
          <a:xfrm>
            <a:off x="713232" y="3566160"/>
            <a:ext cx="1755648" cy="2103120"/>
          </a:xfrm>
          <a:prstGeom prst="rect">
            <a:avLst/>
          </a:prstGeom>
          <a:noFill/>
          <a:ln/>
        </p:spPr>
        <p:txBody>
          <a:bodyPr wrap="square" lIns="0" tIns="0" rIns="0" bIns="0" rtlCol="0" anchor="ctr"/>
          <a:lstStyle/>
          <a:p>
            <a:pPr marL="0" indent="0" algn="ctr">
              <a:buNone/>
            </a:pPr>
            <a:r>
              <a:rPr lang="en-US" sz="1050" dirty="0">
                <a:solidFill>
                  <a:srgbClr val="9FB3C8"/>
                </a:solidFill>
                <a:latin typeface="Calibri" pitchFamily="34" charset="0"/>
                <a:ea typeface="Calibri" pitchFamily="34" charset="-122"/>
                <a:cs typeface="Calibri" pitchFamily="34" charset="-120"/>
              </a:rPr>
              <a:t>Mass fake emails sent to as many people as possible</a:t>
            </a:r>
            <a:endParaRPr lang="en-US" sz="1050" dirty="0"/>
          </a:p>
        </p:txBody>
      </p:sp>
      <p:sp>
        <p:nvSpPr>
          <p:cNvPr id="9" name="Shape 6"/>
          <p:cNvSpPr/>
          <p:nvPr/>
        </p:nvSpPr>
        <p:spPr>
          <a:xfrm>
            <a:off x="2816352" y="1874520"/>
            <a:ext cx="2084832" cy="3977640"/>
          </a:xfrm>
          <a:prstGeom prst="roundRect">
            <a:avLst>
              <a:gd name="adj" fmla="val 3509"/>
            </a:avLst>
          </a:prstGeom>
          <a:solidFill>
            <a:srgbClr val="10233F"/>
          </a:solidFill>
          <a:ln w="9525">
            <a:solidFill>
              <a:srgbClr val="1D3A63"/>
            </a:solidFill>
            <a:prstDash val="solid"/>
          </a:ln>
          <a:effectLst>
            <a:outerShdw blurRad="76200" dist="38100" dir="5400000" algn="bl" rotWithShape="0">
              <a:srgbClr val="000000">
                <a:alpha val="35000"/>
              </a:srgbClr>
            </a:outerShdw>
          </a:effectLst>
        </p:spPr>
      </p:sp>
      <p:sp>
        <p:nvSpPr>
          <p:cNvPr id="10" name="Shape 7"/>
          <p:cNvSpPr/>
          <p:nvPr/>
        </p:nvSpPr>
        <p:spPr>
          <a:xfrm>
            <a:off x="3575304" y="2194560"/>
            <a:ext cx="566928" cy="566928"/>
          </a:xfrm>
          <a:prstGeom prst="ellipse">
            <a:avLst/>
          </a:prstGeom>
          <a:solidFill>
            <a:srgbClr val="132A4C"/>
          </a:solidFill>
          <a:ln w="15875">
            <a:solidFill>
              <a:srgbClr val="22D3EE"/>
            </a:solidFill>
            <a:prstDash val="solid"/>
          </a:ln>
        </p:spPr>
      </p:sp>
      <p:pic>
        <p:nvPicPr>
          <p:cNvPr id="11" name="Image 1" descr="/home/claude/phishing/icons/crosshair.png"/>
          <p:cNvPicPr>
            <a:picLocks noChangeAspect="1"/>
          </p:cNvPicPr>
          <p:nvPr/>
        </p:nvPicPr>
        <p:blipFill>
          <a:blip r:embed="rId4"/>
          <a:stretch>
            <a:fillRect/>
          </a:stretch>
        </p:blipFill>
        <p:spPr>
          <a:xfrm>
            <a:off x="3712464" y="2331720"/>
            <a:ext cx="292608" cy="292608"/>
          </a:xfrm>
          <a:prstGeom prst="rect">
            <a:avLst/>
          </a:prstGeom>
        </p:spPr>
      </p:pic>
      <p:sp>
        <p:nvSpPr>
          <p:cNvPr id="12" name="Text 8"/>
          <p:cNvSpPr/>
          <p:nvPr/>
        </p:nvSpPr>
        <p:spPr>
          <a:xfrm>
            <a:off x="2907792" y="2971800"/>
            <a:ext cx="1901952" cy="548640"/>
          </a:xfrm>
          <a:prstGeom prst="rect">
            <a:avLst/>
          </a:prstGeom>
          <a:noFill/>
          <a:ln/>
        </p:spPr>
        <p:txBody>
          <a:bodyPr wrap="square" lIns="0" tIns="0" rIns="0" bIns="0" rtlCol="0" anchor="ctr"/>
          <a:lstStyle/>
          <a:p>
            <a:pPr marL="0" indent="0" algn="ctr">
              <a:buNone/>
            </a:pPr>
            <a:r>
              <a:rPr lang="en-US" sz="1350" b="1" dirty="0">
                <a:solidFill>
                  <a:srgbClr val="FFFFFF"/>
                </a:solidFill>
                <a:latin typeface="Arial" pitchFamily="34" charset="0"/>
                <a:ea typeface="Arial" pitchFamily="34" charset="-122"/>
                <a:cs typeface="Arial" pitchFamily="34" charset="-120"/>
              </a:rPr>
              <a:t>Spear Phishing</a:t>
            </a:r>
            <a:endParaRPr lang="en-US" sz="1350" dirty="0"/>
          </a:p>
        </p:txBody>
      </p:sp>
      <p:sp>
        <p:nvSpPr>
          <p:cNvPr id="13" name="Text 9"/>
          <p:cNvSpPr/>
          <p:nvPr/>
        </p:nvSpPr>
        <p:spPr>
          <a:xfrm>
            <a:off x="2980944" y="3566160"/>
            <a:ext cx="1755648" cy="2103120"/>
          </a:xfrm>
          <a:prstGeom prst="rect">
            <a:avLst/>
          </a:prstGeom>
          <a:noFill/>
          <a:ln/>
        </p:spPr>
        <p:txBody>
          <a:bodyPr wrap="square" lIns="0" tIns="0" rIns="0" bIns="0" rtlCol="0" anchor="ctr"/>
          <a:lstStyle/>
          <a:p>
            <a:pPr marL="0" indent="0" algn="ctr">
              <a:buNone/>
            </a:pPr>
            <a:r>
              <a:rPr lang="en-US" sz="1050" dirty="0">
                <a:solidFill>
                  <a:srgbClr val="9FB3C8"/>
                </a:solidFill>
                <a:latin typeface="Calibri" pitchFamily="34" charset="0"/>
                <a:ea typeface="Calibri" pitchFamily="34" charset="-122"/>
                <a:cs typeface="Calibri" pitchFamily="34" charset="-120"/>
              </a:rPr>
              <a:t>Targeted at one person using personal details</a:t>
            </a:r>
            <a:endParaRPr lang="en-US" sz="1050" dirty="0"/>
          </a:p>
        </p:txBody>
      </p:sp>
      <p:sp>
        <p:nvSpPr>
          <p:cNvPr id="14" name="Shape 10"/>
          <p:cNvSpPr/>
          <p:nvPr/>
        </p:nvSpPr>
        <p:spPr>
          <a:xfrm>
            <a:off x="5084064" y="1874520"/>
            <a:ext cx="2084832" cy="3977640"/>
          </a:xfrm>
          <a:prstGeom prst="roundRect">
            <a:avLst>
              <a:gd name="adj" fmla="val 3509"/>
            </a:avLst>
          </a:prstGeom>
          <a:solidFill>
            <a:srgbClr val="10233F"/>
          </a:solidFill>
          <a:ln w="9525">
            <a:solidFill>
              <a:srgbClr val="1D3A63"/>
            </a:solidFill>
            <a:prstDash val="solid"/>
          </a:ln>
          <a:effectLst>
            <a:outerShdw blurRad="76200" dist="38100" dir="5400000" algn="bl" rotWithShape="0">
              <a:srgbClr val="000000">
                <a:alpha val="35000"/>
              </a:srgbClr>
            </a:outerShdw>
          </a:effectLst>
        </p:spPr>
      </p:sp>
      <p:sp>
        <p:nvSpPr>
          <p:cNvPr id="15" name="Shape 11"/>
          <p:cNvSpPr/>
          <p:nvPr/>
        </p:nvSpPr>
        <p:spPr>
          <a:xfrm>
            <a:off x="5843016" y="2194560"/>
            <a:ext cx="566928" cy="566928"/>
          </a:xfrm>
          <a:prstGeom prst="ellipse">
            <a:avLst/>
          </a:prstGeom>
          <a:solidFill>
            <a:srgbClr val="132A4C"/>
          </a:solidFill>
          <a:ln w="15875">
            <a:solidFill>
              <a:srgbClr val="22D3EE"/>
            </a:solidFill>
            <a:prstDash val="solid"/>
          </a:ln>
        </p:spPr>
      </p:sp>
      <p:pic>
        <p:nvPicPr>
          <p:cNvPr id="16" name="Image 2" descr="/home/claude/phishing/icons/award.png"/>
          <p:cNvPicPr>
            <a:picLocks noChangeAspect="1"/>
          </p:cNvPicPr>
          <p:nvPr/>
        </p:nvPicPr>
        <p:blipFill>
          <a:blip r:embed="rId5"/>
          <a:stretch>
            <a:fillRect/>
          </a:stretch>
        </p:blipFill>
        <p:spPr>
          <a:xfrm>
            <a:off x="5980176" y="2331720"/>
            <a:ext cx="292608" cy="292608"/>
          </a:xfrm>
          <a:prstGeom prst="rect">
            <a:avLst/>
          </a:prstGeom>
        </p:spPr>
      </p:pic>
      <p:sp>
        <p:nvSpPr>
          <p:cNvPr id="17" name="Text 12"/>
          <p:cNvSpPr/>
          <p:nvPr/>
        </p:nvSpPr>
        <p:spPr>
          <a:xfrm>
            <a:off x="5175504" y="2971800"/>
            <a:ext cx="1901952" cy="548640"/>
          </a:xfrm>
          <a:prstGeom prst="rect">
            <a:avLst/>
          </a:prstGeom>
          <a:noFill/>
          <a:ln/>
        </p:spPr>
        <p:txBody>
          <a:bodyPr wrap="square" lIns="0" tIns="0" rIns="0" bIns="0" rtlCol="0" anchor="ctr"/>
          <a:lstStyle/>
          <a:p>
            <a:pPr marL="0" indent="0" algn="ctr">
              <a:buNone/>
            </a:pPr>
            <a:r>
              <a:rPr lang="en-US" sz="1350" b="1" dirty="0">
                <a:solidFill>
                  <a:srgbClr val="FFFFFF"/>
                </a:solidFill>
                <a:latin typeface="Arial" pitchFamily="34" charset="0"/>
                <a:ea typeface="Arial" pitchFamily="34" charset="-122"/>
                <a:cs typeface="Arial" pitchFamily="34" charset="-120"/>
              </a:rPr>
              <a:t>Whaling</a:t>
            </a:r>
            <a:endParaRPr lang="en-US" sz="1350" dirty="0"/>
          </a:p>
        </p:txBody>
      </p:sp>
      <p:sp>
        <p:nvSpPr>
          <p:cNvPr id="18" name="Text 13"/>
          <p:cNvSpPr/>
          <p:nvPr/>
        </p:nvSpPr>
        <p:spPr>
          <a:xfrm>
            <a:off x="5248656" y="3566160"/>
            <a:ext cx="1755648" cy="2103120"/>
          </a:xfrm>
          <a:prstGeom prst="rect">
            <a:avLst/>
          </a:prstGeom>
          <a:noFill/>
          <a:ln/>
        </p:spPr>
        <p:txBody>
          <a:bodyPr wrap="square" lIns="0" tIns="0" rIns="0" bIns="0" rtlCol="0" anchor="ctr"/>
          <a:lstStyle/>
          <a:p>
            <a:pPr marL="0" indent="0" algn="ctr">
              <a:buNone/>
            </a:pPr>
            <a:r>
              <a:rPr lang="en-US" sz="1050" dirty="0">
                <a:solidFill>
                  <a:srgbClr val="9FB3C8"/>
                </a:solidFill>
                <a:latin typeface="Calibri" pitchFamily="34" charset="0"/>
                <a:ea typeface="Calibri" pitchFamily="34" charset="-122"/>
                <a:cs typeface="Calibri" pitchFamily="34" charset="-120"/>
              </a:rPr>
              <a:t>Targets executives — the "big fish" of a company</a:t>
            </a:r>
            <a:endParaRPr lang="en-US" sz="1050" dirty="0"/>
          </a:p>
        </p:txBody>
      </p:sp>
      <p:sp>
        <p:nvSpPr>
          <p:cNvPr id="19" name="Shape 14"/>
          <p:cNvSpPr/>
          <p:nvPr/>
        </p:nvSpPr>
        <p:spPr>
          <a:xfrm>
            <a:off x="7351776" y="1874520"/>
            <a:ext cx="2084832" cy="3977640"/>
          </a:xfrm>
          <a:prstGeom prst="roundRect">
            <a:avLst>
              <a:gd name="adj" fmla="val 3509"/>
            </a:avLst>
          </a:prstGeom>
          <a:solidFill>
            <a:srgbClr val="10233F"/>
          </a:solidFill>
          <a:ln w="9525">
            <a:solidFill>
              <a:srgbClr val="1D3A63"/>
            </a:solidFill>
            <a:prstDash val="solid"/>
          </a:ln>
          <a:effectLst>
            <a:outerShdw blurRad="76200" dist="38100" dir="5400000" algn="bl" rotWithShape="0">
              <a:srgbClr val="000000">
                <a:alpha val="35000"/>
              </a:srgbClr>
            </a:outerShdw>
          </a:effectLst>
        </p:spPr>
      </p:sp>
      <p:sp>
        <p:nvSpPr>
          <p:cNvPr id="20" name="Shape 15"/>
          <p:cNvSpPr/>
          <p:nvPr/>
        </p:nvSpPr>
        <p:spPr>
          <a:xfrm>
            <a:off x="8110728" y="2194560"/>
            <a:ext cx="566928" cy="566928"/>
          </a:xfrm>
          <a:prstGeom prst="ellipse">
            <a:avLst/>
          </a:prstGeom>
          <a:solidFill>
            <a:srgbClr val="132A4C"/>
          </a:solidFill>
          <a:ln w="15875">
            <a:solidFill>
              <a:srgbClr val="22D3EE"/>
            </a:solidFill>
            <a:prstDash val="solid"/>
          </a:ln>
        </p:spPr>
      </p:sp>
      <p:pic>
        <p:nvPicPr>
          <p:cNvPr id="21" name="Image 3" descr="/home/claude/phishing/icons/smartphone.png"/>
          <p:cNvPicPr>
            <a:picLocks noChangeAspect="1"/>
          </p:cNvPicPr>
          <p:nvPr/>
        </p:nvPicPr>
        <p:blipFill>
          <a:blip r:embed="rId6"/>
          <a:stretch>
            <a:fillRect/>
          </a:stretch>
        </p:blipFill>
        <p:spPr>
          <a:xfrm>
            <a:off x="8247888" y="2331720"/>
            <a:ext cx="292608" cy="292608"/>
          </a:xfrm>
          <a:prstGeom prst="rect">
            <a:avLst/>
          </a:prstGeom>
        </p:spPr>
      </p:pic>
      <p:sp>
        <p:nvSpPr>
          <p:cNvPr id="22" name="Text 16"/>
          <p:cNvSpPr/>
          <p:nvPr/>
        </p:nvSpPr>
        <p:spPr>
          <a:xfrm>
            <a:off x="7443216" y="2971800"/>
            <a:ext cx="1901952" cy="548640"/>
          </a:xfrm>
          <a:prstGeom prst="rect">
            <a:avLst/>
          </a:prstGeom>
          <a:noFill/>
          <a:ln/>
        </p:spPr>
        <p:txBody>
          <a:bodyPr wrap="square" lIns="0" tIns="0" rIns="0" bIns="0" rtlCol="0" anchor="ctr"/>
          <a:lstStyle/>
          <a:p>
            <a:pPr marL="0" indent="0" algn="ctr">
              <a:buNone/>
            </a:pPr>
            <a:r>
              <a:rPr lang="en-US" sz="1350" b="1" dirty="0">
                <a:solidFill>
                  <a:srgbClr val="FFFFFF"/>
                </a:solidFill>
                <a:latin typeface="Arial" pitchFamily="34" charset="0"/>
                <a:ea typeface="Arial" pitchFamily="34" charset="-122"/>
                <a:cs typeface="Arial" pitchFamily="34" charset="-120"/>
              </a:rPr>
              <a:t>Smishing</a:t>
            </a:r>
            <a:endParaRPr lang="en-US" sz="1350" dirty="0"/>
          </a:p>
        </p:txBody>
      </p:sp>
      <p:sp>
        <p:nvSpPr>
          <p:cNvPr id="23" name="Text 17"/>
          <p:cNvSpPr/>
          <p:nvPr/>
        </p:nvSpPr>
        <p:spPr>
          <a:xfrm>
            <a:off x="7516368" y="3566160"/>
            <a:ext cx="1755648" cy="2103120"/>
          </a:xfrm>
          <a:prstGeom prst="rect">
            <a:avLst/>
          </a:prstGeom>
          <a:noFill/>
          <a:ln/>
        </p:spPr>
        <p:txBody>
          <a:bodyPr wrap="square" lIns="0" tIns="0" rIns="0" bIns="0" rtlCol="0" anchor="ctr"/>
          <a:lstStyle/>
          <a:p>
            <a:pPr marL="0" indent="0" algn="ctr">
              <a:buNone/>
            </a:pPr>
            <a:r>
              <a:rPr lang="en-US" sz="1050" dirty="0">
                <a:solidFill>
                  <a:srgbClr val="9FB3C8"/>
                </a:solidFill>
                <a:latin typeface="Calibri" pitchFamily="34" charset="0"/>
                <a:ea typeface="Calibri" pitchFamily="34" charset="-122"/>
                <a:cs typeface="Calibri" pitchFamily="34" charset="-120"/>
              </a:rPr>
              <a:t>Phishing sent through text messages</a:t>
            </a:r>
            <a:endParaRPr lang="en-US" sz="1050" dirty="0"/>
          </a:p>
        </p:txBody>
      </p:sp>
      <p:sp>
        <p:nvSpPr>
          <p:cNvPr id="24" name="Shape 18"/>
          <p:cNvSpPr/>
          <p:nvPr/>
        </p:nvSpPr>
        <p:spPr>
          <a:xfrm>
            <a:off x="9619488" y="1874520"/>
            <a:ext cx="2084832" cy="3977640"/>
          </a:xfrm>
          <a:prstGeom prst="roundRect">
            <a:avLst>
              <a:gd name="adj" fmla="val 3509"/>
            </a:avLst>
          </a:prstGeom>
          <a:solidFill>
            <a:srgbClr val="10233F"/>
          </a:solidFill>
          <a:ln w="9525">
            <a:solidFill>
              <a:srgbClr val="1D3A63"/>
            </a:solidFill>
            <a:prstDash val="solid"/>
          </a:ln>
          <a:effectLst>
            <a:outerShdw blurRad="76200" dist="38100" dir="5400000" algn="bl" rotWithShape="0">
              <a:srgbClr val="000000">
                <a:alpha val="35000"/>
              </a:srgbClr>
            </a:outerShdw>
          </a:effectLst>
        </p:spPr>
      </p:sp>
      <p:sp>
        <p:nvSpPr>
          <p:cNvPr id="25" name="Shape 19"/>
          <p:cNvSpPr/>
          <p:nvPr/>
        </p:nvSpPr>
        <p:spPr>
          <a:xfrm>
            <a:off x="10378440" y="2194560"/>
            <a:ext cx="566928" cy="566928"/>
          </a:xfrm>
          <a:prstGeom prst="ellipse">
            <a:avLst/>
          </a:prstGeom>
          <a:solidFill>
            <a:srgbClr val="132A4C"/>
          </a:solidFill>
          <a:ln w="15875">
            <a:solidFill>
              <a:srgbClr val="22D3EE"/>
            </a:solidFill>
            <a:prstDash val="solid"/>
          </a:ln>
        </p:spPr>
      </p:sp>
      <p:pic>
        <p:nvPicPr>
          <p:cNvPr id="26" name="Image 4" descr="/home/claude/phishing/icons/phonecall.png"/>
          <p:cNvPicPr>
            <a:picLocks noChangeAspect="1"/>
          </p:cNvPicPr>
          <p:nvPr/>
        </p:nvPicPr>
        <p:blipFill>
          <a:blip r:embed="rId7"/>
          <a:stretch>
            <a:fillRect/>
          </a:stretch>
        </p:blipFill>
        <p:spPr>
          <a:xfrm>
            <a:off x="10515600" y="2331720"/>
            <a:ext cx="292608" cy="292608"/>
          </a:xfrm>
          <a:prstGeom prst="rect">
            <a:avLst/>
          </a:prstGeom>
        </p:spPr>
      </p:pic>
      <p:sp>
        <p:nvSpPr>
          <p:cNvPr id="27" name="Text 20"/>
          <p:cNvSpPr/>
          <p:nvPr/>
        </p:nvSpPr>
        <p:spPr>
          <a:xfrm>
            <a:off x="9710928" y="2971800"/>
            <a:ext cx="1901952" cy="548640"/>
          </a:xfrm>
          <a:prstGeom prst="rect">
            <a:avLst/>
          </a:prstGeom>
          <a:noFill/>
          <a:ln/>
        </p:spPr>
        <p:txBody>
          <a:bodyPr wrap="square" lIns="0" tIns="0" rIns="0" bIns="0" rtlCol="0" anchor="ctr"/>
          <a:lstStyle/>
          <a:p>
            <a:pPr marL="0" indent="0" algn="ctr">
              <a:buNone/>
            </a:pPr>
            <a:r>
              <a:rPr lang="en-US" sz="1350" b="1" dirty="0">
                <a:solidFill>
                  <a:srgbClr val="FFFFFF"/>
                </a:solidFill>
                <a:latin typeface="Arial" pitchFamily="34" charset="0"/>
                <a:ea typeface="Arial" pitchFamily="34" charset="-122"/>
                <a:cs typeface="Arial" pitchFamily="34" charset="-120"/>
              </a:rPr>
              <a:t>Vishing</a:t>
            </a:r>
            <a:endParaRPr lang="en-US" sz="1350" dirty="0"/>
          </a:p>
        </p:txBody>
      </p:sp>
      <p:sp>
        <p:nvSpPr>
          <p:cNvPr id="28" name="Text 21"/>
          <p:cNvSpPr/>
          <p:nvPr/>
        </p:nvSpPr>
        <p:spPr>
          <a:xfrm>
            <a:off x="9784080" y="3566160"/>
            <a:ext cx="1755648" cy="2103120"/>
          </a:xfrm>
          <a:prstGeom prst="rect">
            <a:avLst/>
          </a:prstGeom>
          <a:noFill/>
          <a:ln/>
        </p:spPr>
        <p:txBody>
          <a:bodyPr wrap="square" lIns="0" tIns="0" rIns="0" bIns="0" rtlCol="0" anchor="ctr"/>
          <a:lstStyle/>
          <a:p>
            <a:pPr marL="0" indent="0" algn="ctr">
              <a:buNone/>
            </a:pPr>
            <a:r>
              <a:rPr lang="en-US" sz="1050" dirty="0">
                <a:solidFill>
                  <a:srgbClr val="9FB3C8"/>
                </a:solidFill>
                <a:latin typeface="Calibri" pitchFamily="34" charset="0"/>
                <a:ea typeface="Calibri" pitchFamily="34" charset="-122"/>
                <a:cs typeface="Calibri" pitchFamily="34" charset="-120"/>
              </a:rPr>
              <a:t>Phone calls impersonating a trusted source</a:t>
            </a:r>
            <a:endParaRPr lang="en-US" sz="1050" dirty="0"/>
          </a:p>
        </p:txBody>
      </p:sp>
      <p:sp>
        <p:nvSpPr>
          <p:cNvPr id="29" name="Text 22"/>
          <p:cNvSpPr/>
          <p:nvPr/>
        </p:nvSpPr>
        <p:spPr>
          <a:xfrm>
            <a:off x="11155680" y="6473952"/>
            <a:ext cx="822960" cy="274320"/>
          </a:xfrm>
          <a:prstGeom prst="rect">
            <a:avLst/>
          </a:prstGeom>
          <a:noFill/>
          <a:ln/>
        </p:spPr>
        <p:txBody>
          <a:bodyPr wrap="square" lIns="0" tIns="0" rIns="0" bIns="0" rtlCol="0" anchor="ctr"/>
          <a:lstStyle/>
          <a:p>
            <a:pPr marL="0" indent="0" algn="r">
              <a:buNone/>
            </a:pPr>
            <a:r>
              <a:rPr lang="en-US" sz="900" dirty="0">
                <a:solidFill>
                  <a:srgbClr val="9FB3C8"/>
                </a:solidFill>
                <a:latin typeface="Calibri" pitchFamily="34" charset="0"/>
                <a:ea typeface="Calibri" pitchFamily="34" charset="-122"/>
                <a:cs typeface="Calibri" pitchFamily="34" charset="-120"/>
              </a:rPr>
              <a:t>05 / 16</a:t>
            </a:r>
            <a:endParaRPr lang="en-US" sz="900" dirty="0"/>
          </a:p>
        </p:txBody>
      </p:sp>
      <p:sp>
        <p:nvSpPr>
          <p:cNvPr id="30" name="Text 23"/>
          <p:cNvSpPr/>
          <p:nvPr/>
        </p:nvSpPr>
        <p:spPr>
          <a:xfrm>
            <a:off x="548640" y="6473952"/>
            <a:ext cx="5486400" cy="274320"/>
          </a:xfrm>
          <a:prstGeom prst="rect">
            <a:avLst/>
          </a:prstGeom>
          <a:noFill/>
          <a:ln/>
        </p:spPr>
        <p:txBody>
          <a:bodyPr wrap="square" lIns="0" tIns="0" rIns="0" bIns="0" rtlCol="0" anchor="ctr"/>
          <a:lstStyle/>
          <a:p>
            <a:pPr marL="0" indent="0">
              <a:buNone/>
            </a:pPr>
            <a:r>
              <a:rPr lang="en-US" sz="900" kern="0" spc="100" dirty="0">
                <a:solidFill>
                  <a:srgbClr val="9FB3C8"/>
                </a:solidFill>
                <a:latin typeface="Calibri" pitchFamily="34" charset="0"/>
                <a:ea typeface="Calibri" pitchFamily="34" charset="-122"/>
                <a:cs typeface="Calibri" pitchFamily="34" charset="-120"/>
              </a:rPr>
              <a:t>PHISHING AWARENESS TRAINING</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bg>
      <p:bgPr>
        <a:solidFill>
          <a:srgbClr val="0A1628"/>
        </a:solidFill>
        <a:effectLst/>
      </p:bgPr>
    </p:bg>
    <p:spTree>
      <p:nvGrpSpPr>
        <p:cNvPr id="1" name=""/>
        <p:cNvGrpSpPr/>
        <p:nvPr/>
      </p:nvGrpSpPr>
      <p:grpSpPr>
        <a:xfrm>
          <a:off x="0" y="0"/>
          <a:ext cx="0" cy="0"/>
          <a:chOff x="0" y="0"/>
          <a:chExt cx="0" cy="0"/>
        </a:xfrm>
      </p:grpSpPr>
      <p:sp>
        <p:nvSpPr>
          <p:cNvPr id="2" name="Text 0"/>
          <p:cNvSpPr/>
          <p:nvPr/>
        </p:nvSpPr>
        <p:spPr>
          <a:xfrm>
            <a:off x="548640" y="320040"/>
            <a:ext cx="7315200" cy="320040"/>
          </a:xfrm>
          <a:prstGeom prst="rect">
            <a:avLst/>
          </a:prstGeom>
          <a:noFill/>
          <a:ln/>
        </p:spPr>
        <p:txBody>
          <a:bodyPr wrap="square" lIns="0" tIns="0" rIns="0" bIns="0" rtlCol="0" anchor="ctr"/>
          <a:lstStyle/>
          <a:p>
            <a:pPr marL="0" indent="0">
              <a:buNone/>
            </a:pPr>
            <a:r>
              <a:rPr lang="en-US" sz="1200" b="1" kern="0" spc="200" dirty="0">
                <a:solidFill>
                  <a:srgbClr val="22D3EE"/>
                </a:solidFill>
                <a:latin typeface="Arial" pitchFamily="34" charset="0"/>
                <a:ea typeface="Arial" pitchFamily="34" charset="-122"/>
                <a:cs typeface="Arial" pitchFamily="34" charset="-120"/>
              </a:rPr>
              <a:t>SPOT THE SIGNS</a:t>
            </a:r>
            <a:endParaRPr lang="en-US" sz="1200" dirty="0"/>
          </a:p>
        </p:txBody>
      </p:sp>
      <p:sp>
        <p:nvSpPr>
          <p:cNvPr id="3" name="Text 1"/>
          <p:cNvSpPr/>
          <p:nvPr/>
        </p:nvSpPr>
        <p:spPr>
          <a:xfrm>
            <a:off x="548640" y="621792"/>
            <a:ext cx="10789920" cy="685800"/>
          </a:xfrm>
          <a:prstGeom prst="rect">
            <a:avLst/>
          </a:prstGeom>
          <a:noFill/>
          <a:ln/>
        </p:spPr>
        <p:txBody>
          <a:bodyPr wrap="square" lIns="0" tIns="0" rIns="0" bIns="0" rtlCol="0" anchor="ctr"/>
          <a:lstStyle/>
          <a:p>
            <a:pPr marL="0" indent="0">
              <a:buNone/>
            </a:pPr>
            <a:r>
              <a:rPr lang="en-US" sz="3200" b="1" dirty="0">
                <a:solidFill>
                  <a:srgbClr val="FFFFFF"/>
                </a:solidFill>
                <a:latin typeface="Arial" pitchFamily="34" charset="0"/>
                <a:ea typeface="Arial" pitchFamily="34" charset="-122"/>
                <a:cs typeface="Arial" pitchFamily="34" charset="-120"/>
              </a:rPr>
              <a:t>Anatomy of a Phishing Email</a:t>
            </a:r>
            <a:endParaRPr lang="en-US" sz="3200" dirty="0"/>
          </a:p>
        </p:txBody>
      </p:sp>
      <p:sp>
        <p:nvSpPr>
          <p:cNvPr id="4" name="Shape 2"/>
          <p:cNvSpPr/>
          <p:nvPr/>
        </p:nvSpPr>
        <p:spPr>
          <a:xfrm>
            <a:off x="548640" y="1691640"/>
            <a:ext cx="6675120" cy="4343400"/>
          </a:xfrm>
          <a:prstGeom prst="roundRect">
            <a:avLst>
              <a:gd name="adj" fmla="val 1263"/>
            </a:avLst>
          </a:prstGeom>
          <a:solidFill>
            <a:srgbClr val="FFFFFF"/>
          </a:solidFill>
          <a:ln w="12700">
            <a:solidFill>
              <a:srgbClr val="1D3A63"/>
            </a:solidFill>
            <a:prstDash val="solid"/>
          </a:ln>
        </p:spPr>
      </p:sp>
      <p:sp>
        <p:nvSpPr>
          <p:cNvPr id="5" name="Shape 3"/>
          <p:cNvSpPr/>
          <p:nvPr/>
        </p:nvSpPr>
        <p:spPr>
          <a:xfrm>
            <a:off x="548640" y="1691640"/>
            <a:ext cx="6675120" cy="365760"/>
          </a:xfrm>
          <a:prstGeom prst="rect">
            <a:avLst/>
          </a:prstGeom>
          <a:solidFill>
            <a:srgbClr val="EDEFF3"/>
          </a:solidFill>
          <a:ln/>
        </p:spPr>
      </p:sp>
      <p:sp>
        <p:nvSpPr>
          <p:cNvPr id="6" name="Shape 4"/>
          <p:cNvSpPr/>
          <p:nvPr/>
        </p:nvSpPr>
        <p:spPr>
          <a:xfrm>
            <a:off x="685800" y="1819656"/>
            <a:ext cx="109728" cy="109728"/>
          </a:xfrm>
          <a:prstGeom prst="ellipse">
            <a:avLst/>
          </a:prstGeom>
          <a:solidFill>
            <a:srgbClr val="FF5F57"/>
          </a:solidFill>
          <a:ln/>
        </p:spPr>
      </p:sp>
      <p:sp>
        <p:nvSpPr>
          <p:cNvPr id="7" name="Shape 5"/>
          <p:cNvSpPr/>
          <p:nvPr/>
        </p:nvSpPr>
        <p:spPr>
          <a:xfrm>
            <a:off x="859536" y="1819656"/>
            <a:ext cx="109728" cy="109728"/>
          </a:xfrm>
          <a:prstGeom prst="ellipse">
            <a:avLst/>
          </a:prstGeom>
          <a:solidFill>
            <a:srgbClr val="FEBC2E"/>
          </a:solidFill>
          <a:ln/>
        </p:spPr>
      </p:sp>
      <p:sp>
        <p:nvSpPr>
          <p:cNvPr id="8" name="Shape 6"/>
          <p:cNvSpPr/>
          <p:nvPr/>
        </p:nvSpPr>
        <p:spPr>
          <a:xfrm>
            <a:off x="1033272" y="1819656"/>
            <a:ext cx="109728" cy="109728"/>
          </a:xfrm>
          <a:prstGeom prst="ellipse">
            <a:avLst/>
          </a:prstGeom>
          <a:solidFill>
            <a:srgbClr val="28C840"/>
          </a:solidFill>
          <a:ln/>
        </p:spPr>
      </p:sp>
      <p:sp>
        <p:nvSpPr>
          <p:cNvPr id="9" name="Text 7"/>
          <p:cNvSpPr/>
          <p:nvPr/>
        </p:nvSpPr>
        <p:spPr>
          <a:xfrm>
            <a:off x="822960" y="2194560"/>
            <a:ext cx="6126480" cy="274320"/>
          </a:xfrm>
          <a:prstGeom prst="rect">
            <a:avLst/>
          </a:prstGeom>
          <a:noFill/>
          <a:ln/>
        </p:spPr>
        <p:txBody>
          <a:bodyPr wrap="square" lIns="0" tIns="0" rIns="0" bIns="0" rtlCol="0" anchor="ctr"/>
          <a:lstStyle/>
          <a:p>
            <a:pPr marL="0" indent="0">
              <a:buNone/>
            </a:pPr>
            <a:r>
              <a:rPr lang="en-US" sz="1100" b="1" dirty="0">
                <a:solidFill>
                  <a:srgbClr val="333333"/>
                </a:solidFill>
                <a:latin typeface="Courier New" pitchFamily="34" charset="0"/>
                <a:ea typeface="Courier New" pitchFamily="34" charset="-122"/>
                <a:cs typeface="Courier New" pitchFamily="34" charset="-120"/>
              </a:rPr>
              <a:t>From: </a:t>
            </a:r>
            <a:r>
              <a:rPr lang="en-US" sz="1100" b="1" dirty="0">
                <a:solidFill>
                  <a:srgbClr val="F87171"/>
                </a:solidFill>
                <a:latin typeface="Courier New" pitchFamily="34" charset="0"/>
                <a:ea typeface="Courier New" pitchFamily="34" charset="-122"/>
                <a:cs typeface="Courier New" pitchFamily="34" charset="-120"/>
              </a:rPr>
              <a:t>IT-Support@secure-mail-alertt.com</a:t>
            </a:r>
            <a:endParaRPr lang="en-US" sz="1100" dirty="0"/>
          </a:p>
        </p:txBody>
      </p:sp>
      <p:sp>
        <p:nvSpPr>
          <p:cNvPr id="10" name="Text 8"/>
          <p:cNvSpPr/>
          <p:nvPr/>
        </p:nvSpPr>
        <p:spPr>
          <a:xfrm>
            <a:off x="822960" y="2514600"/>
            <a:ext cx="6126480" cy="274320"/>
          </a:xfrm>
          <a:prstGeom prst="rect">
            <a:avLst/>
          </a:prstGeom>
          <a:noFill/>
          <a:ln/>
        </p:spPr>
        <p:txBody>
          <a:bodyPr wrap="square" lIns="0" tIns="0" rIns="0" bIns="0" rtlCol="0" anchor="ctr"/>
          <a:lstStyle/>
          <a:p>
            <a:pPr marL="0" indent="0">
              <a:buNone/>
            </a:pPr>
            <a:r>
              <a:rPr lang="en-US" sz="1100" b="1" dirty="0">
                <a:solidFill>
                  <a:srgbClr val="333333"/>
                </a:solidFill>
                <a:latin typeface="Courier New" pitchFamily="34" charset="0"/>
                <a:ea typeface="Courier New" pitchFamily="34" charset="-122"/>
                <a:cs typeface="Courier New" pitchFamily="34" charset="-120"/>
              </a:rPr>
              <a:t>Subject: </a:t>
            </a:r>
            <a:r>
              <a:rPr lang="en-US" sz="1100" dirty="0">
                <a:solidFill>
                  <a:srgbClr val="333333"/>
                </a:solidFill>
                <a:latin typeface="Courier New" pitchFamily="34" charset="0"/>
                <a:ea typeface="Courier New" pitchFamily="34" charset="-122"/>
                <a:cs typeface="Courier New" pitchFamily="34" charset="-120"/>
              </a:rPr>
              <a:t>URGENT: Your account will be suspended in 24 hours</a:t>
            </a:r>
            <a:endParaRPr lang="en-US" sz="1100" dirty="0"/>
          </a:p>
        </p:txBody>
      </p:sp>
      <p:sp>
        <p:nvSpPr>
          <p:cNvPr id="11" name="Shape 9"/>
          <p:cNvSpPr/>
          <p:nvPr/>
        </p:nvSpPr>
        <p:spPr>
          <a:xfrm>
            <a:off x="822960" y="2880360"/>
            <a:ext cx="6126480" cy="0"/>
          </a:xfrm>
          <a:prstGeom prst="line">
            <a:avLst/>
          </a:prstGeom>
          <a:noFill/>
          <a:ln w="9525">
            <a:solidFill>
              <a:srgbClr val="DDDDDD"/>
            </a:solidFill>
            <a:prstDash val="solid"/>
          </a:ln>
        </p:spPr>
      </p:sp>
      <p:sp>
        <p:nvSpPr>
          <p:cNvPr id="12" name="Text 10"/>
          <p:cNvSpPr/>
          <p:nvPr/>
        </p:nvSpPr>
        <p:spPr>
          <a:xfrm>
            <a:off x="822960" y="3017520"/>
            <a:ext cx="6126480" cy="914400"/>
          </a:xfrm>
          <a:prstGeom prst="rect">
            <a:avLst/>
          </a:prstGeom>
          <a:noFill/>
          <a:ln/>
        </p:spPr>
        <p:txBody>
          <a:bodyPr wrap="square" lIns="0" tIns="0" rIns="0" bIns="0" rtlCol="0" anchor="ctr"/>
          <a:lstStyle/>
          <a:p>
            <a:pPr marL="0" indent="0">
              <a:buNone/>
            </a:pPr>
            <a:r>
              <a:rPr lang="en-US" sz="1100" dirty="0">
                <a:solidFill>
                  <a:srgbClr val="333333"/>
                </a:solidFill>
                <a:latin typeface="Calibri" pitchFamily="34" charset="0"/>
                <a:ea typeface="Calibri" pitchFamily="34" charset="-122"/>
                <a:cs typeface="Calibri" pitchFamily="34" charset="-120"/>
              </a:rPr>
              <a:t>Dear User,</a:t>
            </a:r>
            <a:endParaRPr lang="en-US" sz="1100" dirty="0"/>
          </a:p>
          <a:p>
            <a:pPr marL="0" indent="0">
              <a:buNone/>
            </a:pPr>
            <a:endParaRPr lang="en-US" sz="1100" dirty="0"/>
          </a:p>
          <a:p>
            <a:pPr marL="0" indent="0">
              <a:buNone/>
            </a:pPr>
            <a:r>
              <a:rPr lang="en-US" sz="1100" dirty="0">
                <a:solidFill>
                  <a:srgbClr val="333333"/>
                </a:solidFill>
                <a:latin typeface="Calibri" pitchFamily="34" charset="0"/>
                <a:ea typeface="Calibri" pitchFamily="34" charset="-122"/>
                <a:cs typeface="Calibri" pitchFamily="34" charset="-120"/>
              </a:rPr>
              <a:t>We detected unusual activity on your account. Click below immediately to verify your identity or your access will be permanently revoked.</a:t>
            </a:r>
            <a:endParaRPr lang="en-US" sz="1100" dirty="0"/>
          </a:p>
        </p:txBody>
      </p:sp>
      <p:sp>
        <p:nvSpPr>
          <p:cNvPr id="13" name="Shape 11"/>
          <p:cNvSpPr/>
          <p:nvPr/>
        </p:nvSpPr>
        <p:spPr>
          <a:xfrm>
            <a:off x="822960" y="4023360"/>
            <a:ext cx="2103120" cy="384048"/>
          </a:xfrm>
          <a:prstGeom prst="roundRect">
            <a:avLst>
              <a:gd name="adj" fmla="val 14286"/>
            </a:avLst>
          </a:prstGeom>
          <a:solidFill>
            <a:srgbClr val="2F6FED"/>
          </a:solidFill>
          <a:ln/>
        </p:spPr>
      </p:sp>
      <p:sp>
        <p:nvSpPr>
          <p:cNvPr id="14" name="Text 12"/>
          <p:cNvSpPr/>
          <p:nvPr/>
        </p:nvSpPr>
        <p:spPr>
          <a:xfrm>
            <a:off x="822960" y="4023360"/>
            <a:ext cx="2103120" cy="384048"/>
          </a:xfrm>
          <a:prstGeom prst="rect">
            <a:avLst/>
          </a:prstGeom>
          <a:noFill/>
          <a:ln/>
        </p:spPr>
        <p:txBody>
          <a:bodyPr wrap="square" lIns="0" tIns="0" rIns="0" bIns="0" rtlCol="0" anchor="ctr"/>
          <a:lstStyle/>
          <a:p>
            <a:pPr marL="0" indent="0" algn="ctr">
              <a:buNone/>
            </a:pPr>
            <a:r>
              <a:rPr lang="en-US" sz="1050" dirty="0">
                <a:solidFill>
                  <a:srgbClr val="FFFFFF"/>
                </a:solidFill>
                <a:latin typeface="Calibri" pitchFamily="34" charset="0"/>
                <a:ea typeface="Calibri" pitchFamily="34" charset="-122"/>
                <a:cs typeface="Calibri" pitchFamily="34" charset="-120"/>
              </a:rPr>
              <a:t>Verify Account Now</a:t>
            </a:r>
            <a:endParaRPr lang="en-US" sz="1050" dirty="0"/>
          </a:p>
        </p:txBody>
      </p:sp>
      <p:sp>
        <p:nvSpPr>
          <p:cNvPr id="15" name="Text 13"/>
          <p:cNvSpPr/>
          <p:nvPr/>
        </p:nvSpPr>
        <p:spPr>
          <a:xfrm>
            <a:off x="822960" y="4572000"/>
            <a:ext cx="6126480" cy="274320"/>
          </a:xfrm>
          <a:prstGeom prst="rect">
            <a:avLst/>
          </a:prstGeom>
          <a:noFill/>
          <a:ln/>
        </p:spPr>
        <p:txBody>
          <a:bodyPr wrap="square" lIns="0" tIns="0" rIns="0" bIns="0" rtlCol="0" anchor="ctr"/>
          <a:lstStyle/>
          <a:p>
            <a:pPr marL="0" indent="0">
              <a:buNone/>
            </a:pPr>
            <a:r>
              <a:rPr lang="en-US" sz="1000" i="1" dirty="0">
                <a:solidFill>
                  <a:srgbClr val="666666"/>
                </a:solidFill>
                <a:latin typeface="Calibri" pitchFamily="34" charset="0"/>
                <a:ea typeface="Calibri" pitchFamily="34" charset="-122"/>
                <a:cs typeface="Calibri" pitchFamily="34" charset="-120"/>
              </a:rPr>
              <a:t>Attachment: Account_Verification.zip</a:t>
            </a:r>
            <a:endParaRPr lang="en-US" sz="1000" dirty="0"/>
          </a:p>
        </p:txBody>
      </p:sp>
      <p:sp>
        <p:nvSpPr>
          <p:cNvPr id="16" name="Shape 14"/>
          <p:cNvSpPr/>
          <p:nvPr/>
        </p:nvSpPr>
        <p:spPr>
          <a:xfrm>
            <a:off x="7452360" y="1737360"/>
            <a:ext cx="457200" cy="457200"/>
          </a:xfrm>
          <a:prstGeom prst="ellipse">
            <a:avLst/>
          </a:prstGeom>
          <a:solidFill>
            <a:srgbClr val="132A4C"/>
          </a:solidFill>
          <a:ln w="15875">
            <a:solidFill>
              <a:srgbClr val="22D3EE"/>
            </a:solidFill>
            <a:prstDash val="solid"/>
          </a:ln>
        </p:spPr>
      </p:sp>
      <p:pic>
        <p:nvPicPr>
          <p:cNvPr id="17" name="Image 0" descr="/home/claude/phishing/icons/alert.png"/>
          <p:cNvPicPr>
            <a:picLocks noChangeAspect="1"/>
          </p:cNvPicPr>
          <p:nvPr/>
        </p:nvPicPr>
        <p:blipFill>
          <a:blip r:embed="rId3"/>
          <a:stretch>
            <a:fillRect/>
          </a:stretch>
        </p:blipFill>
        <p:spPr>
          <a:xfrm>
            <a:off x="7589520" y="1874520"/>
            <a:ext cx="182880" cy="182880"/>
          </a:xfrm>
          <a:prstGeom prst="rect">
            <a:avLst/>
          </a:prstGeom>
        </p:spPr>
      </p:pic>
      <p:sp>
        <p:nvSpPr>
          <p:cNvPr id="18" name="Text 15"/>
          <p:cNvSpPr/>
          <p:nvPr/>
        </p:nvSpPr>
        <p:spPr>
          <a:xfrm>
            <a:off x="8019288" y="1719072"/>
            <a:ext cx="4114800" cy="292608"/>
          </a:xfrm>
          <a:prstGeom prst="rect">
            <a:avLst/>
          </a:prstGeom>
          <a:noFill/>
          <a:ln/>
        </p:spPr>
        <p:txBody>
          <a:bodyPr wrap="square" lIns="0" tIns="0" rIns="0" bIns="0" rtlCol="0" anchor="ctr"/>
          <a:lstStyle/>
          <a:p>
            <a:pPr marL="0" indent="0">
              <a:buNone/>
            </a:pPr>
            <a:r>
              <a:rPr lang="en-US" sz="1250" b="1" dirty="0">
                <a:solidFill>
                  <a:srgbClr val="22D3EE"/>
                </a:solidFill>
                <a:latin typeface="Arial" pitchFamily="34" charset="0"/>
                <a:ea typeface="Arial" pitchFamily="34" charset="-122"/>
                <a:cs typeface="Arial" pitchFamily="34" charset="-120"/>
              </a:rPr>
              <a:t>Fake sender</a:t>
            </a:r>
            <a:endParaRPr lang="en-US" sz="1250" dirty="0"/>
          </a:p>
        </p:txBody>
      </p:sp>
      <p:sp>
        <p:nvSpPr>
          <p:cNvPr id="19" name="Text 16"/>
          <p:cNvSpPr/>
          <p:nvPr/>
        </p:nvSpPr>
        <p:spPr>
          <a:xfrm>
            <a:off x="8019288" y="1993392"/>
            <a:ext cx="4114800" cy="457200"/>
          </a:xfrm>
          <a:prstGeom prst="rect">
            <a:avLst/>
          </a:prstGeom>
          <a:noFill/>
          <a:ln/>
        </p:spPr>
        <p:txBody>
          <a:bodyPr wrap="square" lIns="0" tIns="0" rIns="0" bIns="0" rtlCol="0" anchor="ctr"/>
          <a:lstStyle/>
          <a:p>
            <a:pPr marL="0" indent="0">
              <a:buNone/>
            </a:pPr>
            <a:r>
              <a:rPr lang="en-US" sz="1050" dirty="0">
                <a:solidFill>
                  <a:srgbClr val="9FB3C8"/>
                </a:solidFill>
                <a:latin typeface="Calibri" pitchFamily="34" charset="0"/>
                <a:ea typeface="Calibri" pitchFamily="34" charset="-122"/>
                <a:cs typeface="Calibri" pitchFamily="34" charset="-120"/>
              </a:rPr>
              <a:t>Misspelled domain that's close to the real one</a:t>
            </a:r>
            <a:endParaRPr lang="en-US" sz="1050" dirty="0"/>
          </a:p>
        </p:txBody>
      </p:sp>
      <p:sp>
        <p:nvSpPr>
          <p:cNvPr id="20" name="Shape 17"/>
          <p:cNvSpPr/>
          <p:nvPr/>
        </p:nvSpPr>
        <p:spPr>
          <a:xfrm>
            <a:off x="7452360" y="2770632"/>
            <a:ext cx="457200" cy="457200"/>
          </a:xfrm>
          <a:prstGeom prst="ellipse">
            <a:avLst/>
          </a:prstGeom>
          <a:solidFill>
            <a:srgbClr val="132A4C"/>
          </a:solidFill>
          <a:ln w="15875">
            <a:solidFill>
              <a:srgbClr val="22D3EE"/>
            </a:solidFill>
            <a:prstDash val="solid"/>
          </a:ln>
        </p:spPr>
      </p:sp>
      <p:pic>
        <p:nvPicPr>
          <p:cNvPr id="21" name="Image 1" descr="/home/claude/phishing/icons/alert.png"/>
          <p:cNvPicPr>
            <a:picLocks noChangeAspect="1"/>
          </p:cNvPicPr>
          <p:nvPr/>
        </p:nvPicPr>
        <p:blipFill>
          <a:blip r:embed="rId3"/>
          <a:stretch>
            <a:fillRect/>
          </a:stretch>
        </p:blipFill>
        <p:spPr>
          <a:xfrm>
            <a:off x="7589520" y="2907792"/>
            <a:ext cx="182880" cy="182880"/>
          </a:xfrm>
          <a:prstGeom prst="rect">
            <a:avLst/>
          </a:prstGeom>
        </p:spPr>
      </p:pic>
      <p:sp>
        <p:nvSpPr>
          <p:cNvPr id="22" name="Text 18"/>
          <p:cNvSpPr/>
          <p:nvPr/>
        </p:nvSpPr>
        <p:spPr>
          <a:xfrm>
            <a:off x="8019288" y="2752344"/>
            <a:ext cx="4114800" cy="292608"/>
          </a:xfrm>
          <a:prstGeom prst="rect">
            <a:avLst/>
          </a:prstGeom>
          <a:noFill/>
          <a:ln/>
        </p:spPr>
        <p:txBody>
          <a:bodyPr wrap="square" lIns="0" tIns="0" rIns="0" bIns="0" rtlCol="0" anchor="ctr"/>
          <a:lstStyle/>
          <a:p>
            <a:pPr marL="0" indent="0">
              <a:buNone/>
            </a:pPr>
            <a:r>
              <a:rPr lang="en-US" sz="1250" b="1" dirty="0">
                <a:solidFill>
                  <a:srgbClr val="22D3EE"/>
                </a:solidFill>
                <a:latin typeface="Arial" pitchFamily="34" charset="0"/>
                <a:ea typeface="Arial" pitchFamily="34" charset="-122"/>
                <a:cs typeface="Arial" pitchFamily="34" charset="-120"/>
              </a:rPr>
              <a:t>Urgency</a:t>
            </a:r>
            <a:endParaRPr lang="en-US" sz="1250" dirty="0"/>
          </a:p>
        </p:txBody>
      </p:sp>
      <p:sp>
        <p:nvSpPr>
          <p:cNvPr id="23" name="Text 19"/>
          <p:cNvSpPr/>
          <p:nvPr/>
        </p:nvSpPr>
        <p:spPr>
          <a:xfrm>
            <a:off x="8019288" y="3026664"/>
            <a:ext cx="4114800" cy="457200"/>
          </a:xfrm>
          <a:prstGeom prst="rect">
            <a:avLst/>
          </a:prstGeom>
          <a:noFill/>
          <a:ln/>
        </p:spPr>
        <p:txBody>
          <a:bodyPr wrap="square" lIns="0" tIns="0" rIns="0" bIns="0" rtlCol="0" anchor="ctr"/>
          <a:lstStyle/>
          <a:p>
            <a:pPr marL="0" indent="0">
              <a:buNone/>
            </a:pPr>
            <a:r>
              <a:rPr lang="en-US" sz="1050" dirty="0">
                <a:solidFill>
                  <a:srgbClr val="9FB3C8"/>
                </a:solidFill>
                <a:latin typeface="Calibri" pitchFamily="34" charset="0"/>
                <a:ea typeface="Calibri" pitchFamily="34" charset="-122"/>
                <a:cs typeface="Calibri" pitchFamily="34" charset="-120"/>
              </a:rPr>
              <a:t>Threats and countdowns to make you panic</a:t>
            </a:r>
            <a:endParaRPr lang="en-US" sz="1050" dirty="0"/>
          </a:p>
        </p:txBody>
      </p:sp>
      <p:sp>
        <p:nvSpPr>
          <p:cNvPr id="24" name="Shape 20"/>
          <p:cNvSpPr/>
          <p:nvPr/>
        </p:nvSpPr>
        <p:spPr>
          <a:xfrm>
            <a:off x="7452360" y="3803904"/>
            <a:ext cx="457200" cy="457200"/>
          </a:xfrm>
          <a:prstGeom prst="ellipse">
            <a:avLst/>
          </a:prstGeom>
          <a:solidFill>
            <a:srgbClr val="132A4C"/>
          </a:solidFill>
          <a:ln w="15875">
            <a:solidFill>
              <a:srgbClr val="22D3EE"/>
            </a:solidFill>
            <a:prstDash val="solid"/>
          </a:ln>
        </p:spPr>
      </p:sp>
      <p:pic>
        <p:nvPicPr>
          <p:cNvPr id="25" name="Image 2" descr="/home/claude/phishing/icons/alert.png"/>
          <p:cNvPicPr>
            <a:picLocks noChangeAspect="1"/>
          </p:cNvPicPr>
          <p:nvPr/>
        </p:nvPicPr>
        <p:blipFill>
          <a:blip r:embed="rId3"/>
          <a:stretch>
            <a:fillRect/>
          </a:stretch>
        </p:blipFill>
        <p:spPr>
          <a:xfrm>
            <a:off x="7589520" y="3941064"/>
            <a:ext cx="182880" cy="182880"/>
          </a:xfrm>
          <a:prstGeom prst="rect">
            <a:avLst/>
          </a:prstGeom>
        </p:spPr>
      </p:pic>
      <p:sp>
        <p:nvSpPr>
          <p:cNvPr id="26" name="Text 21"/>
          <p:cNvSpPr/>
          <p:nvPr/>
        </p:nvSpPr>
        <p:spPr>
          <a:xfrm>
            <a:off x="8019288" y="3785616"/>
            <a:ext cx="4114800" cy="292608"/>
          </a:xfrm>
          <a:prstGeom prst="rect">
            <a:avLst/>
          </a:prstGeom>
          <a:noFill/>
          <a:ln/>
        </p:spPr>
        <p:txBody>
          <a:bodyPr wrap="square" lIns="0" tIns="0" rIns="0" bIns="0" rtlCol="0" anchor="ctr"/>
          <a:lstStyle/>
          <a:p>
            <a:pPr marL="0" indent="0">
              <a:buNone/>
            </a:pPr>
            <a:r>
              <a:rPr lang="en-US" sz="1250" b="1" dirty="0">
                <a:solidFill>
                  <a:srgbClr val="22D3EE"/>
                </a:solidFill>
                <a:latin typeface="Arial" pitchFamily="34" charset="0"/>
                <a:ea typeface="Arial" pitchFamily="34" charset="-122"/>
                <a:cs typeface="Arial" pitchFamily="34" charset="-120"/>
              </a:rPr>
              <a:t>Suspicious link</a:t>
            </a:r>
            <a:endParaRPr lang="en-US" sz="1250" dirty="0"/>
          </a:p>
        </p:txBody>
      </p:sp>
      <p:sp>
        <p:nvSpPr>
          <p:cNvPr id="27" name="Text 22"/>
          <p:cNvSpPr/>
          <p:nvPr/>
        </p:nvSpPr>
        <p:spPr>
          <a:xfrm>
            <a:off x="8019288" y="4059936"/>
            <a:ext cx="4114800" cy="457200"/>
          </a:xfrm>
          <a:prstGeom prst="rect">
            <a:avLst/>
          </a:prstGeom>
          <a:noFill/>
          <a:ln/>
        </p:spPr>
        <p:txBody>
          <a:bodyPr wrap="square" lIns="0" tIns="0" rIns="0" bIns="0" rtlCol="0" anchor="ctr"/>
          <a:lstStyle/>
          <a:p>
            <a:pPr marL="0" indent="0">
              <a:buNone/>
            </a:pPr>
            <a:r>
              <a:rPr lang="en-US" sz="1050" dirty="0">
                <a:solidFill>
                  <a:srgbClr val="9FB3C8"/>
                </a:solidFill>
                <a:latin typeface="Calibri" pitchFamily="34" charset="0"/>
                <a:ea typeface="Calibri" pitchFamily="34" charset="-122"/>
                <a:cs typeface="Calibri" pitchFamily="34" charset="-120"/>
              </a:rPr>
              <a:t>Button hides a link you can't see yet</a:t>
            </a:r>
            <a:endParaRPr lang="en-US" sz="1050" dirty="0"/>
          </a:p>
        </p:txBody>
      </p:sp>
      <p:sp>
        <p:nvSpPr>
          <p:cNvPr id="28" name="Shape 23"/>
          <p:cNvSpPr/>
          <p:nvPr/>
        </p:nvSpPr>
        <p:spPr>
          <a:xfrm>
            <a:off x="7452360" y="4837176"/>
            <a:ext cx="457200" cy="457200"/>
          </a:xfrm>
          <a:prstGeom prst="ellipse">
            <a:avLst/>
          </a:prstGeom>
          <a:solidFill>
            <a:srgbClr val="132A4C"/>
          </a:solidFill>
          <a:ln w="15875">
            <a:solidFill>
              <a:srgbClr val="22D3EE"/>
            </a:solidFill>
            <a:prstDash val="solid"/>
          </a:ln>
        </p:spPr>
      </p:sp>
      <p:pic>
        <p:nvPicPr>
          <p:cNvPr id="29" name="Image 3" descr="/home/claude/phishing/icons/alert.png"/>
          <p:cNvPicPr>
            <a:picLocks noChangeAspect="1"/>
          </p:cNvPicPr>
          <p:nvPr/>
        </p:nvPicPr>
        <p:blipFill>
          <a:blip r:embed="rId3"/>
          <a:stretch>
            <a:fillRect/>
          </a:stretch>
        </p:blipFill>
        <p:spPr>
          <a:xfrm>
            <a:off x="7589520" y="4974336"/>
            <a:ext cx="182880" cy="182880"/>
          </a:xfrm>
          <a:prstGeom prst="rect">
            <a:avLst/>
          </a:prstGeom>
        </p:spPr>
      </p:pic>
      <p:sp>
        <p:nvSpPr>
          <p:cNvPr id="30" name="Text 24"/>
          <p:cNvSpPr/>
          <p:nvPr/>
        </p:nvSpPr>
        <p:spPr>
          <a:xfrm>
            <a:off x="8019288" y="4818888"/>
            <a:ext cx="4114800" cy="292608"/>
          </a:xfrm>
          <a:prstGeom prst="rect">
            <a:avLst/>
          </a:prstGeom>
          <a:noFill/>
          <a:ln/>
        </p:spPr>
        <p:txBody>
          <a:bodyPr wrap="square" lIns="0" tIns="0" rIns="0" bIns="0" rtlCol="0" anchor="ctr"/>
          <a:lstStyle/>
          <a:p>
            <a:pPr marL="0" indent="0">
              <a:buNone/>
            </a:pPr>
            <a:r>
              <a:rPr lang="en-US" sz="1250" b="1" dirty="0">
                <a:solidFill>
                  <a:srgbClr val="22D3EE"/>
                </a:solidFill>
                <a:latin typeface="Arial" pitchFamily="34" charset="0"/>
                <a:ea typeface="Arial" pitchFamily="34" charset="-122"/>
                <a:cs typeface="Arial" pitchFamily="34" charset="-120"/>
              </a:rPr>
              <a:t>Odd attachment</a:t>
            </a:r>
            <a:endParaRPr lang="en-US" sz="1250" dirty="0"/>
          </a:p>
        </p:txBody>
      </p:sp>
      <p:sp>
        <p:nvSpPr>
          <p:cNvPr id="31" name="Text 25"/>
          <p:cNvSpPr/>
          <p:nvPr/>
        </p:nvSpPr>
        <p:spPr>
          <a:xfrm>
            <a:off x="8019288" y="5093208"/>
            <a:ext cx="4114800" cy="457200"/>
          </a:xfrm>
          <a:prstGeom prst="rect">
            <a:avLst/>
          </a:prstGeom>
          <a:noFill/>
          <a:ln/>
        </p:spPr>
        <p:txBody>
          <a:bodyPr wrap="square" lIns="0" tIns="0" rIns="0" bIns="0" rtlCol="0" anchor="ctr"/>
          <a:lstStyle/>
          <a:p>
            <a:pPr marL="0" indent="0">
              <a:buNone/>
            </a:pPr>
            <a:r>
              <a:rPr lang="en-US" sz="1050" dirty="0">
                <a:solidFill>
                  <a:srgbClr val="9FB3C8"/>
                </a:solidFill>
                <a:latin typeface="Calibri" pitchFamily="34" charset="0"/>
                <a:ea typeface="Calibri" pitchFamily="34" charset="-122"/>
                <a:cs typeface="Calibri" pitchFamily="34" charset="-120"/>
              </a:rPr>
              <a:t>A zip file you never asked for</a:t>
            </a:r>
            <a:endParaRPr lang="en-US" sz="1050" dirty="0"/>
          </a:p>
        </p:txBody>
      </p:sp>
      <p:sp>
        <p:nvSpPr>
          <p:cNvPr id="32" name="Text 26"/>
          <p:cNvSpPr/>
          <p:nvPr/>
        </p:nvSpPr>
        <p:spPr>
          <a:xfrm>
            <a:off x="11155680" y="6473952"/>
            <a:ext cx="822960" cy="274320"/>
          </a:xfrm>
          <a:prstGeom prst="rect">
            <a:avLst/>
          </a:prstGeom>
          <a:noFill/>
          <a:ln/>
        </p:spPr>
        <p:txBody>
          <a:bodyPr wrap="square" lIns="0" tIns="0" rIns="0" bIns="0" rtlCol="0" anchor="ctr"/>
          <a:lstStyle/>
          <a:p>
            <a:pPr marL="0" indent="0" algn="r">
              <a:buNone/>
            </a:pPr>
            <a:r>
              <a:rPr lang="en-US" sz="900" dirty="0">
                <a:solidFill>
                  <a:srgbClr val="9FB3C8"/>
                </a:solidFill>
                <a:latin typeface="Calibri" pitchFamily="34" charset="0"/>
                <a:ea typeface="Calibri" pitchFamily="34" charset="-122"/>
                <a:cs typeface="Calibri" pitchFamily="34" charset="-120"/>
              </a:rPr>
              <a:t>06 / 16</a:t>
            </a:r>
            <a:endParaRPr lang="en-US" sz="900" dirty="0"/>
          </a:p>
        </p:txBody>
      </p:sp>
      <p:sp>
        <p:nvSpPr>
          <p:cNvPr id="33" name="Text 27"/>
          <p:cNvSpPr/>
          <p:nvPr/>
        </p:nvSpPr>
        <p:spPr>
          <a:xfrm>
            <a:off x="548640" y="6473952"/>
            <a:ext cx="5486400" cy="274320"/>
          </a:xfrm>
          <a:prstGeom prst="rect">
            <a:avLst/>
          </a:prstGeom>
          <a:noFill/>
          <a:ln/>
        </p:spPr>
        <p:txBody>
          <a:bodyPr wrap="square" lIns="0" tIns="0" rIns="0" bIns="0" rtlCol="0" anchor="ctr"/>
          <a:lstStyle/>
          <a:p>
            <a:pPr marL="0" indent="0">
              <a:buNone/>
            </a:pPr>
            <a:r>
              <a:rPr lang="en-US" sz="900" kern="0" spc="100" dirty="0">
                <a:solidFill>
                  <a:srgbClr val="9FB3C8"/>
                </a:solidFill>
                <a:latin typeface="Calibri" pitchFamily="34" charset="0"/>
                <a:ea typeface="Calibri" pitchFamily="34" charset="-122"/>
                <a:cs typeface="Calibri" pitchFamily="34" charset="-120"/>
              </a:rPr>
              <a:t>PHISHING AWARENESS TRAINING</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bg>
      <p:bgPr>
        <a:solidFill>
          <a:srgbClr val="0A1628"/>
        </a:solidFill>
        <a:effectLst/>
      </p:bgPr>
    </p:bg>
    <p:spTree>
      <p:nvGrpSpPr>
        <p:cNvPr id="1" name=""/>
        <p:cNvGrpSpPr/>
        <p:nvPr/>
      </p:nvGrpSpPr>
      <p:grpSpPr>
        <a:xfrm>
          <a:off x="0" y="0"/>
          <a:ext cx="0" cy="0"/>
          <a:chOff x="0" y="0"/>
          <a:chExt cx="0" cy="0"/>
        </a:xfrm>
      </p:grpSpPr>
      <p:sp>
        <p:nvSpPr>
          <p:cNvPr id="2" name="Text 0"/>
          <p:cNvSpPr/>
          <p:nvPr/>
        </p:nvSpPr>
        <p:spPr>
          <a:xfrm>
            <a:off x="548640" y="320040"/>
            <a:ext cx="7315200" cy="320040"/>
          </a:xfrm>
          <a:prstGeom prst="rect">
            <a:avLst/>
          </a:prstGeom>
          <a:noFill/>
          <a:ln/>
        </p:spPr>
        <p:txBody>
          <a:bodyPr wrap="square" lIns="0" tIns="0" rIns="0" bIns="0" rtlCol="0" anchor="ctr"/>
          <a:lstStyle/>
          <a:p>
            <a:pPr marL="0" indent="0">
              <a:buNone/>
            </a:pPr>
            <a:r>
              <a:rPr lang="en-US" sz="1200" b="1" kern="0" spc="200" dirty="0">
                <a:solidFill>
                  <a:srgbClr val="22D3EE"/>
                </a:solidFill>
                <a:latin typeface="Arial" pitchFamily="34" charset="0"/>
                <a:ea typeface="Arial" pitchFamily="34" charset="-122"/>
                <a:cs typeface="Arial" pitchFamily="34" charset="-120"/>
              </a:rPr>
              <a:t>SPOT THE SIGNS</a:t>
            </a:r>
            <a:endParaRPr lang="en-US" sz="1200" dirty="0"/>
          </a:p>
        </p:txBody>
      </p:sp>
      <p:sp>
        <p:nvSpPr>
          <p:cNvPr id="3" name="Text 1"/>
          <p:cNvSpPr/>
          <p:nvPr/>
        </p:nvSpPr>
        <p:spPr>
          <a:xfrm>
            <a:off x="548640" y="621792"/>
            <a:ext cx="10789920" cy="685800"/>
          </a:xfrm>
          <a:prstGeom prst="rect">
            <a:avLst/>
          </a:prstGeom>
          <a:noFill/>
          <a:ln/>
        </p:spPr>
        <p:txBody>
          <a:bodyPr wrap="square" lIns="0" tIns="0" rIns="0" bIns="0" rtlCol="0" anchor="ctr"/>
          <a:lstStyle/>
          <a:p>
            <a:pPr marL="0" indent="0">
              <a:buNone/>
            </a:pPr>
            <a:r>
              <a:rPr lang="en-US" sz="3200" b="1" dirty="0">
                <a:solidFill>
                  <a:srgbClr val="FFFFFF"/>
                </a:solidFill>
                <a:latin typeface="Arial" pitchFamily="34" charset="0"/>
                <a:ea typeface="Arial" pitchFamily="34" charset="-122"/>
                <a:cs typeface="Arial" pitchFamily="34" charset="-120"/>
              </a:rPr>
              <a:t>How to Recognize Fake Websites</a:t>
            </a:r>
            <a:endParaRPr lang="en-US" sz="3200" dirty="0"/>
          </a:p>
        </p:txBody>
      </p:sp>
      <p:sp>
        <p:nvSpPr>
          <p:cNvPr id="4" name="Text 2"/>
          <p:cNvSpPr/>
          <p:nvPr/>
        </p:nvSpPr>
        <p:spPr>
          <a:xfrm>
            <a:off x="548640" y="1691640"/>
            <a:ext cx="5120640" cy="274320"/>
          </a:xfrm>
          <a:prstGeom prst="rect">
            <a:avLst/>
          </a:prstGeom>
          <a:noFill/>
          <a:ln/>
        </p:spPr>
        <p:txBody>
          <a:bodyPr wrap="square" lIns="0" tIns="0" rIns="0" bIns="0" rtlCol="0" anchor="ctr"/>
          <a:lstStyle/>
          <a:p>
            <a:pPr marL="0" indent="0">
              <a:buNone/>
            </a:pPr>
            <a:r>
              <a:rPr lang="en-US" sz="1200" b="1" dirty="0">
                <a:solidFill>
                  <a:srgbClr val="22D3EE"/>
                </a:solidFill>
                <a:latin typeface="Arial" pitchFamily="34" charset="0"/>
                <a:ea typeface="Arial" pitchFamily="34" charset="-122"/>
                <a:cs typeface="Arial" pitchFamily="34" charset="-120"/>
              </a:rPr>
              <a:t>Real</a:t>
            </a:r>
            <a:endParaRPr lang="en-US" sz="1200" dirty="0"/>
          </a:p>
        </p:txBody>
      </p:sp>
      <p:sp>
        <p:nvSpPr>
          <p:cNvPr id="5" name="Shape 3"/>
          <p:cNvSpPr/>
          <p:nvPr/>
        </p:nvSpPr>
        <p:spPr>
          <a:xfrm>
            <a:off x="548640" y="1993392"/>
            <a:ext cx="5120640" cy="777240"/>
          </a:xfrm>
          <a:prstGeom prst="roundRect">
            <a:avLst>
              <a:gd name="adj" fmla="val 9412"/>
            </a:avLst>
          </a:prstGeom>
          <a:solidFill>
            <a:srgbClr val="FFFFFF"/>
          </a:solidFill>
          <a:ln w="19050">
            <a:solidFill>
              <a:srgbClr val="28C840"/>
            </a:solidFill>
            <a:prstDash val="solid"/>
          </a:ln>
        </p:spPr>
      </p:sp>
      <p:pic>
        <p:nvPicPr>
          <p:cNvPr id="6" name="Image 0" descr="/home/claude/phishing/icons/lock_navy.png"/>
          <p:cNvPicPr>
            <a:picLocks noChangeAspect="1"/>
          </p:cNvPicPr>
          <p:nvPr/>
        </p:nvPicPr>
        <p:blipFill>
          <a:blip r:embed="rId3"/>
          <a:stretch>
            <a:fillRect/>
          </a:stretch>
        </p:blipFill>
        <p:spPr>
          <a:xfrm>
            <a:off x="685800" y="2194560"/>
            <a:ext cx="365760" cy="365760"/>
          </a:xfrm>
          <a:prstGeom prst="rect">
            <a:avLst/>
          </a:prstGeom>
        </p:spPr>
      </p:pic>
      <p:sp>
        <p:nvSpPr>
          <p:cNvPr id="7" name="Text 4"/>
          <p:cNvSpPr/>
          <p:nvPr/>
        </p:nvSpPr>
        <p:spPr>
          <a:xfrm>
            <a:off x="1143000" y="1993392"/>
            <a:ext cx="4434840" cy="777240"/>
          </a:xfrm>
          <a:prstGeom prst="rect">
            <a:avLst/>
          </a:prstGeom>
          <a:noFill/>
          <a:ln/>
        </p:spPr>
        <p:txBody>
          <a:bodyPr wrap="square" lIns="0" tIns="0" rIns="0" bIns="0" rtlCol="0" anchor="ctr"/>
          <a:lstStyle/>
          <a:p>
            <a:pPr marL="0" indent="0">
              <a:buNone/>
            </a:pPr>
            <a:r>
              <a:rPr lang="en-US" sz="1250" dirty="0">
                <a:solidFill>
                  <a:srgbClr val="222222"/>
                </a:solidFill>
                <a:latin typeface="Courier New" pitchFamily="34" charset="0"/>
                <a:ea typeface="Courier New" pitchFamily="34" charset="-122"/>
                <a:cs typeface="Courier New" pitchFamily="34" charset="-120"/>
              </a:rPr>
              <a:t>https://www.yourbank.com/login</a:t>
            </a:r>
            <a:endParaRPr lang="en-US" sz="1250" dirty="0"/>
          </a:p>
        </p:txBody>
      </p:sp>
      <p:sp>
        <p:nvSpPr>
          <p:cNvPr id="8" name="Text 5"/>
          <p:cNvSpPr/>
          <p:nvPr/>
        </p:nvSpPr>
        <p:spPr>
          <a:xfrm>
            <a:off x="548640" y="2926080"/>
            <a:ext cx="5120640" cy="274320"/>
          </a:xfrm>
          <a:prstGeom prst="rect">
            <a:avLst/>
          </a:prstGeom>
          <a:noFill/>
          <a:ln/>
        </p:spPr>
        <p:txBody>
          <a:bodyPr wrap="square" lIns="0" tIns="0" rIns="0" bIns="0" rtlCol="0" anchor="ctr"/>
          <a:lstStyle/>
          <a:p>
            <a:pPr marL="0" indent="0">
              <a:buNone/>
            </a:pPr>
            <a:r>
              <a:rPr lang="en-US" sz="1200" b="1" dirty="0">
                <a:solidFill>
                  <a:srgbClr val="F87171"/>
                </a:solidFill>
                <a:latin typeface="Arial" pitchFamily="34" charset="0"/>
                <a:ea typeface="Arial" pitchFamily="34" charset="-122"/>
                <a:cs typeface="Arial" pitchFamily="34" charset="-120"/>
              </a:rPr>
              <a:t>Fake</a:t>
            </a:r>
            <a:endParaRPr lang="en-US" sz="1200" dirty="0"/>
          </a:p>
        </p:txBody>
      </p:sp>
      <p:sp>
        <p:nvSpPr>
          <p:cNvPr id="9" name="Shape 6"/>
          <p:cNvSpPr/>
          <p:nvPr/>
        </p:nvSpPr>
        <p:spPr>
          <a:xfrm>
            <a:off x="548640" y="3227832"/>
            <a:ext cx="5120640" cy="777240"/>
          </a:xfrm>
          <a:prstGeom prst="roundRect">
            <a:avLst>
              <a:gd name="adj" fmla="val 9412"/>
            </a:avLst>
          </a:prstGeom>
          <a:solidFill>
            <a:srgbClr val="FFFFFF"/>
          </a:solidFill>
          <a:ln w="19050">
            <a:solidFill>
              <a:srgbClr val="F87171"/>
            </a:solidFill>
            <a:prstDash val="solid"/>
          </a:ln>
        </p:spPr>
      </p:sp>
      <p:pic>
        <p:nvPicPr>
          <p:cNvPr id="10" name="Image 1" descr="/home/claude/phishing/icons/xcircle_navy.png"/>
          <p:cNvPicPr>
            <a:picLocks noChangeAspect="1"/>
          </p:cNvPicPr>
          <p:nvPr/>
        </p:nvPicPr>
        <p:blipFill>
          <a:blip r:embed="rId4"/>
          <a:stretch>
            <a:fillRect/>
          </a:stretch>
        </p:blipFill>
        <p:spPr>
          <a:xfrm>
            <a:off x="685800" y="3429000"/>
            <a:ext cx="365760" cy="365760"/>
          </a:xfrm>
          <a:prstGeom prst="rect">
            <a:avLst/>
          </a:prstGeom>
        </p:spPr>
      </p:pic>
      <p:sp>
        <p:nvSpPr>
          <p:cNvPr id="11" name="Text 7"/>
          <p:cNvSpPr/>
          <p:nvPr/>
        </p:nvSpPr>
        <p:spPr>
          <a:xfrm>
            <a:off x="1143000" y="3227832"/>
            <a:ext cx="4434840" cy="777240"/>
          </a:xfrm>
          <a:prstGeom prst="rect">
            <a:avLst/>
          </a:prstGeom>
          <a:noFill/>
          <a:ln/>
        </p:spPr>
        <p:txBody>
          <a:bodyPr wrap="square" lIns="0" tIns="0" rIns="0" bIns="0" rtlCol="0" anchor="ctr"/>
          <a:lstStyle/>
          <a:p>
            <a:pPr marL="0" indent="0">
              <a:buNone/>
            </a:pPr>
            <a:r>
              <a:rPr lang="en-US" sz="1250" dirty="0">
                <a:solidFill>
                  <a:srgbClr val="222222"/>
                </a:solidFill>
                <a:latin typeface="Courier New" pitchFamily="34" charset="0"/>
                <a:ea typeface="Courier New" pitchFamily="34" charset="-122"/>
                <a:cs typeface="Courier New" pitchFamily="34" charset="-120"/>
              </a:rPr>
              <a:t>https://yourbank-secure-login.net</a:t>
            </a:r>
            <a:endParaRPr lang="en-US" sz="1250" dirty="0"/>
          </a:p>
        </p:txBody>
      </p:sp>
      <p:sp>
        <p:nvSpPr>
          <p:cNvPr id="12" name="Text 8"/>
          <p:cNvSpPr/>
          <p:nvPr/>
        </p:nvSpPr>
        <p:spPr>
          <a:xfrm>
            <a:off x="548640" y="4160520"/>
            <a:ext cx="5120640" cy="274320"/>
          </a:xfrm>
          <a:prstGeom prst="rect">
            <a:avLst/>
          </a:prstGeom>
          <a:noFill/>
          <a:ln/>
        </p:spPr>
        <p:txBody>
          <a:bodyPr wrap="square" lIns="0" tIns="0" rIns="0" bIns="0" rtlCol="0" anchor="ctr"/>
          <a:lstStyle/>
          <a:p>
            <a:pPr marL="0" indent="0">
              <a:buNone/>
            </a:pPr>
            <a:r>
              <a:rPr lang="en-US" sz="1200" b="1" dirty="0">
                <a:solidFill>
                  <a:srgbClr val="F87171"/>
                </a:solidFill>
                <a:latin typeface="Arial" pitchFamily="34" charset="0"/>
                <a:ea typeface="Arial" pitchFamily="34" charset="-122"/>
                <a:cs typeface="Arial" pitchFamily="34" charset="-120"/>
              </a:rPr>
              <a:t>Fake</a:t>
            </a:r>
            <a:endParaRPr lang="en-US" sz="1200" dirty="0"/>
          </a:p>
        </p:txBody>
      </p:sp>
      <p:sp>
        <p:nvSpPr>
          <p:cNvPr id="13" name="Shape 9"/>
          <p:cNvSpPr/>
          <p:nvPr/>
        </p:nvSpPr>
        <p:spPr>
          <a:xfrm>
            <a:off x="548640" y="4462272"/>
            <a:ext cx="5120640" cy="777240"/>
          </a:xfrm>
          <a:prstGeom prst="roundRect">
            <a:avLst>
              <a:gd name="adj" fmla="val 9412"/>
            </a:avLst>
          </a:prstGeom>
          <a:solidFill>
            <a:srgbClr val="FFFFFF"/>
          </a:solidFill>
          <a:ln w="19050">
            <a:solidFill>
              <a:srgbClr val="F87171"/>
            </a:solidFill>
            <a:prstDash val="solid"/>
          </a:ln>
        </p:spPr>
      </p:sp>
      <p:pic>
        <p:nvPicPr>
          <p:cNvPr id="14" name="Image 2" descr="/home/claude/phishing/icons/xcircle_navy.png"/>
          <p:cNvPicPr>
            <a:picLocks noChangeAspect="1"/>
          </p:cNvPicPr>
          <p:nvPr/>
        </p:nvPicPr>
        <p:blipFill>
          <a:blip r:embed="rId4"/>
          <a:stretch>
            <a:fillRect/>
          </a:stretch>
        </p:blipFill>
        <p:spPr>
          <a:xfrm>
            <a:off x="685800" y="4663440"/>
            <a:ext cx="365760" cy="365760"/>
          </a:xfrm>
          <a:prstGeom prst="rect">
            <a:avLst/>
          </a:prstGeom>
        </p:spPr>
      </p:pic>
      <p:sp>
        <p:nvSpPr>
          <p:cNvPr id="15" name="Text 10"/>
          <p:cNvSpPr/>
          <p:nvPr/>
        </p:nvSpPr>
        <p:spPr>
          <a:xfrm>
            <a:off x="1143000" y="4462272"/>
            <a:ext cx="4434840" cy="777240"/>
          </a:xfrm>
          <a:prstGeom prst="rect">
            <a:avLst/>
          </a:prstGeom>
          <a:noFill/>
          <a:ln/>
        </p:spPr>
        <p:txBody>
          <a:bodyPr wrap="square" lIns="0" tIns="0" rIns="0" bIns="0" rtlCol="0" anchor="ctr"/>
          <a:lstStyle/>
          <a:p>
            <a:pPr marL="0" indent="0">
              <a:buNone/>
            </a:pPr>
            <a:r>
              <a:rPr lang="en-US" sz="1250" dirty="0">
                <a:solidFill>
                  <a:srgbClr val="222222"/>
                </a:solidFill>
                <a:latin typeface="Courier New" pitchFamily="34" charset="0"/>
                <a:ea typeface="Courier New" pitchFamily="34" charset="-122"/>
                <a:cs typeface="Courier New" pitchFamily="34" charset="-120"/>
              </a:rPr>
              <a:t>http://192.168.44.2/yourbank/login</a:t>
            </a:r>
            <a:endParaRPr lang="en-US" sz="1250" dirty="0"/>
          </a:p>
        </p:txBody>
      </p:sp>
      <p:sp>
        <p:nvSpPr>
          <p:cNvPr id="16" name="Shape 11"/>
          <p:cNvSpPr/>
          <p:nvPr/>
        </p:nvSpPr>
        <p:spPr>
          <a:xfrm>
            <a:off x="548640" y="5394960"/>
            <a:ext cx="5120640" cy="822960"/>
          </a:xfrm>
          <a:prstGeom prst="roundRect">
            <a:avLst>
              <a:gd name="adj" fmla="val 8889"/>
            </a:avLst>
          </a:prstGeom>
          <a:solidFill>
            <a:srgbClr val="10233F"/>
          </a:solidFill>
          <a:ln w="9525">
            <a:solidFill>
              <a:srgbClr val="1D3A63"/>
            </a:solidFill>
            <a:prstDash val="solid"/>
          </a:ln>
          <a:effectLst>
            <a:outerShdw blurRad="76200" dist="38100" dir="5400000" algn="bl" rotWithShape="0">
              <a:srgbClr val="000000">
                <a:alpha val="35000"/>
              </a:srgbClr>
            </a:outerShdw>
          </a:effectLst>
        </p:spPr>
      </p:sp>
      <p:sp>
        <p:nvSpPr>
          <p:cNvPr id="17" name="Text 12"/>
          <p:cNvSpPr/>
          <p:nvPr/>
        </p:nvSpPr>
        <p:spPr>
          <a:xfrm>
            <a:off x="777240" y="5486400"/>
            <a:ext cx="4663440" cy="640080"/>
          </a:xfrm>
          <a:prstGeom prst="rect">
            <a:avLst/>
          </a:prstGeom>
          <a:noFill/>
          <a:ln/>
        </p:spPr>
        <p:txBody>
          <a:bodyPr wrap="square" lIns="0" tIns="0" rIns="0" bIns="0" rtlCol="0" anchor="ctr"/>
          <a:lstStyle/>
          <a:p>
            <a:pPr marL="0" indent="0">
              <a:buNone/>
            </a:pPr>
            <a:r>
              <a:rPr lang="en-US" sz="1100" i="1" dirty="0">
                <a:solidFill>
                  <a:srgbClr val="9FB3C8"/>
                </a:solidFill>
                <a:latin typeface="Calibri" pitchFamily="34" charset="0"/>
                <a:ea typeface="Calibri" pitchFamily="34" charset="-122"/>
                <a:cs typeface="Calibri" pitchFamily="34" charset="-120"/>
              </a:rPr>
              <a:t>HTTPS myth: a padlock only means the connection is encrypted — not that the site is legit. Attackers use HTTPS too.</a:t>
            </a:r>
            <a:endParaRPr lang="en-US" sz="1100" dirty="0"/>
          </a:p>
        </p:txBody>
      </p:sp>
      <p:sp>
        <p:nvSpPr>
          <p:cNvPr id="18" name="Text 13"/>
          <p:cNvSpPr/>
          <p:nvPr/>
        </p:nvSpPr>
        <p:spPr>
          <a:xfrm>
            <a:off x="5989320" y="1737360"/>
            <a:ext cx="5623560" cy="4297680"/>
          </a:xfrm>
          <a:prstGeom prst="rect">
            <a:avLst/>
          </a:prstGeom>
          <a:noFill/>
          <a:ln/>
        </p:spPr>
        <p:txBody>
          <a:bodyPr wrap="square" lIns="0" tIns="0" rIns="0" bIns="0" rtlCol="0" anchor="t"/>
          <a:lstStyle/>
          <a:p>
            <a:pPr marL="228600" indent="-228600">
              <a:lnSpc>
                <a:spcPts val="3000"/>
              </a:lnSpc>
              <a:spcAft>
                <a:spcPts val="1200"/>
              </a:spcAft>
              <a:buSzPct val="100000"/>
              <a:buChar char="●"/>
            </a:pPr>
            <a:r>
              <a:rPr lang="en-US" sz="1350" dirty="0">
                <a:solidFill>
                  <a:srgbClr val="FFFFFF"/>
                </a:solidFill>
                <a:latin typeface="Calibri" pitchFamily="34" charset="0"/>
                <a:ea typeface="Calibri" pitchFamily="34" charset="-122"/>
                <a:cs typeface="Calibri" pitchFamily="34" charset="-120"/>
              </a:rPr>
              <a:t>Read the domain right to left — check what's directly before ".com"</a:t>
            </a:r>
            <a:endParaRPr lang="en-US" sz="1350" dirty="0"/>
          </a:p>
          <a:p>
            <a:pPr marL="228600" indent="-228600">
              <a:lnSpc>
                <a:spcPts val="3000"/>
              </a:lnSpc>
              <a:spcAft>
                <a:spcPts val="1200"/>
              </a:spcAft>
              <a:buSzPct val="100000"/>
              <a:buChar char="●"/>
            </a:pPr>
            <a:r>
              <a:rPr lang="en-US" sz="1350" dirty="0">
                <a:solidFill>
                  <a:srgbClr val="FFFFFF"/>
                </a:solidFill>
                <a:latin typeface="Calibri" pitchFamily="34" charset="0"/>
                <a:ea typeface="Calibri" pitchFamily="34" charset="-122"/>
                <a:cs typeface="Calibri" pitchFamily="34" charset="-120"/>
              </a:rPr>
              <a:t>Watch for extra words, hyphens, or swapped letters</a:t>
            </a:r>
            <a:endParaRPr lang="en-US" sz="1350" dirty="0"/>
          </a:p>
          <a:p>
            <a:pPr marL="228600" indent="-228600">
              <a:lnSpc>
                <a:spcPts val="3000"/>
              </a:lnSpc>
              <a:spcAft>
                <a:spcPts val="1200"/>
              </a:spcAft>
              <a:buSzPct val="100000"/>
              <a:buChar char="●"/>
            </a:pPr>
            <a:r>
              <a:rPr lang="en-US" sz="1350" dirty="0">
                <a:solidFill>
                  <a:srgbClr val="FFFFFF"/>
                </a:solidFill>
                <a:latin typeface="Calibri" pitchFamily="34" charset="0"/>
                <a:ea typeface="Calibri" pitchFamily="34" charset="-122"/>
                <a:cs typeface="Calibri" pitchFamily="34" charset="-120"/>
              </a:rPr>
              <a:t>A padlock icon means encrypted, not trustworthy</a:t>
            </a:r>
            <a:endParaRPr lang="en-US" sz="1350" dirty="0"/>
          </a:p>
          <a:p>
            <a:pPr marL="228600" indent="-228600">
              <a:lnSpc>
                <a:spcPts val="3000"/>
              </a:lnSpc>
              <a:spcAft>
                <a:spcPts val="1200"/>
              </a:spcAft>
              <a:buSzPct val="100000"/>
              <a:buChar char="●"/>
            </a:pPr>
            <a:r>
              <a:rPr lang="en-US" sz="1350" dirty="0">
                <a:solidFill>
                  <a:srgbClr val="FFFFFF"/>
                </a:solidFill>
                <a:latin typeface="Calibri" pitchFamily="34" charset="0"/>
                <a:ea typeface="Calibri" pitchFamily="34" charset="-122"/>
                <a:cs typeface="Calibri" pitchFamily="34" charset="-120"/>
              </a:rPr>
              <a:t>Bookmark login pages instead of clicking email links</a:t>
            </a:r>
            <a:endParaRPr lang="en-US" sz="1350" dirty="0"/>
          </a:p>
          <a:p>
            <a:pPr marL="228600" indent="-228600">
              <a:lnSpc>
                <a:spcPts val="3000"/>
              </a:lnSpc>
              <a:spcAft>
                <a:spcPts val="1200"/>
              </a:spcAft>
              <a:buSzPct val="100000"/>
              <a:buChar char="●"/>
            </a:pPr>
            <a:r>
              <a:rPr lang="en-US" sz="1350" dirty="0">
                <a:solidFill>
                  <a:srgbClr val="FFFFFF"/>
                </a:solidFill>
                <a:latin typeface="Calibri" pitchFamily="34" charset="0"/>
                <a:ea typeface="Calibri" pitchFamily="34" charset="-122"/>
                <a:cs typeface="Calibri" pitchFamily="34" charset="-120"/>
              </a:rPr>
              <a:t>Hover to preview the real destination before clicking</a:t>
            </a:r>
            <a:endParaRPr lang="en-US" sz="1350" dirty="0"/>
          </a:p>
        </p:txBody>
      </p:sp>
      <p:sp>
        <p:nvSpPr>
          <p:cNvPr id="19" name="Text 14"/>
          <p:cNvSpPr/>
          <p:nvPr/>
        </p:nvSpPr>
        <p:spPr>
          <a:xfrm>
            <a:off x="11155680" y="6473952"/>
            <a:ext cx="822960" cy="274320"/>
          </a:xfrm>
          <a:prstGeom prst="rect">
            <a:avLst/>
          </a:prstGeom>
          <a:noFill/>
          <a:ln/>
        </p:spPr>
        <p:txBody>
          <a:bodyPr wrap="square" lIns="0" tIns="0" rIns="0" bIns="0" rtlCol="0" anchor="ctr"/>
          <a:lstStyle/>
          <a:p>
            <a:pPr marL="0" indent="0" algn="r">
              <a:buNone/>
            </a:pPr>
            <a:r>
              <a:rPr lang="en-US" sz="900" dirty="0">
                <a:solidFill>
                  <a:srgbClr val="9FB3C8"/>
                </a:solidFill>
                <a:latin typeface="Calibri" pitchFamily="34" charset="0"/>
                <a:ea typeface="Calibri" pitchFamily="34" charset="-122"/>
                <a:cs typeface="Calibri" pitchFamily="34" charset="-120"/>
              </a:rPr>
              <a:t>07 / 16</a:t>
            </a:r>
            <a:endParaRPr lang="en-US" sz="900" dirty="0"/>
          </a:p>
        </p:txBody>
      </p:sp>
      <p:sp>
        <p:nvSpPr>
          <p:cNvPr id="20" name="Text 15"/>
          <p:cNvSpPr/>
          <p:nvPr/>
        </p:nvSpPr>
        <p:spPr>
          <a:xfrm>
            <a:off x="548640" y="6473952"/>
            <a:ext cx="5486400" cy="274320"/>
          </a:xfrm>
          <a:prstGeom prst="rect">
            <a:avLst/>
          </a:prstGeom>
          <a:noFill/>
          <a:ln/>
        </p:spPr>
        <p:txBody>
          <a:bodyPr wrap="square" lIns="0" tIns="0" rIns="0" bIns="0" rtlCol="0" anchor="ctr"/>
          <a:lstStyle/>
          <a:p>
            <a:pPr marL="0" indent="0">
              <a:buNone/>
            </a:pPr>
            <a:r>
              <a:rPr lang="en-US" sz="900" kern="0" spc="100" dirty="0">
                <a:solidFill>
                  <a:srgbClr val="9FB3C8"/>
                </a:solidFill>
                <a:latin typeface="Calibri" pitchFamily="34" charset="0"/>
                <a:ea typeface="Calibri" pitchFamily="34" charset="-122"/>
                <a:cs typeface="Calibri" pitchFamily="34" charset="-120"/>
              </a:rPr>
              <a:t>PHISHING AWARENESS TRAINING</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bg>
      <p:bgPr>
        <a:solidFill>
          <a:srgbClr val="0A1628"/>
        </a:solidFill>
        <a:effectLst/>
      </p:bgPr>
    </p:bg>
    <p:spTree>
      <p:nvGrpSpPr>
        <p:cNvPr id="1" name=""/>
        <p:cNvGrpSpPr/>
        <p:nvPr/>
      </p:nvGrpSpPr>
      <p:grpSpPr>
        <a:xfrm>
          <a:off x="0" y="0"/>
          <a:ext cx="0" cy="0"/>
          <a:chOff x="0" y="0"/>
          <a:chExt cx="0" cy="0"/>
        </a:xfrm>
      </p:grpSpPr>
      <p:sp>
        <p:nvSpPr>
          <p:cNvPr id="2" name="Text 0"/>
          <p:cNvSpPr/>
          <p:nvPr/>
        </p:nvSpPr>
        <p:spPr>
          <a:xfrm>
            <a:off x="548640" y="320040"/>
            <a:ext cx="7315200" cy="320040"/>
          </a:xfrm>
          <a:prstGeom prst="rect">
            <a:avLst/>
          </a:prstGeom>
          <a:noFill/>
          <a:ln/>
        </p:spPr>
        <p:txBody>
          <a:bodyPr wrap="square" lIns="0" tIns="0" rIns="0" bIns="0" rtlCol="0" anchor="ctr"/>
          <a:lstStyle/>
          <a:p>
            <a:pPr marL="0" indent="0">
              <a:buNone/>
            </a:pPr>
            <a:r>
              <a:rPr lang="en-US" sz="1200" b="1" kern="0" spc="200" dirty="0">
                <a:solidFill>
                  <a:srgbClr val="22D3EE"/>
                </a:solidFill>
                <a:latin typeface="Arial" pitchFamily="34" charset="0"/>
                <a:ea typeface="Arial" pitchFamily="34" charset="-122"/>
                <a:cs typeface="Arial" pitchFamily="34" charset="-120"/>
              </a:rPr>
              <a:t>THE PSYCHOLOGY</a:t>
            </a:r>
            <a:endParaRPr lang="en-US" sz="1200" dirty="0"/>
          </a:p>
        </p:txBody>
      </p:sp>
      <p:sp>
        <p:nvSpPr>
          <p:cNvPr id="3" name="Text 1"/>
          <p:cNvSpPr/>
          <p:nvPr/>
        </p:nvSpPr>
        <p:spPr>
          <a:xfrm>
            <a:off x="548640" y="621792"/>
            <a:ext cx="10789920" cy="685800"/>
          </a:xfrm>
          <a:prstGeom prst="rect">
            <a:avLst/>
          </a:prstGeom>
          <a:noFill/>
          <a:ln/>
        </p:spPr>
        <p:txBody>
          <a:bodyPr wrap="square" lIns="0" tIns="0" rIns="0" bIns="0" rtlCol="0" anchor="ctr"/>
          <a:lstStyle/>
          <a:p>
            <a:pPr marL="0" indent="0">
              <a:buNone/>
            </a:pPr>
            <a:r>
              <a:rPr lang="en-US" sz="3200" b="1" dirty="0">
                <a:solidFill>
                  <a:srgbClr val="FFFFFF"/>
                </a:solidFill>
                <a:latin typeface="Arial" pitchFamily="34" charset="0"/>
                <a:ea typeface="Arial" pitchFamily="34" charset="-122"/>
                <a:cs typeface="Arial" pitchFamily="34" charset="-120"/>
              </a:rPr>
              <a:t>Social Engineering Techniques</a:t>
            </a:r>
            <a:endParaRPr lang="en-US" sz="3200" dirty="0"/>
          </a:p>
        </p:txBody>
      </p:sp>
      <p:sp>
        <p:nvSpPr>
          <p:cNvPr id="4" name="Shape 2"/>
          <p:cNvSpPr/>
          <p:nvPr/>
        </p:nvSpPr>
        <p:spPr>
          <a:xfrm>
            <a:off x="548640" y="1783080"/>
            <a:ext cx="3502152" cy="1783080"/>
          </a:xfrm>
          <a:prstGeom prst="roundRect">
            <a:avLst>
              <a:gd name="adj" fmla="val 4103"/>
            </a:avLst>
          </a:prstGeom>
          <a:solidFill>
            <a:srgbClr val="10233F"/>
          </a:solidFill>
          <a:ln w="9525">
            <a:solidFill>
              <a:srgbClr val="1D3A63"/>
            </a:solidFill>
            <a:prstDash val="solid"/>
          </a:ln>
          <a:effectLst>
            <a:outerShdw blurRad="76200" dist="38100" dir="5400000" algn="bl" rotWithShape="0">
              <a:srgbClr val="000000">
                <a:alpha val="35000"/>
              </a:srgbClr>
            </a:outerShdw>
          </a:effectLst>
        </p:spPr>
      </p:sp>
      <p:sp>
        <p:nvSpPr>
          <p:cNvPr id="5" name="Shape 3"/>
          <p:cNvSpPr/>
          <p:nvPr/>
        </p:nvSpPr>
        <p:spPr>
          <a:xfrm>
            <a:off x="804672" y="2039112"/>
            <a:ext cx="530352" cy="530352"/>
          </a:xfrm>
          <a:prstGeom prst="ellipse">
            <a:avLst/>
          </a:prstGeom>
          <a:solidFill>
            <a:srgbClr val="132A4C"/>
          </a:solidFill>
          <a:ln w="15875">
            <a:solidFill>
              <a:srgbClr val="22D3EE"/>
            </a:solidFill>
            <a:prstDash val="solid"/>
          </a:ln>
        </p:spPr>
      </p:sp>
      <p:pic>
        <p:nvPicPr>
          <p:cNvPr id="6" name="Image 0" descr="/home/claude/phishing/icons/users.png"/>
          <p:cNvPicPr>
            <a:picLocks noChangeAspect="1"/>
          </p:cNvPicPr>
          <p:nvPr/>
        </p:nvPicPr>
        <p:blipFill>
          <a:blip r:embed="rId3"/>
          <a:stretch>
            <a:fillRect/>
          </a:stretch>
        </p:blipFill>
        <p:spPr>
          <a:xfrm>
            <a:off x="941832" y="2176272"/>
            <a:ext cx="256032" cy="256032"/>
          </a:xfrm>
          <a:prstGeom prst="rect">
            <a:avLst/>
          </a:prstGeom>
        </p:spPr>
      </p:pic>
      <p:sp>
        <p:nvSpPr>
          <p:cNvPr id="7" name="Text 4"/>
          <p:cNvSpPr/>
          <p:nvPr/>
        </p:nvSpPr>
        <p:spPr>
          <a:xfrm>
            <a:off x="804672" y="2697480"/>
            <a:ext cx="2990088" cy="320040"/>
          </a:xfrm>
          <a:prstGeom prst="rect">
            <a:avLst/>
          </a:prstGeom>
          <a:noFill/>
          <a:ln/>
        </p:spPr>
        <p:txBody>
          <a:bodyPr wrap="square" lIns="0" tIns="0" rIns="0" bIns="0" rtlCol="0" anchor="ctr"/>
          <a:lstStyle/>
          <a:p>
            <a:pPr marL="0" indent="0">
              <a:buNone/>
            </a:pPr>
            <a:r>
              <a:rPr lang="en-US" sz="1400" b="1" dirty="0">
                <a:solidFill>
                  <a:srgbClr val="FFFFFF"/>
                </a:solidFill>
                <a:latin typeface="Arial" pitchFamily="34" charset="0"/>
                <a:ea typeface="Arial" pitchFamily="34" charset="-122"/>
                <a:cs typeface="Arial" pitchFamily="34" charset="-120"/>
              </a:rPr>
              <a:t>Authority</a:t>
            </a:r>
            <a:endParaRPr lang="en-US" sz="1400" dirty="0"/>
          </a:p>
        </p:txBody>
      </p:sp>
      <p:sp>
        <p:nvSpPr>
          <p:cNvPr id="8" name="Text 5"/>
          <p:cNvSpPr/>
          <p:nvPr/>
        </p:nvSpPr>
        <p:spPr>
          <a:xfrm>
            <a:off x="804672" y="3017520"/>
            <a:ext cx="2990088" cy="457200"/>
          </a:xfrm>
          <a:prstGeom prst="rect">
            <a:avLst/>
          </a:prstGeom>
          <a:noFill/>
          <a:ln/>
        </p:spPr>
        <p:txBody>
          <a:bodyPr wrap="square" lIns="0" tIns="0" rIns="0" bIns="0" rtlCol="0" anchor="ctr"/>
          <a:lstStyle/>
          <a:p>
            <a:pPr marL="0" indent="0">
              <a:buNone/>
            </a:pPr>
            <a:r>
              <a:rPr lang="en-US" sz="1100" i="1" dirty="0">
                <a:solidFill>
                  <a:srgbClr val="9FB3C8"/>
                </a:solidFill>
                <a:latin typeface="Calibri" pitchFamily="34" charset="0"/>
                <a:ea typeface="Calibri" pitchFamily="34" charset="-122"/>
                <a:cs typeface="Calibri" pitchFamily="34" charset="-120"/>
              </a:rPr>
              <a:t>"This is your CEO — do it now."</a:t>
            </a:r>
            <a:endParaRPr lang="en-US" sz="1100" dirty="0"/>
          </a:p>
        </p:txBody>
      </p:sp>
      <p:sp>
        <p:nvSpPr>
          <p:cNvPr id="9" name="Shape 6"/>
          <p:cNvSpPr/>
          <p:nvPr/>
        </p:nvSpPr>
        <p:spPr>
          <a:xfrm>
            <a:off x="4233672" y="1783080"/>
            <a:ext cx="3502152" cy="1783080"/>
          </a:xfrm>
          <a:prstGeom prst="roundRect">
            <a:avLst>
              <a:gd name="adj" fmla="val 4103"/>
            </a:avLst>
          </a:prstGeom>
          <a:solidFill>
            <a:srgbClr val="10233F"/>
          </a:solidFill>
          <a:ln w="9525">
            <a:solidFill>
              <a:srgbClr val="1D3A63"/>
            </a:solidFill>
            <a:prstDash val="solid"/>
          </a:ln>
          <a:effectLst>
            <a:outerShdw blurRad="76200" dist="38100" dir="5400000" algn="bl" rotWithShape="0">
              <a:srgbClr val="000000">
                <a:alpha val="35000"/>
              </a:srgbClr>
            </a:outerShdw>
          </a:effectLst>
        </p:spPr>
      </p:sp>
      <p:sp>
        <p:nvSpPr>
          <p:cNvPr id="10" name="Shape 7"/>
          <p:cNvSpPr/>
          <p:nvPr/>
        </p:nvSpPr>
        <p:spPr>
          <a:xfrm>
            <a:off x="4489704" y="2039112"/>
            <a:ext cx="530352" cy="530352"/>
          </a:xfrm>
          <a:prstGeom prst="ellipse">
            <a:avLst/>
          </a:prstGeom>
          <a:solidFill>
            <a:srgbClr val="132A4C"/>
          </a:solidFill>
          <a:ln w="15875">
            <a:solidFill>
              <a:srgbClr val="22D3EE"/>
            </a:solidFill>
            <a:prstDash val="solid"/>
          </a:ln>
        </p:spPr>
      </p:sp>
      <p:pic>
        <p:nvPicPr>
          <p:cNvPr id="11" name="Image 1" descr="/home/claude/phishing/icons/alert.png"/>
          <p:cNvPicPr>
            <a:picLocks noChangeAspect="1"/>
          </p:cNvPicPr>
          <p:nvPr/>
        </p:nvPicPr>
        <p:blipFill>
          <a:blip r:embed="rId4"/>
          <a:stretch>
            <a:fillRect/>
          </a:stretch>
        </p:blipFill>
        <p:spPr>
          <a:xfrm>
            <a:off x="4626864" y="2176272"/>
            <a:ext cx="256032" cy="256032"/>
          </a:xfrm>
          <a:prstGeom prst="rect">
            <a:avLst/>
          </a:prstGeom>
        </p:spPr>
      </p:pic>
      <p:sp>
        <p:nvSpPr>
          <p:cNvPr id="12" name="Text 8"/>
          <p:cNvSpPr/>
          <p:nvPr/>
        </p:nvSpPr>
        <p:spPr>
          <a:xfrm>
            <a:off x="4489704" y="2697480"/>
            <a:ext cx="2990088" cy="320040"/>
          </a:xfrm>
          <a:prstGeom prst="rect">
            <a:avLst/>
          </a:prstGeom>
          <a:noFill/>
          <a:ln/>
        </p:spPr>
        <p:txBody>
          <a:bodyPr wrap="square" lIns="0" tIns="0" rIns="0" bIns="0" rtlCol="0" anchor="ctr"/>
          <a:lstStyle/>
          <a:p>
            <a:pPr marL="0" indent="0">
              <a:buNone/>
            </a:pPr>
            <a:r>
              <a:rPr lang="en-US" sz="1400" b="1" dirty="0">
                <a:solidFill>
                  <a:srgbClr val="FFFFFF"/>
                </a:solidFill>
                <a:latin typeface="Arial" pitchFamily="34" charset="0"/>
                <a:ea typeface="Arial" pitchFamily="34" charset="-122"/>
                <a:cs typeface="Arial" pitchFamily="34" charset="-120"/>
              </a:rPr>
              <a:t>Fear</a:t>
            </a:r>
            <a:endParaRPr lang="en-US" sz="1400" dirty="0"/>
          </a:p>
        </p:txBody>
      </p:sp>
      <p:sp>
        <p:nvSpPr>
          <p:cNvPr id="13" name="Text 9"/>
          <p:cNvSpPr/>
          <p:nvPr/>
        </p:nvSpPr>
        <p:spPr>
          <a:xfrm>
            <a:off x="4489704" y="3017520"/>
            <a:ext cx="2990088" cy="457200"/>
          </a:xfrm>
          <a:prstGeom prst="rect">
            <a:avLst/>
          </a:prstGeom>
          <a:noFill/>
          <a:ln/>
        </p:spPr>
        <p:txBody>
          <a:bodyPr wrap="square" lIns="0" tIns="0" rIns="0" bIns="0" rtlCol="0" anchor="ctr"/>
          <a:lstStyle/>
          <a:p>
            <a:pPr marL="0" indent="0">
              <a:buNone/>
            </a:pPr>
            <a:r>
              <a:rPr lang="en-US" sz="1100" i="1" dirty="0">
                <a:solidFill>
                  <a:srgbClr val="9FB3C8"/>
                </a:solidFill>
                <a:latin typeface="Calibri" pitchFamily="34" charset="0"/>
                <a:ea typeface="Calibri" pitchFamily="34" charset="-122"/>
                <a:cs typeface="Calibri" pitchFamily="34" charset="-120"/>
              </a:rPr>
              <a:t>"Your account is compromised."</a:t>
            </a:r>
            <a:endParaRPr lang="en-US" sz="1100" dirty="0"/>
          </a:p>
        </p:txBody>
      </p:sp>
      <p:sp>
        <p:nvSpPr>
          <p:cNvPr id="14" name="Shape 10"/>
          <p:cNvSpPr/>
          <p:nvPr/>
        </p:nvSpPr>
        <p:spPr>
          <a:xfrm>
            <a:off x="7918704" y="1783080"/>
            <a:ext cx="3502152" cy="1783080"/>
          </a:xfrm>
          <a:prstGeom prst="roundRect">
            <a:avLst>
              <a:gd name="adj" fmla="val 4103"/>
            </a:avLst>
          </a:prstGeom>
          <a:solidFill>
            <a:srgbClr val="10233F"/>
          </a:solidFill>
          <a:ln w="9525">
            <a:solidFill>
              <a:srgbClr val="1D3A63"/>
            </a:solidFill>
            <a:prstDash val="solid"/>
          </a:ln>
          <a:effectLst>
            <a:outerShdw blurRad="76200" dist="38100" dir="5400000" algn="bl" rotWithShape="0">
              <a:srgbClr val="000000">
                <a:alpha val="35000"/>
              </a:srgbClr>
            </a:outerShdw>
          </a:effectLst>
        </p:spPr>
      </p:sp>
      <p:sp>
        <p:nvSpPr>
          <p:cNvPr id="15" name="Shape 11"/>
          <p:cNvSpPr/>
          <p:nvPr/>
        </p:nvSpPr>
        <p:spPr>
          <a:xfrm>
            <a:off x="8174736" y="2039112"/>
            <a:ext cx="530352" cy="530352"/>
          </a:xfrm>
          <a:prstGeom prst="ellipse">
            <a:avLst/>
          </a:prstGeom>
          <a:solidFill>
            <a:srgbClr val="132A4C"/>
          </a:solidFill>
          <a:ln w="15875">
            <a:solidFill>
              <a:srgbClr val="22D3EE"/>
            </a:solidFill>
            <a:prstDash val="solid"/>
          </a:ln>
        </p:spPr>
      </p:sp>
      <p:pic>
        <p:nvPicPr>
          <p:cNvPr id="16" name="Image 2" descr="/home/claude/phishing/icons/clock.png"/>
          <p:cNvPicPr>
            <a:picLocks noChangeAspect="1"/>
          </p:cNvPicPr>
          <p:nvPr/>
        </p:nvPicPr>
        <p:blipFill>
          <a:blip r:embed="rId5"/>
          <a:stretch>
            <a:fillRect/>
          </a:stretch>
        </p:blipFill>
        <p:spPr>
          <a:xfrm>
            <a:off x="8311896" y="2176272"/>
            <a:ext cx="256032" cy="256032"/>
          </a:xfrm>
          <a:prstGeom prst="rect">
            <a:avLst/>
          </a:prstGeom>
        </p:spPr>
      </p:pic>
      <p:sp>
        <p:nvSpPr>
          <p:cNvPr id="17" name="Text 12"/>
          <p:cNvSpPr/>
          <p:nvPr/>
        </p:nvSpPr>
        <p:spPr>
          <a:xfrm>
            <a:off x="8174736" y="2697480"/>
            <a:ext cx="2990088" cy="320040"/>
          </a:xfrm>
          <a:prstGeom prst="rect">
            <a:avLst/>
          </a:prstGeom>
          <a:noFill/>
          <a:ln/>
        </p:spPr>
        <p:txBody>
          <a:bodyPr wrap="square" lIns="0" tIns="0" rIns="0" bIns="0" rtlCol="0" anchor="ctr"/>
          <a:lstStyle/>
          <a:p>
            <a:pPr marL="0" indent="0">
              <a:buNone/>
            </a:pPr>
            <a:r>
              <a:rPr lang="en-US" sz="1400" b="1" dirty="0">
                <a:solidFill>
                  <a:srgbClr val="FFFFFF"/>
                </a:solidFill>
                <a:latin typeface="Arial" pitchFamily="34" charset="0"/>
                <a:ea typeface="Arial" pitchFamily="34" charset="-122"/>
                <a:cs typeface="Arial" pitchFamily="34" charset="-120"/>
              </a:rPr>
              <a:t>Urgency</a:t>
            </a:r>
            <a:endParaRPr lang="en-US" sz="1400" dirty="0"/>
          </a:p>
        </p:txBody>
      </p:sp>
      <p:sp>
        <p:nvSpPr>
          <p:cNvPr id="18" name="Text 13"/>
          <p:cNvSpPr/>
          <p:nvPr/>
        </p:nvSpPr>
        <p:spPr>
          <a:xfrm>
            <a:off x="8174736" y="3017520"/>
            <a:ext cx="2990088" cy="457200"/>
          </a:xfrm>
          <a:prstGeom prst="rect">
            <a:avLst/>
          </a:prstGeom>
          <a:noFill/>
          <a:ln/>
        </p:spPr>
        <p:txBody>
          <a:bodyPr wrap="square" lIns="0" tIns="0" rIns="0" bIns="0" rtlCol="0" anchor="ctr"/>
          <a:lstStyle/>
          <a:p>
            <a:pPr marL="0" indent="0">
              <a:buNone/>
            </a:pPr>
            <a:r>
              <a:rPr lang="en-US" sz="1100" i="1" dirty="0">
                <a:solidFill>
                  <a:srgbClr val="9FB3C8"/>
                </a:solidFill>
                <a:latin typeface="Calibri" pitchFamily="34" charset="0"/>
                <a:ea typeface="Calibri" pitchFamily="34" charset="-122"/>
                <a:cs typeface="Calibri" pitchFamily="34" charset="-120"/>
              </a:rPr>
              <a:t>"Respond within the hour."</a:t>
            </a:r>
            <a:endParaRPr lang="en-US" sz="1100" dirty="0"/>
          </a:p>
        </p:txBody>
      </p:sp>
      <p:sp>
        <p:nvSpPr>
          <p:cNvPr id="19" name="Shape 14"/>
          <p:cNvSpPr/>
          <p:nvPr/>
        </p:nvSpPr>
        <p:spPr>
          <a:xfrm>
            <a:off x="548640" y="3749040"/>
            <a:ext cx="3502152" cy="1783080"/>
          </a:xfrm>
          <a:prstGeom prst="roundRect">
            <a:avLst>
              <a:gd name="adj" fmla="val 4103"/>
            </a:avLst>
          </a:prstGeom>
          <a:solidFill>
            <a:srgbClr val="10233F"/>
          </a:solidFill>
          <a:ln w="9525">
            <a:solidFill>
              <a:srgbClr val="1D3A63"/>
            </a:solidFill>
            <a:prstDash val="solid"/>
          </a:ln>
          <a:effectLst>
            <a:outerShdw blurRad="76200" dist="38100" dir="5400000" algn="bl" rotWithShape="0">
              <a:srgbClr val="000000">
                <a:alpha val="35000"/>
              </a:srgbClr>
            </a:outerShdw>
          </a:effectLst>
        </p:spPr>
      </p:sp>
      <p:sp>
        <p:nvSpPr>
          <p:cNvPr id="20" name="Shape 15"/>
          <p:cNvSpPr/>
          <p:nvPr/>
        </p:nvSpPr>
        <p:spPr>
          <a:xfrm>
            <a:off x="804672" y="4005072"/>
            <a:ext cx="530352" cy="530352"/>
          </a:xfrm>
          <a:prstGeom prst="ellipse">
            <a:avLst/>
          </a:prstGeom>
          <a:solidFill>
            <a:srgbClr val="132A4C"/>
          </a:solidFill>
          <a:ln w="15875">
            <a:solidFill>
              <a:srgbClr val="22D3EE"/>
            </a:solidFill>
            <a:prstDash val="solid"/>
          </a:ln>
        </p:spPr>
      </p:sp>
      <p:pic>
        <p:nvPicPr>
          <p:cNvPr id="21" name="Image 3" descr="/home/claude/phishing/icons/helpcircle.png"/>
          <p:cNvPicPr>
            <a:picLocks noChangeAspect="1"/>
          </p:cNvPicPr>
          <p:nvPr/>
        </p:nvPicPr>
        <p:blipFill>
          <a:blip r:embed="rId6"/>
          <a:stretch>
            <a:fillRect/>
          </a:stretch>
        </p:blipFill>
        <p:spPr>
          <a:xfrm>
            <a:off x="941832" y="4142232"/>
            <a:ext cx="256032" cy="256032"/>
          </a:xfrm>
          <a:prstGeom prst="rect">
            <a:avLst/>
          </a:prstGeom>
        </p:spPr>
      </p:pic>
      <p:sp>
        <p:nvSpPr>
          <p:cNvPr id="22" name="Text 16"/>
          <p:cNvSpPr/>
          <p:nvPr/>
        </p:nvSpPr>
        <p:spPr>
          <a:xfrm>
            <a:off x="804672" y="4663440"/>
            <a:ext cx="2990088" cy="320040"/>
          </a:xfrm>
          <a:prstGeom prst="rect">
            <a:avLst/>
          </a:prstGeom>
          <a:noFill/>
          <a:ln/>
        </p:spPr>
        <p:txBody>
          <a:bodyPr wrap="square" lIns="0" tIns="0" rIns="0" bIns="0" rtlCol="0" anchor="ctr"/>
          <a:lstStyle/>
          <a:p>
            <a:pPr marL="0" indent="0">
              <a:buNone/>
            </a:pPr>
            <a:r>
              <a:rPr lang="en-US" sz="1400" b="1" dirty="0">
                <a:solidFill>
                  <a:srgbClr val="FFFFFF"/>
                </a:solidFill>
                <a:latin typeface="Arial" pitchFamily="34" charset="0"/>
                <a:ea typeface="Arial" pitchFamily="34" charset="-122"/>
                <a:cs typeface="Arial" pitchFamily="34" charset="-120"/>
              </a:rPr>
              <a:t>Curiosity</a:t>
            </a:r>
            <a:endParaRPr lang="en-US" sz="1400" dirty="0"/>
          </a:p>
        </p:txBody>
      </p:sp>
      <p:sp>
        <p:nvSpPr>
          <p:cNvPr id="23" name="Text 17"/>
          <p:cNvSpPr/>
          <p:nvPr/>
        </p:nvSpPr>
        <p:spPr>
          <a:xfrm>
            <a:off x="804672" y="4983480"/>
            <a:ext cx="2990088" cy="457200"/>
          </a:xfrm>
          <a:prstGeom prst="rect">
            <a:avLst/>
          </a:prstGeom>
          <a:noFill/>
          <a:ln/>
        </p:spPr>
        <p:txBody>
          <a:bodyPr wrap="square" lIns="0" tIns="0" rIns="0" bIns="0" rtlCol="0" anchor="ctr"/>
          <a:lstStyle/>
          <a:p>
            <a:pPr marL="0" indent="0">
              <a:buNone/>
            </a:pPr>
            <a:r>
              <a:rPr lang="en-US" sz="1100" i="1" dirty="0">
                <a:solidFill>
                  <a:srgbClr val="9FB3C8"/>
                </a:solidFill>
                <a:latin typeface="Calibri" pitchFamily="34" charset="0"/>
                <a:ea typeface="Calibri" pitchFamily="34" charset="-122"/>
                <a:cs typeface="Calibri" pitchFamily="34" charset="-120"/>
              </a:rPr>
              <a:t>"See who viewed your profile."</a:t>
            </a:r>
            <a:endParaRPr lang="en-US" sz="1100" dirty="0"/>
          </a:p>
        </p:txBody>
      </p:sp>
      <p:sp>
        <p:nvSpPr>
          <p:cNvPr id="24" name="Shape 18"/>
          <p:cNvSpPr/>
          <p:nvPr/>
        </p:nvSpPr>
        <p:spPr>
          <a:xfrm>
            <a:off x="4233672" y="3749040"/>
            <a:ext cx="3502152" cy="1783080"/>
          </a:xfrm>
          <a:prstGeom prst="roundRect">
            <a:avLst>
              <a:gd name="adj" fmla="val 4103"/>
            </a:avLst>
          </a:prstGeom>
          <a:solidFill>
            <a:srgbClr val="10233F"/>
          </a:solidFill>
          <a:ln w="9525">
            <a:solidFill>
              <a:srgbClr val="1D3A63"/>
            </a:solidFill>
            <a:prstDash val="solid"/>
          </a:ln>
          <a:effectLst>
            <a:outerShdw blurRad="76200" dist="38100" dir="5400000" algn="bl" rotWithShape="0">
              <a:srgbClr val="000000">
                <a:alpha val="35000"/>
              </a:srgbClr>
            </a:outerShdw>
          </a:effectLst>
        </p:spPr>
      </p:sp>
      <p:sp>
        <p:nvSpPr>
          <p:cNvPr id="25" name="Shape 19"/>
          <p:cNvSpPr/>
          <p:nvPr/>
        </p:nvSpPr>
        <p:spPr>
          <a:xfrm>
            <a:off x="4489704" y="4005072"/>
            <a:ext cx="530352" cy="530352"/>
          </a:xfrm>
          <a:prstGeom prst="ellipse">
            <a:avLst/>
          </a:prstGeom>
          <a:solidFill>
            <a:srgbClr val="132A4C"/>
          </a:solidFill>
          <a:ln w="15875">
            <a:solidFill>
              <a:srgbClr val="22D3EE"/>
            </a:solidFill>
            <a:prstDash val="solid"/>
          </a:ln>
        </p:spPr>
      </p:sp>
      <p:pic>
        <p:nvPicPr>
          <p:cNvPr id="26" name="Image 4" descr="/home/claude/phishing/icons/gift.png"/>
          <p:cNvPicPr>
            <a:picLocks noChangeAspect="1"/>
          </p:cNvPicPr>
          <p:nvPr/>
        </p:nvPicPr>
        <p:blipFill>
          <a:blip r:embed="rId7"/>
          <a:stretch>
            <a:fillRect/>
          </a:stretch>
        </p:blipFill>
        <p:spPr>
          <a:xfrm>
            <a:off x="4626864" y="4142232"/>
            <a:ext cx="256032" cy="256032"/>
          </a:xfrm>
          <a:prstGeom prst="rect">
            <a:avLst/>
          </a:prstGeom>
        </p:spPr>
      </p:pic>
      <p:sp>
        <p:nvSpPr>
          <p:cNvPr id="27" name="Text 20"/>
          <p:cNvSpPr/>
          <p:nvPr/>
        </p:nvSpPr>
        <p:spPr>
          <a:xfrm>
            <a:off x="4489704" y="4663440"/>
            <a:ext cx="2990088" cy="320040"/>
          </a:xfrm>
          <a:prstGeom prst="rect">
            <a:avLst/>
          </a:prstGeom>
          <a:noFill/>
          <a:ln/>
        </p:spPr>
        <p:txBody>
          <a:bodyPr wrap="square" lIns="0" tIns="0" rIns="0" bIns="0" rtlCol="0" anchor="ctr"/>
          <a:lstStyle/>
          <a:p>
            <a:pPr marL="0" indent="0">
              <a:buNone/>
            </a:pPr>
            <a:r>
              <a:rPr lang="en-US" sz="1400" b="1" dirty="0">
                <a:solidFill>
                  <a:srgbClr val="FFFFFF"/>
                </a:solidFill>
                <a:latin typeface="Arial" pitchFamily="34" charset="0"/>
                <a:ea typeface="Arial" pitchFamily="34" charset="-122"/>
                <a:cs typeface="Arial" pitchFamily="34" charset="-120"/>
              </a:rPr>
              <a:t>Rewards</a:t>
            </a:r>
            <a:endParaRPr lang="en-US" sz="1400" dirty="0"/>
          </a:p>
        </p:txBody>
      </p:sp>
      <p:sp>
        <p:nvSpPr>
          <p:cNvPr id="28" name="Text 21"/>
          <p:cNvSpPr/>
          <p:nvPr/>
        </p:nvSpPr>
        <p:spPr>
          <a:xfrm>
            <a:off x="4489704" y="4983480"/>
            <a:ext cx="2990088" cy="457200"/>
          </a:xfrm>
          <a:prstGeom prst="rect">
            <a:avLst/>
          </a:prstGeom>
          <a:noFill/>
          <a:ln/>
        </p:spPr>
        <p:txBody>
          <a:bodyPr wrap="square" lIns="0" tIns="0" rIns="0" bIns="0" rtlCol="0" anchor="ctr"/>
          <a:lstStyle/>
          <a:p>
            <a:pPr marL="0" indent="0">
              <a:buNone/>
            </a:pPr>
            <a:r>
              <a:rPr lang="en-US" sz="1100" i="1" dirty="0">
                <a:solidFill>
                  <a:srgbClr val="9FB3C8"/>
                </a:solidFill>
                <a:latin typeface="Calibri" pitchFamily="34" charset="0"/>
                <a:ea typeface="Calibri" pitchFamily="34" charset="-122"/>
                <a:cs typeface="Calibri" pitchFamily="34" charset="-120"/>
              </a:rPr>
              <a:t>"You've won a company bonus."</a:t>
            </a:r>
            <a:endParaRPr lang="en-US" sz="1100" dirty="0"/>
          </a:p>
        </p:txBody>
      </p:sp>
      <p:sp>
        <p:nvSpPr>
          <p:cNvPr id="29" name="Shape 22"/>
          <p:cNvSpPr/>
          <p:nvPr/>
        </p:nvSpPr>
        <p:spPr>
          <a:xfrm>
            <a:off x="7918704" y="3749040"/>
            <a:ext cx="3502152" cy="1783080"/>
          </a:xfrm>
          <a:prstGeom prst="roundRect">
            <a:avLst>
              <a:gd name="adj" fmla="val 4103"/>
            </a:avLst>
          </a:prstGeom>
          <a:solidFill>
            <a:srgbClr val="10233F"/>
          </a:solidFill>
          <a:ln w="9525">
            <a:solidFill>
              <a:srgbClr val="1D3A63"/>
            </a:solidFill>
            <a:prstDash val="solid"/>
          </a:ln>
          <a:effectLst>
            <a:outerShdw blurRad="76200" dist="38100" dir="5400000" algn="bl" rotWithShape="0">
              <a:srgbClr val="000000">
                <a:alpha val="35000"/>
              </a:srgbClr>
            </a:outerShdw>
          </a:effectLst>
        </p:spPr>
      </p:sp>
      <p:sp>
        <p:nvSpPr>
          <p:cNvPr id="30" name="Shape 23"/>
          <p:cNvSpPr/>
          <p:nvPr/>
        </p:nvSpPr>
        <p:spPr>
          <a:xfrm>
            <a:off x="8174736" y="4005072"/>
            <a:ext cx="530352" cy="530352"/>
          </a:xfrm>
          <a:prstGeom prst="ellipse">
            <a:avLst/>
          </a:prstGeom>
          <a:solidFill>
            <a:srgbClr val="132A4C"/>
          </a:solidFill>
          <a:ln w="15875">
            <a:solidFill>
              <a:srgbClr val="22D3EE"/>
            </a:solidFill>
            <a:prstDash val="solid"/>
          </a:ln>
        </p:spPr>
      </p:sp>
      <p:pic>
        <p:nvPicPr>
          <p:cNvPr id="31" name="Image 5" descr="/home/claude/phishing/icons/usercheck.png"/>
          <p:cNvPicPr>
            <a:picLocks noChangeAspect="1"/>
          </p:cNvPicPr>
          <p:nvPr/>
        </p:nvPicPr>
        <p:blipFill>
          <a:blip r:embed="rId8"/>
          <a:stretch>
            <a:fillRect/>
          </a:stretch>
        </p:blipFill>
        <p:spPr>
          <a:xfrm>
            <a:off x="8311896" y="4142232"/>
            <a:ext cx="256032" cy="256032"/>
          </a:xfrm>
          <a:prstGeom prst="rect">
            <a:avLst/>
          </a:prstGeom>
        </p:spPr>
      </p:pic>
      <p:sp>
        <p:nvSpPr>
          <p:cNvPr id="32" name="Text 24"/>
          <p:cNvSpPr/>
          <p:nvPr/>
        </p:nvSpPr>
        <p:spPr>
          <a:xfrm>
            <a:off x="8174736" y="4663440"/>
            <a:ext cx="2990088" cy="320040"/>
          </a:xfrm>
          <a:prstGeom prst="rect">
            <a:avLst/>
          </a:prstGeom>
          <a:noFill/>
          <a:ln/>
        </p:spPr>
        <p:txBody>
          <a:bodyPr wrap="square" lIns="0" tIns="0" rIns="0" bIns="0" rtlCol="0" anchor="ctr"/>
          <a:lstStyle/>
          <a:p>
            <a:pPr marL="0" indent="0">
              <a:buNone/>
            </a:pPr>
            <a:r>
              <a:rPr lang="en-US" sz="1400" b="1" dirty="0">
                <a:solidFill>
                  <a:srgbClr val="FFFFFF"/>
                </a:solidFill>
                <a:latin typeface="Arial" pitchFamily="34" charset="0"/>
                <a:ea typeface="Arial" pitchFamily="34" charset="-122"/>
                <a:cs typeface="Arial" pitchFamily="34" charset="-120"/>
              </a:rPr>
              <a:t>Impersonation</a:t>
            </a:r>
            <a:endParaRPr lang="en-US" sz="1400" dirty="0"/>
          </a:p>
        </p:txBody>
      </p:sp>
      <p:sp>
        <p:nvSpPr>
          <p:cNvPr id="33" name="Text 25"/>
          <p:cNvSpPr/>
          <p:nvPr/>
        </p:nvSpPr>
        <p:spPr>
          <a:xfrm>
            <a:off x="8174736" y="4983480"/>
            <a:ext cx="2990088" cy="457200"/>
          </a:xfrm>
          <a:prstGeom prst="rect">
            <a:avLst/>
          </a:prstGeom>
          <a:noFill/>
          <a:ln/>
        </p:spPr>
        <p:txBody>
          <a:bodyPr wrap="square" lIns="0" tIns="0" rIns="0" bIns="0" rtlCol="0" anchor="ctr"/>
          <a:lstStyle/>
          <a:p>
            <a:pPr marL="0" indent="0">
              <a:buNone/>
            </a:pPr>
            <a:r>
              <a:rPr lang="en-US" sz="1100" i="1" dirty="0">
                <a:solidFill>
                  <a:srgbClr val="9FB3C8"/>
                </a:solidFill>
                <a:latin typeface="Calibri" pitchFamily="34" charset="0"/>
                <a:ea typeface="Calibri" pitchFamily="34" charset="-122"/>
                <a:cs typeface="Calibri" pitchFamily="34" charset="-120"/>
              </a:rPr>
              <a:t>Posing as a coworker or vendor</a:t>
            </a:r>
            <a:endParaRPr lang="en-US" sz="1100" dirty="0"/>
          </a:p>
        </p:txBody>
      </p:sp>
      <p:sp>
        <p:nvSpPr>
          <p:cNvPr id="34" name="Text 26"/>
          <p:cNvSpPr/>
          <p:nvPr/>
        </p:nvSpPr>
        <p:spPr>
          <a:xfrm>
            <a:off x="11155680" y="6473952"/>
            <a:ext cx="822960" cy="274320"/>
          </a:xfrm>
          <a:prstGeom prst="rect">
            <a:avLst/>
          </a:prstGeom>
          <a:noFill/>
          <a:ln/>
        </p:spPr>
        <p:txBody>
          <a:bodyPr wrap="square" lIns="0" tIns="0" rIns="0" bIns="0" rtlCol="0" anchor="ctr"/>
          <a:lstStyle/>
          <a:p>
            <a:pPr marL="0" indent="0" algn="r">
              <a:buNone/>
            </a:pPr>
            <a:r>
              <a:rPr lang="en-US" sz="900" dirty="0">
                <a:solidFill>
                  <a:srgbClr val="9FB3C8"/>
                </a:solidFill>
                <a:latin typeface="Calibri" pitchFamily="34" charset="0"/>
                <a:ea typeface="Calibri" pitchFamily="34" charset="-122"/>
                <a:cs typeface="Calibri" pitchFamily="34" charset="-120"/>
              </a:rPr>
              <a:t>08 / 16</a:t>
            </a:r>
            <a:endParaRPr lang="en-US" sz="900" dirty="0"/>
          </a:p>
        </p:txBody>
      </p:sp>
      <p:sp>
        <p:nvSpPr>
          <p:cNvPr id="35" name="Text 27"/>
          <p:cNvSpPr/>
          <p:nvPr/>
        </p:nvSpPr>
        <p:spPr>
          <a:xfrm>
            <a:off x="548640" y="6473952"/>
            <a:ext cx="5486400" cy="274320"/>
          </a:xfrm>
          <a:prstGeom prst="rect">
            <a:avLst/>
          </a:prstGeom>
          <a:noFill/>
          <a:ln/>
        </p:spPr>
        <p:txBody>
          <a:bodyPr wrap="square" lIns="0" tIns="0" rIns="0" bIns="0" rtlCol="0" anchor="ctr"/>
          <a:lstStyle/>
          <a:p>
            <a:pPr marL="0" indent="0">
              <a:buNone/>
            </a:pPr>
            <a:r>
              <a:rPr lang="en-US" sz="900" kern="0" spc="100" dirty="0">
                <a:solidFill>
                  <a:srgbClr val="9FB3C8"/>
                </a:solidFill>
                <a:latin typeface="Calibri" pitchFamily="34" charset="0"/>
                <a:ea typeface="Calibri" pitchFamily="34" charset="-122"/>
                <a:cs typeface="Calibri" pitchFamily="34" charset="-120"/>
              </a:rPr>
              <a:t>PHISHING AWARENESS TRAINING</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bg>
      <p:bgPr>
        <a:solidFill>
          <a:srgbClr val="0A1628"/>
        </a:solidFill>
        <a:effectLst/>
      </p:bgPr>
    </p:bg>
    <p:spTree>
      <p:nvGrpSpPr>
        <p:cNvPr id="1" name=""/>
        <p:cNvGrpSpPr/>
        <p:nvPr/>
      </p:nvGrpSpPr>
      <p:grpSpPr>
        <a:xfrm>
          <a:off x="0" y="0"/>
          <a:ext cx="0" cy="0"/>
          <a:chOff x="0" y="0"/>
          <a:chExt cx="0" cy="0"/>
        </a:xfrm>
      </p:grpSpPr>
      <p:sp>
        <p:nvSpPr>
          <p:cNvPr id="2" name="Text 0"/>
          <p:cNvSpPr/>
          <p:nvPr/>
        </p:nvSpPr>
        <p:spPr>
          <a:xfrm>
            <a:off x="548640" y="320040"/>
            <a:ext cx="7315200" cy="320040"/>
          </a:xfrm>
          <a:prstGeom prst="rect">
            <a:avLst/>
          </a:prstGeom>
          <a:noFill/>
          <a:ln/>
        </p:spPr>
        <p:txBody>
          <a:bodyPr wrap="square" lIns="0" tIns="0" rIns="0" bIns="0" rtlCol="0" anchor="ctr"/>
          <a:lstStyle/>
          <a:p>
            <a:pPr marL="0" indent="0">
              <a:buNone/>
            </a:pPr>
            <a:r>
              <a:rPr lang="en-US" sz="1200" b="1" kern="0" spc="200" dirty="0">
                <a:solidFill>
                  <a:srgbClr val="22D3EE"/>
                </a:solidFill>
                <a:latin typeface="Arial" pitchFamily="34" charset="0"/>
                <a:ea typeface="Arial" pitchFamily="34" charset="-122"/>
                <a:cs typeface="Arial" pitchFamily="34" charset="-120"/>
              </a:rPr>
              <a:t>CASE WALKTHROUGH</a:t>
            </a:r>
            <a:endParaRPr lang="en-US" sz="1200" dirty="0"/>
          </a:p>
        </p:txBody>
      </p:sp>
      <p:sp>
        <p:nvSpPr>
          <p:cNvPr id="3" name="Text 1"/>
          <p:cNvSpPr/>
          <p:nvPr/>
        </p:nvSpPr>
        <p:spPr>
          <a:xfrm>
            <a:off x="548640" y="621792"/>
            <a:ext cx="10789920" cy="685800"/>
          </a:xfrm>
          <a:prstGeom prst="rect">
            <a:avLst/>
          </a:prstGeom>
          <a:noFill/>
          <a:ln/>
        </p:spPr>
        <p:txBody>
          <a:bodyPr wrap="square" lIns="0" tIns="0" rIns="0" bIns="0" rtlCol="0" anchor="ctr"/>
          <a:lstStyle/>
          <a:p>
            <a:pPr marL="0" indent="0">
              <a:buNone/>
            </a:pPr>
            <a:r>
              <a:rPr lang="en-US" sz="3200" b="1" dirty="0">
                <a:solidFill>
                  <a:srgbClr val="FFFFFF"/>
                </a:solidFill>
                <a:latin typeface="Arial" pitchFamily="34" charset="0"/>
                <a:ea typeface="Arial" pitchFamily="34" charset="-122"/>
                <a:cs typeface="Arial" pitchFamily="34" charset="-120"/>
              </a:rPr>
              <a:t>Real-World Phishing Example</a:t>
            </a:r>
            <a:endParaRPr lang="en-US" sz="3200" dirty="0"/>
          </a:p>
        </p:txBody>
      </p:sp>
      <p:sp>
        <p:nvSpPr>
          <p:cNvPr id="4" name="Shape 2"/>
          <p:cNvSpPr/>
          <p:nvPr/>
        </p:nvSpPr>
        <p:spPr>
          <a:xfrm>
            <a:off x="548640" y="1965960"/>
            <a:ext cx="2606040" cy="2468880"/>
          </a:xfrm>
          <a:prstGeom prst="roundRect">
            <a:avLst>
              <a:gd name="adj" fmla="val 2963"/>
            </a:avLst>
          </a:prstGeom>
          <a:solidFill>
            <a:srgbClr val="10233F"/>
          </a:solidFill>
          <a:ln w="9525">
            <a:solidFill>
              <a:srgbClr val="1D3A63"/>
            </a:solidFill>
            <a:prstDash val="solid"/>
          </a:ln>
          <a:effectLst>
            <a:outerShdw blurRad="76200" dist="38100" dir="5400000" algn="bl" rotWithShape="0">
              <a:srgbClr val="000000">
                <a:alpha val="35000"/>
              </a:srgbClr>
            </a:outerShdw>
          </a:effectLst>
        </p:spPr>
      </p:sp>
      <p:sp>
        <p:nvSpPr>
          <p:cNvPr id="5" name="Text 3"/>
          <p:cNvSpPr/>
          <p:nvPr/>
        </p:nvSpPr>
        <p:spPr>
          <a:xfrm>
            <a:off x="731520" y="2103120"/>
            <a:ext cx="457200" cy="365760"/>
          </a:xfrm>
          <a:prstGeom prst="rect">
            <a:avLst/>
          </a:prstGeom>
          <a:noFill/>
          <a:ln/>
        </p:spPr>
        <p:txBody>
          <a:bodyPr wrap="square" lIns="0" tIns="0" rIns="0" bIns="0" rtlCol="0" anchor="ctr"/>
          <a:lstStyle/>
          <a:p>
            <a:pPr marL="0" indent="0">
              <a:buNone/>
            </a:pPr>
            <a:r>
              <a:rPr lang="en-US" sz="1800" b="1" dirty="0">
                <a:solidFill>
                  <a:srgbClr val="22D3EE"/>
                </a:solidFill>
                <a:latin typeface="Arial" pitchFamily="34" charset="0"/>
                <a:ea typeface="Arial" pitchFamily="34" charset="-122"/>
                <a:cs typeface="Arial" pitchFamily="34" charset="-120"/>
              </a:rPr>
              <a:t>1</a:t>
            </a:r>
            <a:endParaRPr lang="en-US" sz="1800" dirty="0"/>
          </a:p>
        </p:txBody>
      </p:sp>
      <p:sp>
        <p:nvSpPr>
          <p:cNvPr id="6" name="Shape 4"/>
          <p:cNvSpPr/>
          <p:nvPr/>
        </p:nvSpPr>
        <p:spPr>
          <a:xfrm>
            <a:off x="1600200" y="2468880"/>
            <a:ext cx="502920" cy="502920"/>
          </a:xfrm>
          <a:prstGeom prst="ellipse">
            <a:avLst/>
          </a:prstGeom>
          <a:solidFill>
            <a:srgbClr val="132A4C"/>
          </a:solidFill>
          <a:ln w="15875">
            <a:solidFill>
              <a:srgbClr val="22D3EE"/>
            </a:solidFill>
            <a:prstDash val="solid"/>
          </a:ln>
        </p:spPr>
      </p:sp>
      <p:pic>
        <p:nvPicPr>
          <p:cNvPr id="7" name="Image 0" descr="/home/claude/phishing/icons/send.png"/>
          <p:cNvPicPr>
            <a:picLocks noChangeAspect="1"/>
          </p:cNvPicPr>
          <p:nvPr/>
        </p:nvPicPr>
        <p:blipFill>
          <a:blip r:embed="rId3"/>
          <a:stretch>
            <a:fillRect/>
          </a:stretch>
        </p:blipFill>
        <p:spPr>
          <a:xfrm>
            <a:off x="1737360" y="2606040"/>
            <a:ext cx="228600" cy="228600"/>
          </a:xfrm>
          <a:prstGeom prst="rect">
            <a:avLst/>
          </a:prstGeom>
        </p:spPr>
      </p:pic>
      <p:sp>
        <p:nvSpPr>
          <p:cNvPr id="8" name="Text 5"/>
          <p:cNvSpPr/>
          <p:nvPr/>
        </p:nvSpPr>
        <p:spPr>
          <a:xfrm>
            <a:off x="685800" y="3154680"/>
            <a:ext cx="233172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Arial" pitchFamily="34" charset="0"/>
                <a:ea typeface="Arial" pitchFamily="34" charset="-122"/>
                <a:cs typeface="Arial" pitchFamily="34" charset="-120"/>
              </a:rPr>
              <a:t>Fake invoice email</a:t>
            </a:r>
            <a:endParaRPr lang="en-US" sz="1200" dirty="0"/>
          </a:p>
        </p:txBody>
      </p:sp>
      <p:sp>
        <p:nvSpPr>
          <p:cNvPr id="9" name="Text 6"/>
          <p:cNvSpPr/>
          <p:nvPr/>
        </p:nvSpPr>
        <p:spPr>
          <a:xfrm>
            <a:off x="713232" y="3520440"/>
            <a:ext cx="2276856" cy="868680"/>
          </a:xfrm>
          <a:prstGeom prst="rect">
            <a:avLst/>
          </a:prstGeom>
          <a:noFill/>
          <a:ln/>
        </p:spPr>
        <p:txBody>
          <a:bodyPr wrap="square" lIns="0" tIns="0" rIns="0" bIns="0" rtlCol="0" anchor="ctr"/>
          <a:lstStyle/>
          <a:p>
            <a:pPr marL="0" indent="0" algn="ctr">
              <a:buNone/>
            </a:pPr>
            <a:r>
              <a:rPr lang="en-US" sz="950" dirty="0">
                <a:solidFill>
                  <a:srgbClr val="9FB3C8"/>
                </a:solidFill>
                <a:latin typeface="Calibri" pitchFamily="34" charset="0"/>
                <a:ea typeface="Calibri" pitchFamily="34" charset="-122"/>
                <a:cs typeface="Calibri" pitchFamily="34" charset="-120"/>
              </a:rPr>
              <a:t>Employee gets an email that looks like it's from a known vendor, asking to review an overdue invoice.</a:t>
            </a:r>
            <a:endParaRPr lang="en-US" sz="950" dirty="0"/>
          </a:p>
        </p:txBody>
      </p:sp>
      <p:pic>
        <p:nvPicPr>
          <p:cNvPr id="10" name="Image 1" descr="/home/claude/phishing/icons/arrowright.png"/>
          <p:cNvPicPr>
            <a:picLocks noChangeAspect="1"/>
          </p:cNvPicPr>
          <p:nvPr/>
        </p:nvPicPr>
        <p:blipFill>
          <a:blip r:embed="rId4"/>
          <a:stretch>
            <a:fillRect/>
          </a:stretch>
        </p:blipFill>
        <p:spPr>
          <a:xfrm>
            <a:off x="3172968" y="2999232"/>
            <a:ext cx="146304" cy="146304"/>
          </a:xfrm>
          <a:prstGeom prst="rect">
            <a:avLst/>
          </a:prstGeom>
        </p:spPr>
      </p:pic>
      <p:sp>
        <p:nvSpPr>
          <p:cNvPr id="11" name="Shape 7"/>
          <p:cNvSpPr/>
          <p:nvPr/>
        </p:nvSpPr>
        <p:spPr>
          <a:xfrm>
            <a:off x="3337560" y="1965960"/>
            <a:ext cx="2606040" cy="2468880"/>
          </a:xfrm>
          <a:prstGeom prst="roundRect">
            <a:avLst>
              <a:gd name="adj" fmla="val 2963"/>
            </a:avLst>
          </a:prstGeom>
          <a:solidFill>
            <a:srgbClr val="10233F"/>
          </a:solidFill>
          <a:ln w="9525">
            <a:solidFill>
              <a:srgbClr val="1D3A63"/>
            </a:solidFill>
            <a:prstDash val="solid"/>
          </a:ln>
          <a:effectLst>
            <a:outerShdw blurRad="76200" dist="38100" dir="5400000" algn="bl" rotWithShape="0">
              <a:srgbClr val="000000">
                <a:alpha val="35000"/>
              </a:srgbClr>
            </a:outerShdw>
          </a:effectLst>
        </p:spPr>
      </p:sp>
      <p:sp>
        <p:nvSpPr>
          <p:cNvPr id="12" name="Text 8"/>
          <p:cNvSpPr/>
          <p:nvPr/>
        </p:nvSpPr>
        <p:spPr>
          <a:xfrm>
            <a:off x="3520440" y="2103120"/>
            <a:ext cx="457200" cy="365760"/>
          </a:xfrm>
          <a:prstGeom prst="rect">
            <a:avLst/>
          </a:prstGeom>
          <a:noFill/>
          <a:ln/>
        </p:spPr>
        <p:txBody>
          <a:bodyPr wrap="square" lIns="0" tIns="0" rIns="0" bIns="0" rtlCol="0" anchor="ctr"/>
          <a:lstStyle/>
          <a:p>
            <a:pPr marL="0" indent="0">
              <a:buNone/>
            </a:pPr>
            <a:r>
              <a:rPr lang="en-US" sz="1800" b="1" dirty="0">
                <a:solidFill>
                  <a:srgbClr val="22D3EE"/>
                </a:solidFill>
                <a:latin typeface="Arial" pitchFamily="34" charset="0"/>
                <a:ea typeface="Arial" pitchFamily="34" charset="-122"/>
                <a:cs typeface="Arial" pitchFamily="34" charset="-120"/>
              </a:rPr>
              <a:t>2</a:t>
            </a:r>
            <a:endParaRPr lang="en-US" sz="1800" dirty="0"/>
          </a:p>
        </p:txBody>
      </p:sp>
      <p:sp>
        <p:nvSpPr>
          <p:cNvPr id="13" name="Shape 9"/>
          <p:cNvSpPr/>
          <p:nvPr/>
        </p:nvSpPr>
        <p:spPr>
          <a:xfrm>
            <a:off x="4389120" y="2468880"/>
            <a:ext cx="502920" cy="502920"/>
          </a:xfrm>
          <a:prstGeom prst="ellipse">
            <a:avLst/>
          </a:prstGeom>
          <a:solidFill>
            <a:srgbClr val="132A4C"/>
          </a:solidFill>
          <a:ln w="15875">
            <a:solidFill>
              <a:srgbClr val="22D3EE"/>
            </a:solidFill>
            <a:prstDash val="solid"/>
          </a:ln>
        </p:spPr>
      </p:sp>
      <p:pic>
        <p:nvPicPr>
          <p:cNvPr id="14" name="Image 2" descr="/home/claude/phishing/icons/mousepointer.png"/>
          <p:cNvPicPr>
            <a:picLocks noChangeAspect="1"/>
          </p:cNvPicPr>
          <p:nvPr/>
        </p:nvPicPr>
        <p:blipFill>
          <a:blip r:embed="rId5"/>
          <a:stretch>
            <a:fillRect/>
          </a:stretch>
        </p:blipFill>
        <p:spPr>
          <a:xfrm>
            <a:off x="4526280" y="2606040"/>
            <a:ext cx="228600" cy="228600"/>
          </a:xfrm>
          <a:prstGeom prst="rect">
            <a:avLst/>
          </a:prstGeom>
        </p:spPr>
      </p:pic>
      <p:sp>
        <p:nvSpPr>
          <p:cNvPr id="15" name="Text 10"/>
          <p:cNvSpPr/>
          <p:nvPr/>
        </p:nvSpPr>
        <p:spPr>
          <a:xfrm>
            <a:off x="3474720" y="3154680"/>
            <a:ext cx="233172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Arial" pitchFamily="34" charset="0"/>
                <a:ea typeface="Arial" pitchFamily="34" charset="-122"/>
                <a:cs typeface="Arial" pitchFamily="34" charset="-120"/>
              </a:rPr>
              <a:t>Link is clicked</a:t>
            </a:r>
            <a:endParaRPr lang="en-US" sz="1200" dirty="0"/>
          </a:p>
        </p:txBody>
      </p:sp>
      <p:sp>
        <p:nvSpPr>
          <p:cNvPr id="16" name="Text 11"/>
          <p:cNvSpPr/>
          <p:nvPr/>
        </p:nvSpPr>
        <p:spPr>
          <a:xfrm>
            <a:off x="3502152" y="3520440"/>
            <a:ext cx="2276856" cy="868680"/>
          </a:xfrm>
          <a:prstGeom prst="rect">
            <a:avLst/>
          </a:prstGeom>
          <a:noFill/>
          <a:ln/>
        </p:spPr>
        <p:txBody>
          <a:bodyPr wrap="square" lIns="0" tIns="0" rIns="0" bIns="0" rtlCol="0" anchor="ctr"/>
          <a:lstStyle/>
          <a:p>
            <a:pPr marL="0" indent="0" algn="ctr">
              <a:buNone/>
            </a:pPr>
            <a:r>
              <a:rPr lang="en-US" sz="950" dirty="0">
                <a:solidFill>
                  <a:srgbClr val="9FB3C8"/>
                </a:solidFill>
                <a:latin typeface="Calibri" pitchFamily="34" charset="0"/>
                <a:ea typeface="Calibri" pitchFamily="34" charset="-122"/>
                <a:cs typeface="Calibri" pitchFamily="34" charset="-120"/>
              </a:rPr>
              <a:t>The link leads to a login page that looks identical to the company's real portal.</a:t>
            </a:r>
            <a:endParaRPr lang="en-US" sz="950" dirty="0"/>
          </a:p>
        </p:txBody>
      </p:sp>
      <p:pic>
        <p:nvPicPr>
          <p:cNvPr id="17" name="Image 3" descr="/home/claude/phishing/icons/arrowright.png"/>
          <p:cNvPicPr>
            <a:picLocks noChangeAspect="1"/>
          </p:cNvPicPr>
          <p:nvPr/>
        </p:nvPicPr>
        <p:blipFill>
          <a:blip r:embed="rId4"/>
          <a:stretch>
            <a:fillRect/>
          </a:stretch>
        </p:blipFill>
        <p:spPr>
          <a:xfrm>
            <a:off x="5961888" y="2999232"/>
            <a:ext cx="146304" cy="146304"/>
          </a:xfrm>
          <a:prstGeom prst="rect">
            <a:avLst/>
          </a:prstGeom>
        </p:spPr>
      </p:pic>
      <p:sp>
        <p:nvSpPr>
          <p:cNvPr id="18" name="Shape 12"/>
          <p:cNvSpPr/>
          <p:nvPr/>
        </p:nvSpPr>
        <p:spPr>
          <a:xfrm>
            <a:off x="6126480" y="1965960"/>
            <a:ext cx="2606040" cy="2468880"/>
          </a:xfrm>
          <a:prstGeom prst="roundRect">
            <a:avLst>
              <a:gd name="adj" fmla="val 2963"/>
            </a:avLst>
          </a:prstGeom>
          <a:solidFill>
            <a:srgbClr val="10233F"/>
          </a:solidFill>
          <a:ln w="9525">
            <a:solidFill>
              <a:srgbClr val="1D3A63"/>
            </a:solidFill>
            <a:prstDash val="solid"/>
          </a:ln>
          <a:effectLst>
            <a:outerShdw blurRad="76200" dist="38100" dir="5400000" algn="bl" rotWithShape="0">
              <a:srgbClr val="000000">
                <a:alpha val="35000"/>
              </a:srgbClr>
            </a:outerShdw>
          </a:effectLst>
        </p:spPr>
      </p:sp>
      <p:sp>
        <p:nvSpPr>
          <p:cNvPr id="19" name="Text 13"/>
          <p:cNvSpPr/>
          <p:nvPr/>
        </p:nvSpPr>
        <p:spPr>
          <a:xfrm>
            <a:off x="6309360" y="2103120"/>
            <a:ext cx="457200" cy="365760"/>
          </a:xfrm>
          <a:prstGeom prst="rect">
            <a:avLst/>
          </a:prstGeom>
          <a:noFill/>
          <a:ln/>
        </p:spPr>
        <p:txBody>
          <a:bodyPr wrap="square" lIns="0" tIns="0" rIns="0" bIns="0" rtlCol="0" anchor="ctr"/>
          <a:lstStyle/>
          <a:p>
            <a:pPr marL="0" indent="0">
              <a:buNone/>
            </a:pPr>
            <a:r>
              <a:rPr lang="en-US" sz="1800" b="1" dirty="0">
                <a:solidFill>
                  <a:srgbClr val="22D3EE"/>
                </a:solidFill>
                <a:latin typeface="Arial" pitchFamily="34" charset="0"/>
                <a:ea typeface="Arial" pitchFamily="34" charset="-122"/>
                <a:cs typeface="Arial" pitchFamily="34" charset="-120"/>
              </a:rPr>
              <a:t>3</a:t>
            </a:r>
            <a:endParaRPr lang="en-US" sz="1800" dirty="0"/>
          </a:p>
        </p:txBody>
      </p:sp>
      <p:sp>
        <p:nvSpPr>
          <p:cNvPr id="20" name="Shape 14"/>
          <p:cNvSpPr/>
          <p:nvPr/>
        </p:nvSpPr>
        <p:spPr>
          <a:xfrm>
            <a:off x="7178040" y="2468880"/>
            <a:ext cx="502920" cy="502920"/>
          </a:xfrm>
          <a:prstGeom prst="ellipse">
            <a:avLst/>
          </a:prstGeom>
          <a:solidFill>
            <a:srgbClr val="132A4C"/>
          </a:solidFill>
          <a:ln w="15875">
            <a:solidFill>
              <a:srgbClr val="22D3EE"/>
            </a:solidFill>
            <a:prstDash val="solid"/>
          </a:ln>
        </p:spPr>
      </p:sp>
      <p:pic>
        <p:nvPicPr>
          <p:cNvPr id="21" name="Image 4" descr="/home/claude/phishing/icons/lock.png"/>
          <p:cNvPicPr>
            <a:picLocks noChangeAspect="1"/>
          </p:cNvPicPr>
          <p:nvPr/>
        </p:nvPicPr>
        <p:blipFill>
          <a:blip r:embed="rId6"/>
          <a:stretch>
            <a:fillRect/>
          </a:stretch>
        </p:blipFill>
        <p:spPr>
          <a:xfrm>
            <a:off x="7315200" y="2606040"/>
            <a:ext cx="228600" cy="228600"/>
          </a:xfrm>
          <a:prstGeom prst="rect">
            <a:avLst/>
          </a:prstGeom>
        </p:spPr>
      </p:pic>
      <p:sp>
        <p:nvSpPr>
          <p:cNvPr id="22" name="Text 15"/>
          <p:cNvSpPr/>
          <p:nvPr/>
        </p:nvSpPr>
        <p:spPr>
          <a:xfrm>
            <a:off x="6263640" y="3154680"/>
            <a:ext cx="233172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Arial" pitchFamily="34" charset="0"/>
                <a:ea typeface="Arial" pitchFamily="34" charset="-122"/>
                <a:cs typeface="Arial" pitchFamily="34" charset="-120"/>
              </a:rPr>
              <a:t>Credentials entered</a:t>
            </a:r>
            <a:endParaRPr lang="en-US" sz="1200" dirty="0"/>
          </a:p>
        </p:txBody>
      </p:sp>
      <p:sp>
        <p:nvSpPr>
          <p:cNvPr id="23" name="Text 16"/>
          <p:cNvSpPr/>
          <p:nvPr/>
        </p:nvSpPr>
        <p:spPr>
          <a:xfrm>
            <a:off x="6291072" y="3520440"/>
            <a:ext cx="2276856" cy="868680"/>
          </a:xfrm>
          <a:prstGeom prst="rect">
            <a:avLst/>
          </a:prstGeom>
          <a:noFill/>
          <a:ln/>
        </p:spPr>
        <p:txBody>
          <a:bodyPr wrap="square" lIns="0" tIns="0" rIns="0" bIns="0" rtlCol="0" anchor="ctr"/>
          <a:lstStyle/>
          <a:p>
            <a:pPr marL="0" indent="0" algn="ctr">
              <a:buNone/>
            </a:pPr>
            <a:r>
              <a:rPr lang="en-US" sz="950" dirty="0">
                <a:solidFill>
                  <a:srgbClr val="9FB3C8"/>
                </a:solidFill>
                <a:latin typeface="Calibri" pitchFamily="34" charset="0"/>
                <a:ea typeface="Calibri" pitchFamily="34" charset="-122"/>
                <a:cs typeface="Calibri" pitchFamily="34" charset="-120"/>
              </a:rPr>
              <a:t>Employee types in their username and password without noticing the wrong domain.</a:t>
            </a:r>
            <a:endParaRPr lang="en-US" sz="950" dirty="0"/>
          </a:p>
        </p:txBody>
      </p:sp>
      <p:pic>
        <p:nvPicPr>
          <p:cNvPr id="24" name="Image 5" descr="/home/claude/phishing/icons/arrowright.png"/>
          <p:cNvPicPr>
            <a:picLocks noChangeAspect="1"/>
          </p:cNvPicPr>
          <p:nvPr/>
        </p:nvPicPr>
        <p:blipFill>
          <a:blip r:embed="rId4"/>
          <a:stretch>
            <a:fillRect/>
          </a:stretch>
        </p:blipFill>
        <p:spPr>
          <a:xfrm>
            <a:off x="8750808" y="2999232"/>
            <a:ext cx="146304" cy="146304"/>
          </a:xfrm>
          <a:prstGeom prst="rect">
            <a:avLst/>
          </a:prstGeom>
        </p:spPr>
      </p:pic>
      <p:sp>
        <p:nvSpPr>
          <p:cNvPr id="25" name="Shape 17"/>
          <p:cNvSpPr/>
          <p:nvPr/>
        </p:nvSpPr>
        <p:spPr>
          <a:xfrm>
            <a:off x="8915400" y="1965960"/>
            <a:ext cx="2606040" cy="2468880"/>
          </a:xfrm>
          <a:prstGeom prst="roundRect">
            <a:avLst>
              <a:gd name="adj" fmla="val 2963"/>
            </a:avLst>
          </a:prstGeom>
          <a:solidFill>
            <a:srgbClr val="10233F"/>
          </a:solidFill>
          <a:ln w="9525">
            <a:solidFill>
              <a:srgbClr val="1D3A63"/>
            </a:solidFill>
            <a:prstDash val="solid"/>
          </a:ln>
          <a:effectLst>
            <a:outerShdw blurRad="76200" dist="38100" dir="5400000" algn="bl" rotWithShape="0">
              <a:srgbClr val="000000">
                <a:alpha val="35000"/>
              </a:srgbClr>
            </a:outerShdw>
          </a:effectLst>
        </p:spPr>
      </p:sp>
      <p:sp>
        <p:nvSpPr>
          <p:cNvPr id="26" name="Text 18"/>
          <p:cNvSpPr/>
          <p:nvPr/>
        </p:nvSpPr>
        <p:spPr>
          <a:xfrm>
            <a:off x="9098280" y="2103120"/>
            <a:ext cx="457200" cy="365760"/>
          </a:xfrm>
          <a:prstGeom prst="rect">
            <a:avLst/>
          </a:prstGeom>
          <a:noFill/>
          <a:ln/>
        </p:spPr>
        <p:txBody>
          <a:bodyPr wrap="square" lIns="0" tIns="0" rIns="0" bIns="0" rtlCol="0" anchor="ctr"/>
          <a:lstStyle/>
          <a:p>
            <a:pPr marL="0" indent="0">
              <a:buNone/>
            </a:pPr>
            <a:r>
              <a:rPr lang="en-US" sz="1800" b="1" dirty="0">
                <a:solidFill>
                  <a:srgbClr val="22D3EE"/>
                </a:solidFill>
                <a:latin typeface="Arial" pitchFamily="34" charset="0"/>
                <a:ea typeface="Arial" pitchFamily="34" charset="-122"/>
                <a:cs typeface="Arial" pitchFamily="34" charset="-120"/>
              </a:rPr>
              <a:t>4</a:t>
            </a:r>
            <a:endParaRPr lang="en-US" sz="1800" dirty="0"/>
          </a:p>
        </p:txBody>
      </p:sp>
      <p:sp>
        <p:nvSpPr>
          <p:cNvPr id="27" name="Shape 19"/>
          <p:cNvSpPr/>
          <p:nvPr/>
        </p:nvSpPr>
        <p:spPr>
          <a:xfrm>
            <a:off x="9966960" y="2468880"/>
            <a:ext cx="502920" cy="502920"/>
          </a:xfrm>
          <a:prstGeom prst="ellipse">
            <a:avLst/>
          </a:prstGeom>
          <a:solidFill>
            <a:srgbClr val="132A4C"/>
          </a:solidFill>
          <a:ln w="15875">
            <a:solidFill>
              <a:srgbClr val="22D3EE"/>
            </a:solidFill>
            <a:prstDash val="solid"/>
          </a:ln>
        </p:spPr>
      </p:sp>
      <p:pic>
        <p:nvPicPr>
          <p:cNvPr id="28" name="Image 6" descr="/home/claude/phishing/icons/xoctagon.png"/>
          <p:cNvPicPr>
            <a:picLocks noChangeAspect="1"/>
          </p:cNvPicPr>
          <p:nvPr/>
        </p:nvPicPr>
        <p:blipFill>
          <a:blip r:embed="rId7"/>
          <a:stretch>
            <a:fillRect/>
          </a:stretch>
        </p:blipFill>
        <p:spPr>
          <a:xfrm>
            <a:off x="10104120" y="2606040"/>
            <a:ext cx="228600" cy="228600"/>
          </a:xfrm>
          <a:prstGeom prst="rect">
            <a:avLst/>
          </a:prstGeom>
        </p:spPr>
      </p:pic>
      <p:sp>
        <p:nvSpPr>
          <p:cNvPr id="29" name="Text 20"/>
          <p:cNvSpPr/>
          <p:nvPr/>
        </p:nvSpPr>
        <p:spPr>
          <a:xfrm>
            <a:off x="9052560" y="3154680"/>
            <a:ext cx="233172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Arial" pitchFamily="34" charset="0"/>
                <a:ea typeface="Arial" pitchFamily="34" charset="-122"/>
                <a:cs typeface="Arial" pitchFamily="34" charset="-120"/>
              </a:rPr>
              <a:t>Account compromised</a:t>
            </a:r>
            <a:endParaRPr lang="en-US" sz="1200" dirty="0"/>
          </a:p>
        </p:txBody>
      </p:sp>
      <p:sp>
        <p:nvSpPr>
          <p:cNvPr id="30" name="Text 21"/>
          <p:cNvSpPr/>
          <p:nvPr/>
        </p:nvSpPr>
        <p:spPr>
          <a:xfrm>
            <a:off x="9079992" y="3520440"/>
            <a:ext cx="2276856" cy="868680"/>
          </a:xfrm>
          <a:prstGeom prst="rect">
            <a:avLst/>
          </a:prstGeom>
          <a:noFill/>
          <a:ln/>
        </p:spPr>
        <p:txBody>
          <a:bodyPr wrap="square" lIns="0" tIns="0" rIns="0" bIns="0" rtlCol="0" anchor="ctr"/>
          <a:lstStyle/>
          <a:p>
            <a:pPr marL="0" indent="0" algn="ctr">
              <a:buNone/>
            </a:pPr>
            <a:r>
              <a:rPr lang="en-US" sz="950" dirty="0">
                <a:solidFill>
                  <a:srgbClr val="9FB3C8"/>
                </a:solidFill>
                <a:latin typeface="Calibri" pitchFamily="34" charset="0"/>
                <a:ea typeface="Calibri" pitchFamily="34" charset="-122"/>
                <a:cs typeface="Calibri" pitchFamily="34" charset="-120"/>
              </a:rPr>
              <a:t>Attacker now has valid credentials and access to internal systems.</a:t>
            </a:r>
            <a:endParaRPr lang="en-US" sz="950" dirty="0"/>
          </a:p>
        </p:txBody>
      </p:sp>
      <p:sp>
        <p:nvSpPr>
          <p:cNvPr id="31" name="Shape 22"/>
          <p:cNvSpPr/>
          <p:nvPr/>
        </p:nvSpPr>
        <p:spPr>
          <a:xfrm>
            <a:off x="548640" y="4709160"/>
            <a:ext cx="11064240" cy="1234440"/>
          </a:xfrm>
          <a:prstGeom prst="roundRect">
            <a:avLst>
              <a:gd name="adj" fmla="val 5926"/>
            </a:avLst>
          </a:prstGeom>
          <a:solidFill>
            <a:srgbClr val="10233F"/>
          </a:solidFill>
          <a:ln w="9525">
            <a:solidFill>
              <a:srgbClr val="1D3A63"/>
            </a:solidFill>
            <a:prstDash val="solid"/>
          </a:ln>
          <a:effectLst>
            <a:outerShdw blurRad="76200" dist="38100" dir="5400000" algn="bl" rotWithShape="0">
              <a:srgbClr val="000000">
                <a:alpha val="35000"/>
              </a:srgbClr>
            </a:outerShdw>
          </a:effectLst>
        </p:spPr>
      </p:sp>
      <p:sp>
        <p:nvSpPr>
          <p:cNvPr id="32" name="Text 23"/>
          <p:cNvSpPr/>
          <p:nvPr/>
        </p:nvSpPr>
        <p:spPr>
          <a:xfrm>
            <a:off x="868680" y="4892040"/>
            <a:ext cx="10424160" cy="914400"/>
          </a:xfrm>
          <a:prstGeom prst="rect">
            <a:avLst/>
          </a:prstGeom>
          <a:noFill/>
          <a:ln/>
        </p:spPr>
        <p:txBody>
          <a:bodyPr wrap="square" lIns="0" tIns="0" rIns="0" bIns="0" rtlCol="0" anchor="ctr"/>
          <a:lstStyle/>
          <a:p>
            <a:pPr marL="0" indent="0">
              <a:buNone/>
            </a:pPr>
            <a:r>
              <a:rPr lang="en-US" sz="1300" b="1" dirty="0">
                <a:solidFill>
                  <a:srgbClr val="22D3EE"/>
                </a:solidFill>
                <a:latin typeface="Calibri" pitchFamily="34" charset="0"/>
                <a:ea typeface="Calibri" pitchFamily="34" charset="-122"/>
                <a:cs typeface="Calibri" pitchFamily="34" charset="-120"/>
              </a:rPr>
              <a:t>How it could have been prevented:  </a:t>
            </a:r>
            <a:r>
              <a:rPr lang="en-US" sz="1300" dirty="0">
                <a:solidFill>
                  <a:srgbClr val="FFFFFF"/>
                </a:solidFill>
                <a:latin typeface="Calibri" pitchFamily="34" charset="0"/>
                <a:ea typeface="Calibri" pitchFamily="34" charset="-122"/>
                <a:cs typeface="Calibri" pitchFamily="34" charset="-120"/>
              </a:rPr>
              <a:t>hover over the link to check the real domain, confirm unexpected invoices by phone, and never enter your password after clicking an email link.</a:t>
            </a:r>
            <a:endParaRPr lang="en-US" sz="1300" dirty="0"/>
          </a:p>
        </p:txBody>
      </p:sp>
      <p:sp>
        <p:nvSpPr>
          <p:cNvPr id="33" name="Text 24"/>
          <p:cNvSpPr/>
          <p:nvPr/>
        </p:nvSpPr>
        <p:spPr>
          <a:xfrm>
            <a:off x="11155680" y="6473952"/>
            <a:ext cx="822960" cy="274320"/>
          </a:xfrm>
          <a:prstGeom prst="rect">
            <a:avLst/>
          </a:prstGeom>
          <a:noFill/>
          <a:ln/>
        </p:spPr>
        <p:txBody>
          <a:bodyPr wrap="square" lIns="0" tIns="0" rIns="0" bIns="0" rtlCol="0" anchor="ctr"/>
          <a:lstStyle/>
          <a:p>
            <a:pPr marL="0" indent="0" algn="r">
              <a:buNone/>
            </a:pPr>
            <a:r>
              <a:rPr lang="en-US" sz="900" dirty="0">
                <a:solidFill>
                  <a:srgbClr val="9FB3C8"/>
                </a:solidFill>
                <a:latin typeface="Calibri" pitchFamily="34" charset="0"/>
                <a:ea typeface="Calibri" pitchFamily="34" charset="-122"/>
                <a:cs typeface="Calibri" pitchFamily="34" charset="-120"/>
              </a:rPr>
              <a:t>09 / 16</a:t>
            </a:r>
            <a:endParaRPr lang="en-US" sz="900" dirty="0"/>
          </a:p>
        </p:txBody>
      </p:sp>
      <p:sp>
        <p:nvSpPr>
          <p:cNvPr id="34" name="Text 25"/>
          <p:cNvSpPr/>
          <p:nvPr/>
        </p:nvSpPr>
        <p:spPr>
          <a:xfrm>
            <a:off x="548640" y="6473952"/>
            <a:ext cx="5486400" cy="274320"/>
          </a:xfrm>
          <a:prstGeom prst="rect">
            <a:avLst/>
          </a:prstGeom>
          <a:noFill/>
          <a:ln/>
        </p:spPr>
        <p:txBody>
          <a:bodyPr wrap="square" lIns="0" tIns="0" rIns="0" bIns="0" rtlCol="0" anchor="ctr"/>
          <a:lstStyle/>
          <a:p>
            <a:pPr marL="0" indent="0">
              <a:buNone/>
            </a:pPr>
            <a:r>
              <a:rPr lang="en-US" sz="900" kern="0" spc="100" dirty="0">
                <a:solidFill>
                  <a:srgbClr val="9FB3C8"/>
                </a:solidFill>
                <a:latin typeface="Calibri" pitchFamily="34" charset="0"/>
                <a:ea typeface="Calibri" pitchFamily="34" charset="-122"/>
                <a:cs typeface="Calibri" pitchFamily="34" charset="-120"/>
              </a:rPr>
              <a:t>PHISHING AWARENESS TRAINING</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0">
    <p:bg>
      <p:bgPr>
        <a:solidFill>
          <a:srgbClr val="0A1628"/>
        </a:solidFill>
        <a:effectLst/>
      </p:bgPr>
    </p:bg>
    <p:spTree>
      <p:nvGrpSpPr>
        <p:cNvPr id="1" name=""/>
        <p:cNvGrpSpPr/>
        <p:nvPr/>
      </p:nvGrpSpPr>
      <p:grpSpPr>
        <a:xfrm>
          <a:off x="0" y="0"/>
          <a:ext cx="0" cy="0"/>
          <a:chOff x="0" y="0"/>
          <a:chExt cx="0" cy="0"/>
        </a:xfrm>
      </p:grpSpPr>
      <p:sp>
        <p:nvSpPr>
          <p:cNvPr id="2" name="Text 0"/>
          <p:cNvSpPr/>
          <p:nvPr/>
        </p:nvSpPr>
        <p:spPr>
          <a:xfrm>
            <a:off x="548640" y="320040"/>
            <a:ext cx="7315200" cy="320040"/>
          </a:xfrm>
          <a:prstGeom prst="rect">
            <a:avLst/>
          </a:prstGeom>
          <a:noFill/>
          <a:ln/>
        </p:spPr>
        <p:txBody>
          <a:bodyPr wrap="square" lIns="0" tIns="0" rIns="0" bIns="0" rtlCol="0" anchor="ctr"/>
          <a:lstStyle/>
          <a:p>
            <a:pPr marL="0" indent="0">
              <a:buNone/>
            </a:pPr>
            <a:r>
              <a:rPr lang="en-US" sz="1200" b="1" kern="0" spc="200" dirty="0">
                <a:solidFill>
                  <a:srgbClr val="22D3EE"/>
                </a:solidFill>
                <a:latin typeface="Arial" pitchFamily="34" charset="0"/>
                <a:ea typeface="Arial" pitchFamily="34" charset="-122"/>
                <a:cs typeface="Arial" pitchFamily="34" charset="-120"/>
              </a:rPr>
              <a:t>THE FALLOUT</a:t>
            </a:r>
            <a:endParaRPr lang="en-US" sz="1200" dirty="0"/>
          </a:p>
        </p:txBody>
      </p:sp>
      <p:sp>
        <p:nvSpPr>
          <p:cNvPr id="3" name="Text 1"/>
          <p:cNvSpPr/>
          <p:nvPr/>
        </p:nvSpPr>
        <p:spPr>
          <a:xfrm>
            <a:off x="548640" y="621792"/>
            <a:ext cx="10789920" cy="685800"/>
          </a:xfrm>
          <a:prstGeom prst="rect">
            <a:avLst/>
          </a:prstGeom>
          <a:noFill/>
          <a:ln/>
        </p:spPr>
        <p:txBody>
          <a:bodyPr wrap="square" lIns="0" tIns="0" rIns="0" bIns="0" rtlCol="0" anchor="ctr"/>
          <a:lstStyle/>
          <a:p>
            <a:pPr marL="0" indent="0">
              <a:buNone/>
            </a:pPr>
            <a:r>
              <a:rPr lang="en-US" sz="3200" b="1" dirty="0">
                <a:solidFill>
                  <a:srgbClr val="FFFFFF"/>
                </a:solidFill>
                <a:latin typeface="Arial" pitchFamily="34" charset="0"/>
                <a:ea typeface="Arial" pitchFamily="34" charset="-122"/>
                <a:cs typeface="Arial" pitchFamily="34" charset="-120"/>
              </a:rPr>
              <a:t>Consequences of a Successful Attack</a:t>
            </a:r>
            <a:endParaRPr lang="en-US" sz="3200" dirty="0"/>
          </a:p>
        </p:txBody>
      </p:sp>
      <p:sp>
        <p:nvSpPr>
          <p:cNvPr id="4" name="Shape 2"/>
          <p:cNvSpPr/>
          <p:nvPr/>
        </p:nvSpPr>
        <p:spPr>
          <a:xfrm>
            <a:off x="548640" y="1828800"/>
            <a:ext cx="3840480" cy="4069080"/>
          </a:xfrm>
          <a:prstGeom prst="roundRect">
            <a:avLst>
              <a:gd name="adj" fmla="val 1905"/>
            </a:avLst>
          </a:prstGeom>
          <a:solidFill>
            <a:srgbClr val="132A4C"/>
          </a:solidFill>
          <a:ln w="9525">
            <a:solidFill>
              <a:srgbClr val="1D3A63"/>
            </a:solidFill>
            <a:prstDash val="solid"/>
          </a:ln>
        </p:spPr>
      </p:sp>
      <p:sp>
        <p:nvSpPr>
          <p:cNvPr id="5" name="Shape 3"/>
          <p:cNvSpPr/>
          <p:nvPr/>
        </p:nvSpPr>
        <p:spPr>
          <a:xfrm>
            <a:off x="1874520" y="2514600"/>
            <a:ext cx="1188720" cy="1188720"/>
          </a:xfrm>
          <a:prstGeom prst="ellipse">
            <a:avLst/>
          </a:prstGeom>
          <a:solidFill>
            <a:srgbClr val="10233F"/>
          </a:solidFill>
          <a:ln w="19050">
            <a:solidFill>
              <a:srgbClr val="22D3EE"/>
            </a:solidFill>
            <a:prstDash val="solid"/>
          </a:ln>
        </p:spPr>
      </p:sp>
      <p:pic>
        <p:nvPicPr>
          <p:cNvPr id="6" name="Image 0" descr="/home/claude/phishing/icons/alert.png"/>
          <p:cNvPicPr>
            <a:picLocks noChangeAspect="1"/>
          </p:cNvPicPr>
          <p:nvPr/>
        </p:nvPicPr>
        <p:blipFill>
          <a:blip r:embed="rId3"/>
          <a:stretch>
            <a:fillRect/>
          </a:stretch>
        </p:blipFill>
        <p:spPr>
          <a:xfrm>
            <a:off x="2194560" y="2834640"/>
            <a:ext cx="548640" cy="548640"/>
          </a:xfrm>
          <a:prstGeom prst="rect">
            <a:avLst/>
          </a:prstGeom>
        </p:spPr>
      </p:pic>
      <p:sp>
        <p:nvSpPr>
          <p:cNvPr id="7" name="Text 4"/>
          <p:cNvSpPr/>
          <p:nvPr/>
        </p:nvSpPr>
        <p:spPr>
          <a:xfrm>
            <a:off x="1005840" y="3977640"/>
            <a:ext cx="2926080" cy="822960"/>
          </a:xfrm>
          <a:prstGeom prst="rect">
            <a:avLst/>
          </a:prstGeom>
          <a:noFill/>
          <a:ln/>
        </p:spPr>
        <p:txBody>
          <a:bodyPr wrap="square" lIns="0" tIns="0" rIns="0" bIns="0"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One click can trigger every one of these at once</a:t>
            </a:r>
            <a:endParaRPr lang="en-US" sz="1400" dirty="0"/>
          </a:p>
        </p:txBody>
      </p:sp>
      <p:sp>
        <p:nvSpPr>
          <p:cNvPr id="8" name="Text 5"/>
          <p:cNvSpPr/>
          <p:nvPr/>
        </p:nvSpPr>
        <p:spPr>
          <a:xfrm>
            <a:off x="1005840" y="4709160"/>
            <a:ext cx="2926080" cy="914400"/>
          </a:xfrm>
          <a:prstGeom prst="rect">
            <a:avLst/>
          </a:prstGeom>
          <a:noFill/>
          <a:ln/>
        </p:spPr>
        <p:txBody>
          <a:bodyPr wrap="square" lIns="0" tIns="0" rIns="0" bIns="0" rtlCol="0" anchor="ctr"/>
          <a:lstStyle/>
          <a:p>
            <a:pPr marL="0" indent="0" algn="ctr">
              <a:buNone/>
            </a:pPr>
            <a:r>
              <a:rPr lang="en-US" sz="1100" i="1" dirty="0">
                <a:solidFill>
                  <a:srgbClr val="9FB3C8"/>
                </a:solidFill>
                <a:latin typeface="Calibri" pitchFamily="34" charset="0"/>
                <a:ea typeface="Calibri" pitchFamily="34" charset="-122"/>
                <a:cs typeface="Calibri" pitchFamily="34" charset="-120"/>
              </a:rPr>
              <a:t>The damage rarely stays contained to just one system or one person.</a:t>
            </a:r>
            <a:endParaRPr lang="en-US" sz="1100" dirty="0"/>
          </a:p>
        </p:txBody>
      </p:sp>
      <p:sp>
        <p:nvSpPr>
          <p:cNvPr id="9" name="Shape 6"/>
          <p:cNvSpPr/>
          <p:nvPr/>
        </p:nvSpPr>
        <p:spPr>
          <a:xfrm>
            <a:off x="4709160" y="1828800"/>
            <a:ext cx="502920" cy="502920"/>
          </a:xfrm>
          <a:prstGeom prst="ellipse">
            <a:avLst/>
          </a:prstGeom>
          <a:solidFill>
            <a:srgbClr val="132A4C"/>
          </a:solidFill>
          <a:ln w="15875">
            <a:solidFill>
              <a:srgbClr val="22D3EE"/>
            </a:solidFill>
            <a:prstDash val="solid"/>
          </a:ln>
        </p:spPr>
      </p:sp>
      <p:pic>
        <p:nvPicPr>
          <p:cNvPr id="10" name="Image 1" descr="/home/claude/phishing/icons/database.png"/>
          <p:cNvPicPr>
            <a:picLocks noChangeAspect="1"/>
          </p:cNvPicPr>
          <p:nvPr/>
        </p:nvPicPr>
        <p:blipFill>
          <a:blip r:embed="rId4"/>
          <a:stretch>
            <a:fillRect/>
          </a:stretch>
        </p:blipFill>
        <p:spPr>
          <a:xfrm>
            <a:off x="4846320" y="1965960"/>
            <a:ext cx="228600" cy="228600"/>
          </a:xfrm>
          <a:prstGeom prst="rect">
            <a:avLst/>
          </a:prstGeom>
        </p:spPr>
      </p:pic>
      <p:sp>
        <p:nvSpPr>
          <p:cNvPr id="11" name="Text 7"/>
          <p:cNvSpPr/>
          <p:nvPr/>
        </p:nvSpPr>
        <p:spPr>
          <a:xfrm>
            <a:off x="5367528" y="1810512"/>
            <a:ext cx="2743200" cy="502920"/>
          </a:xfrm>
          <a:prstGeom prst="rect">
            <a:avLst/>
          </a:prstGeom>
          <a:noFill/>
          <a:ln/>
        </p:spPr>
        <p:txBody>
          <a:bodyPr wrap="square" lIns="0" tIns="0" rIns="0" bIns="0" rtlCol="0" anchor="ctr"/>
          <a:lstStyle/>
          <a:p>
            <a:pPr marL="0" indent="0">
              <a:buNone/>
            </a:pPr>
            <a:r>
              <a:rPr lang="en-US" sz="1350" b="1" dirty="0">
                <a:solidFill>
                  <a:srgbClr val="FFFFFF"/>
                </a:solidFill>
                <a:latin typeface="Arial" pitchFamily="34" charset="0"/>
                <a:ea typeface="Arial" pitchFamily="34" charset="-122"/>
                <a:cs typeface="Arial" pitchFamily="34" charset="-120"/>
              </a:rPr>
              <a:t>Data breaches</a:t>
            </a:r>
            <a:endParaRPr lang="en-US" sz="1350" dirty="0"/>
          </a:p>
        </p:txBody>
      </p:sp>
      <p:sp>
        <p:nvSpPr>
          <p:cNvPr id="12" name="Text 8"/>
          <p:cNvSpPr/>
          <p:nvPr/>
        </p:nvSpPr>
        <p:spPr>
          <a:xfrm>
            <a:off x="8092440" y="1810512"/>
            <a:ext cx="3520440" cy="502920"/>
          </a:xfrm>
          <a:prstGeom prst="rect">
            <a:avLst/>
          </a:prstGeom>
          <a:noFill/>
          <a:ln/>
        </p:spPr>
        <p:txBody>
          <a:bodyPr wrap="square" lIns="0" tIns="0" rIns="0" bIns="0" rtlCol="0" anchor="ctr"/>
          <a:lstStyle/>
          <a:p>
            <a:pPr marL="0" indent="0">
              <a:buNone/>
            </a:pPr>
            <a:r>
              <a:rPr lang="en-US" sz="1150" dirty="0">
                <a:solidFill>
                  <a:srgbClr val="9FB3C8"/>
                </a:solidFill>
                <a:latin typeface="Calibri" pitchFamily="34" charset="0"/>
                <a:ea typeface="Calibri" pitchFamily="34" charset="-122"/>
                <a:cs typeface="Calibri" pitchFamily="34" charset="-120"/>
              </a:rPr>
              <a:t>Customer and company data exposed</a:t>
            </a:r>
            <a:endParaRPr lang="en-US" sz="1150" dirty="0"/>
          </a:p>
        </p:txBody>
      </p:sp>
      <p:sp>
        <p:nvSpPr>
          <p:cNvPr id="13" name="Shape 9"/>
          <p:cNvSpPr/>
          <p:nvPr/>
        </p:nvSpPr>
        <p:spPr>
          <a:xfrm>
            <a:off x="4709160" y="2532888"/>
            <a:ext cx="6903720" cy="0"/>
          </a:xfrm>
          <a:prstGeom prst="line">
            <a:avLst/>
          </a:prstGeom>
          <a:noFill/>
          <a:ln w="9525">
            <a:solidFill>
              <a:srgbClr val="1D3A63"/>
            </a:solidFill>
            <a:prstDash val="solid"/>
          </a:ln>
        </p:spPr>
      </p:sp>
      <p:sp>
        <p:nvSpPr>
          <p:cNvPr id="14" name="Shape 10"/>
          <p:cNvSpPr/>
          <p:nvPr/>
        </p:nvSpPr>
        <p:spPr>
          <a:xfrm>
            <a:off x="4709160" y="2606040"/>
            <a:ext cx="502920" cy="502920"/>
          </a:xfrm>
          <a:prstGeom prst="ellipse">
            <a:avLst/>
          </a:prstGeom>
          <a:solidFill>
            <a:srgbClr val="132A4C"/>
          </a:solidFill>
          <a:ln w="15875">
            <a:solidFill>
              <a:srgbClr val="22D3EE"/>
            </a:solidFill>
            <a:prstDash val="solid"/>
          </a:ln>
        </p:spPr>
      </p:sp>
      <p:pic>
        <p:nvPicPr>
          <p:cNvPr id="15" name="Image 2" descr="/home/claude/phishing/icons/dollar.png"/>
          <p:cNvPicPr>
            <a:picLocks noChangeAspect="1"/>
          </p:cNvPicPr>
          <p:nvPr/>
        </p:nvPicPr>
        <p:blipFill>
          <a:blip r:embed="rId5"/>
          <a:stretch>
            <a:fillRect/>
          </a:stretch>
        </p:blipFill>
        <p:spPr>
          <a:xfrm>
            <a:off x="4846320" y="2743200"/>
            <a:ext cx="228600" cy="228600"/>
          </a:xfrm>
          <a:prstGeom prst="rect">
            <a:avLst/>
          </a:prstGeom>
        </p:spPr>
      </p:pic>
      <p:sp>
        <p:nvSpPr>
          <p:cNvPr id="16" name="Text 11"/>
          <p:cNvSpPr/>
          <p:nvPr/>
        </p:nvSpPr>
        <p:spPr>
          <a:xfrm>
            <a:off x="5367528" y="2587752"/>
            <a:ext cx="2743200" cy="502920"/>
          </a:xfrm>
          <a:prstGeom prst="rect">
            <a:avLst/>
          </a:prstGeom>
          <a:noFill/>
          <a:ln/>
        </p:spPr>
        <p:txBody>
          <a:bodyPr wrap="square" lIns="0" tIns="0" rIns="0" bIns="0" rtlCol="0" anchor="ctr"/>
          <a:lstStyle/>
          <a:p>
            <a:pPr marL="0" indent="0">
              <a:buNone/>
            </a:pPr>
            <a:r>
              <a:rPr lang="en-US" sz="1350" b="1" dirty="0">
                <a:solidFill>
                  <a:srgbClr val="FFFFFF"/>
                </a:solidFill>
                <a:latin typeface="Arial" pitchFamily="34" charset="0"/>
                <a:ea typeface="Arial" pitchFamily="34" charset="-122"/>
                <a:cs typeface="Arial" pitchFamily="34" charset="-120"/>
              </a:rPr>
              <a:t>Financial loss</a:t>
            </a:r>
            <a:endParaRPr lang="en-US" sz="1350" dirty="0"/>
          </a:p>
        </p:txBody>
      </p:sp>
      <p:sp>
        <p:nvSpPr>
          <p:cNvPr id="17" name="Text 12"/>
          <p:cNvSpPr/>
          <p:nvPr/>
        </p:nvSpPr>
        <p:spPr>
          <a:xfrm>
            <a:off x="8092440" y="2587752"/>
            <a:ext cx="3520440" cy="502920"/>
          </a:xfrm>
          <a:prstGeom prst="rect">
            <a:avLst/>
          </a:prstGeom>
          <a:noFill/>
          <a:ln/>
        </p:spPr>
        <p:txBody>
          <a:bodyPr wrap="square" lIns="0" tIns="0" rIns="0" bIns="0" rtlCol="0" anchor="ctr"/>
          <a:lstStyle/>
          <a:p>
            <a:pPr marL="0" indent="0">
              <a:buNone/>
            </a:pPr>
            <a:r>
              <a:rPr lang="en-US" sz="1150" dirty="0">
                <a:solidFill>
                  <a:srgbClr val="9FB3C8"/>
                </a:solidFill>
                <a:latin typeface="Calibri" pitchFamily="34" charset="0"/>
                <a:ea typeface="Calibri" pitchFamily="34" charset="-122"/>
                <a:cs typeface="Calibri" pitchFamily="34" charset="-120"/>
              </a:rPr>
              <a:t>Fraudulent transfers and recovery costs</a:t>
            </a:r>
            <a:endParaRPr lang="en-US" sz="1150" dirty="0"/>
          </a:p>
        </p:txBody>
      </p:sp>
      <p:sp>
        <p:nvSpPr>
          <p:cNvPr id="18" name="Shape 13"/>
          <p:cNvSpPr/>
          <p:nvPr/>
        </p:nvSpPr>
        <p:spPr>
          <a:xfrm>
            <a:off x="4709160" y="3310128"/>
            <a:ext cx="6903720" cy="0"/>
          </a:xfrm>
          <a:prstGeom prst="line">
            <a:avLst/>
          </a:prstGeom>
          <a:noFill/>
          <a:ln w="9525">
            <a:solidFill>
              <a:srgbClr val="1D3A63"/>
            </a:solidFill>
            <a:prstDash val="solid"/>
          </a:ln>
        </p:spPr>
      </p:sp>
      <p:sp>
        <p:nvSpPr>
          <p:cNvPr id="19" name="Shape 14"/>
          <p:cNvSpPr/>
          <p:nvPr/>
        </p:nvSpPr>
        <p:spPr>
          <a:xfrm>
            <a:off x="4709160" y="3383280"/>
            <a:ext cx="502920" cy="502920"/>
          </a:xfrm>
          <a:prstGeom prst="ellipse">
            <a:avLst/>
          </a:prstGeom>
          <a:solidFill>
            <a:srgbClr val="132A4C"/>
          </a:solidFill>
          <a:ln w="15875">
            <a:solidFill>
              <a:srgbClr val="22D3EE"/>
            </a:solidFill>
            <a:prstDash val="solid"/>
          </a:ln>
        </p:spPr>
      </p:sp>
      <p:pic>
        <p:nvPicPr>
          <p:cNvPr id="20" name="Image 3" descr="/home/claude/phishing/icons/cpu.png"/>
          <p:cNvPicPr>
            <a:picLocks noChangeAspect="1"/>
          </p:cNvPicPr>
          <p:nvPr/>
        </p:nvPicPr>
        <p:blipFill>
          <a:blip r:embed="rId6"/>
          <a:stretch>
            <a:fillRect/>
          </a:stretch>
        </p:blipFill>
        <p:spPr>
          <a:xfrm>
            <a:off x="4846320" y="3520440"/>
            <a:ext cx="228600" cy="228600"/>
          </a:xfrm>
          <a:prstGeom prst="rect">
            <a:avLst/>
          </a:prstGeom>
        </p:spPr>
      </p:pic>
      <p:sp>
        <p:nvSpPr>
          <p:cNvPr id="21" name="Text 15"/>
          <p:cNvSpPr/>
          <p:nvPr/>
        </p:nvSpPr>
        <p:spPr>
          <a:xfrm>
            <a:off x="5367528" y="3364992"/>
            <a:ext cx="2743200" cy="502920"/>
          </a:xfrm>
          <a:prstGeom prst="rect">
            <a:avLst/>
          </a:prstGeom>
          <a:noFill/>
          <a:ln/>
        </p:spPr>
        <p:txBody>
          <a:bodyPr wrap="square" lIns="0" tIns="0" rIns="0" bIns="0" rtlCol="0" anchor="ctr"/>
          <a:lstStyle/>
          <a:p>
            <a:pPr marL="0" indent="0">
              <a:buNone/>
            </a:pPr>
            <a:r>
              <a:rPr lang="en-US" sz="1350" b="1" dirty="0">
                <a:solidFill>
                  <a:srgbClr val="FFFFFF"/>
                </a:solidFill>
                <a:latin typeface="Arial" pitchFamily="34" charset="0"/>
                <a:ea typeface="Arial" pitchFamily="34" charset="-122"/>
                <a:cs typeface="Arial" pitchFamily="34" charset="-120"/>
              </a:rPr>
              <a:t>Malware</a:t>
            </a:r>
            <a:endParaRPr lang="en-US" sz="1350" dirty="0"/>
          </a:p>
        </p:txBody>
      </p:sp>
      <p:sp>
        <p:nvSpPr>
          <p:cNvPr id="22" name="Text 16"/>
          <p:cNvSpPr/>
          <p:nvPr/>
        </p:nvSpPr>
        <p:spPr>
          <a:xfrm>
            <a:off x="8092440" y="3364992"/>
            <a:ext cx="3520440" cy="502920"/>
          </a:xfrm>
          <a:prstGeom prst="rect">
            <a:avLst/>
          </a:prstGeom>
          <a:noFill/>
          <a:ln/>
        </p:spPr>
        <p:txBody>
          <a:bodyPr wrap="square" lIns="0" tIns="0" rIns="0" bIns="0" rtlCol="0" anchor="ctr"/>
          <a:lstStyle/>
          <a:p>
            <a:pPr marL="0" indent="0">
              <a:buNone/>
            </a:pPr>
            <a:r>
              <a:rPr lang="en-US" sz="1150" dirty="0">
                <a:solidFill>
                  <a:srgbClr val="9FB3C8"/>
                </a:solidFill>
                <a:latin typeface="Calibri" pitchFamily="34" charset="0"/>
                <a:ea typeface="Calibri" pitchFamily="34" charset="-122"/>
                <a:cs typeface="Calibri" pitchFamily="34" charset="-120"/>
              </a:rPr>
              <a:t>Malicious software installed silently</a:t>
            </a:r>
            <a:endParaRPr lang="en-US" sz="1150" dirty="0"/>
          </a:p>
        </p:txBody>
      </p:sp>
      <p:sp>
        <p:nvSpPr>
          <p:cNvPr id="23" name="Shape 17"/>
          <p:cNvSpPr/>
          <p:nvPr/>
        </p:nvSpPr>
        <p:spPr>
          <a:xfrm>
            <a:off x="4709160" y="4087368"/>
            <a:ext cx="6903720" cy="0"/>
          </a:xfrm>
          <a:prstGeom prst="line">
            <a:avLst/>
          </a:prstGeom>
          <a:noFill/>
          <a:ln w="9525">
            <a:solidFill>
              <a:srgbClr val="1D3A63"/>
            </a:solidFill>
            <a:prstDash val="solid"/>
          </a:ln>
        </p:spPr>
      </p:sp>
      <p:sp>
        <p:nvSpPr>
          <p:cNvPr id="24" name="Shape 18"/>
          <p:cNvSpPr/>
          <p:nvPr/>
        </p:nvSpPr>
        <p:spPr>
          <a:xfrm>
            <a:off x="4709160" y="4160520"/>
            <a:ext cx="502920" cy="502920"/>
          </a:xfrm>
          <a:prstGeom prst="ellipse">
            <a:avLst/>
          </a:prstGeom>
          <a:solidFill>
            <a:srgbClr val="132A4C"/>
          </a:solidFill>
          <a:ln w="15875">
            <a:solidFill>
              <a:srgbClr val="22D3EE"/>
            </a:solidFill>
            <a:prstDash val="solid"/>
          </a:ln>
        </p:spPr>
      </p:sp>
      <p:pic>
        <p:nvPicPr>
          <p:cNvPr id="25" name="Image 4" descr="/home/claude/phishing/icons/lock.png"/>
          <p:cNvPicPr>
            <a:picLocks noChangeAspect="1"/>
          </p:cNvPicPr>
          <p:nvPr/>
        </p:nvPicPr>
        <p:blipFill>
          <a:blip r:embed="rId7"/>
          <a:stretch>
            <a:fillRect/>
          </a:stretch>
        </p:blipFill>
        <p:spPr>
          <a:xfrm>
            <a:off x="4846320" y="4297680"/>
            <a:ext cx="228600" cy="228600"/>
          </a:xfrm>
          <a:prstGeom prst="rect">
            <a:avLst/>
          </a:prstGeom>
        </p:spPr>
      </p:pic>
      <p:sp>
        <p:nvSpPr>
          <p:cNvPr id="26" name="Text 19"/>
          <p:cNvSpPr/>
          <p:nvPr/>
        </p:nvSpPr>
        <p:spPr>
          <a:xfrm>
            <a:off x="5367528" y="4142232"/>
            <a:ext cx="2743200" cy="502920"/>
          </a:xfrm>
          <a:prstGeom prst="rect">
            <a:avLst/>
          </a:prstGeom>
          <a:noFill/>
          <a:ln/>
        </p:spPr>
        <p:txBody>
          <a:bodyPr wrap="square" lIns="0" tIns="0" rIns="0" bIns="0" rtlCol="0" anchor="ctr"/>
          <a:lstStyle/>
          <a:p>
            <a:pPr marL="0" indent="0">
              <a:buNone/>
            </a:pPr>
            <a:r>
              <a:rPr lang="en-US" sz="1350" b="1" dirty="0">
                <a:solidFill>
                  <a:srgbClr val="FFFFFF"/>
                </a:solidFill>
                <a:latin typeface="Arial" pitchFamily="34" charset="0"/>
                <a:ea typeface="Arial" pitchFamily="34" charset="-122"/>
                <a:cs typeface="Arial" pitchFamily="34" charset="-120"/>
              </a:rPr>
              <a:t>Ransomware</a:t>
            </a:r>
            <a:endParaRPr lang="en-US" sz="1350" dirty="0"/>
          </a:p>
        </p:txBody>
      </p:sp>
      <p:sp>
        <p:nvSpPr>
          <p:cNvPr id="27" name="Text 20"/>
          <p:cNvSpPr/>
          <p:nvPr/>
        </p:nvSpPr>
        <p:spPr>
          <a:xfrm>
            <a:off x="8092440" y="4142232"/>
            <a:ext cx="3520440" cy="502920"/>
          </a:xfrm>
          <a:prstGeom prst="rect">
            <a:avLst/>
          </a:prstGeom>
          <a:noFill/>
          <a:ln/>
        </p:spPr>
        <p:txBody>
          <a:bodyPr wrap="square" lIns="0" tIns="0" rIns="0" bIns="0" rtlCol="0" anchor="ctr"/>
          <a:lstStyle/>
          <a:p>
            <a:pPr marL="0" indent="0">
              <a:buNone/>
            </a:pPr>
            <a:r>
              <a:rPr lang="en-US" sz="1150" dirty="0">
                <a:solidFill>
                  <a:srgbClr val="9FB3C8"/>
                </a:solidFill>
                <a:latin typeface="Calibri" pitchFamily="34" charset="0"/>
                <a:ea typeface="Calibri" pitchFamily="34" charset="-122"/>
                <a:cs typeface="Calibri" pitchFamily="34" charset="-120"/>
              </a:rPr>
              <a:t>Files locked until a ransom is paid</a:t>
            </a:r>
            <a:endParaRPr lang="en-US" sz="1150" dirty="0"/>
          </a:p>
        </p:txBody>
      </p:sp>
      <p:sp>
        <p:nvSpPr>
          <p:cNvPr id="28" name="Shape 21"/>
          <p:cNvSpPr/>
          <p:nvPr/>
        </p:nvSpPr>
        <p:spPr>
          <a:xfrm>
            <a:off x="4709160" y="4864608"/>
            <a:ext cx="6903720" cy="0"/>
          </a:xfrm>
          <a:prstGeom prst="line">
            <a:avLst/>
          </a:prstGeom>
          <a:noFill/>
          <a:ln w="9525">
            <a:solidFill>
              <a:srgbClr val="1D3A63"/>
            </a:solidFill>
            <a:prstDash val="solid"/>
          </a:ln>
        </p:spPr>
      </p:sp>
      <p:sp>
        <p:nvSpPr>
          <p:cNvPr id="29" name="Shape 22"/>
          <p:cNvSpPr/>
          <p:nvPr/>
        </p:nvSpPr>
        <p:spPr>
          <a:xfrm>
            <a:off x="4709160" y="4937760"/>
            <a:ext cx="502920" cy="502920"/>
          </a:xfrm>
          <a:prstGeom prst="ellipse">
            <a:avLst/>
          </a:prstGeom>
          <a:solidFill>
            <a:srgbClr val="132A4C"/>
          </a:solidFill>
          <a:ln w="15875">
            <a:solidFill>
              <a:srgbClr val="22D3EE"/>
            </a:solidFill>
            <a:prstDash val="solid"/>
          </a:ln>
        </p:spPr>
      </p:sp>
      <p:pic>
        <p:nvPicPr>
          <p:cNvPr id="30" name="Image 5" descr="/home/claude/phishing/icons/trenddown.png"/>
          <p:cNvPicPr>
            <a:picLocks noChangeAspect="1"/>
          </p:cNvPicPr>
          <p:nvPr/>
        </p:nvPicPr>
        <p:blipFill>
          <a:blip r:embed="rId8"/>
          <a:stretch>
            <a:fillRect/>
          </a:stretch>
        </p:blipFill>
        <p:spPr>
          <a:xfrm>
            <a:off x="4846320" y="5074920"/>
            <a:ext cx="228600" cy="228600"/>
          </a:xfrm>
          <a:prstGeom prst="rect">
            <a:avLst/>
          </a:prstGeom>
        </p:spPr>
      </p:pic>
      <p:sp>
        <p:nvSpPr>
          <p:cNvPr id="31" name="Text 23"/>
          <p:cNvSpPr/>
          <p:nvPr/>
        </p:nvSpPr>
        <p:spPr>
          <a:xfrm>
            <a:off x="5367528" y="4919472"/>
            <a:ext cx="2743200" cy="502920"/>
          </a:xfrm>
          <a:prstGeom prst="rect">
            <a:avLst/>
          </a:prstGeom>
          <a:noFill/>
          <a:ln/>
        </p:spPr>
        <p:txBody>
          <a:bodyPr wrap="square" lIns="0" tIns="0" rIns="0" bIns="0" rtlCol="0" anchor="ctr"/>
          <a:lstStyle/>
          <a:p>
            <a:pPr marL="0" indent="0">
              <a:buNone/>
            </a:pPr>
            <a:r>
              <a:rPr lang="en-US" sz="1350" b="1" dirty="0">
                <a:solidFill>
                  <a:srgbClr val="FFFFFF"/>
                </a:solidFill>
                <a:latin typeface="Arial" pitchFamily="34" charset="0"/>
                <a:ea typeface="Arial" pitchFamily="34" charset="-122"/>
                <a:cs typeface="Arial" pitchFamily="34" charset="-120"/>
              </a:rPr>
              <a:t>Reputation damage</a:t>
            </a:r>
            <a:endParaRPr lang="en-US" sz="1350" dirty="0"/>
          </a:p>
        </p:txBody>
      </p:sp>
      <p:sp>
        <p:nvSpPr>
          <p:cNvPr id="32" name="Text 24"/>
          <p:cNvSpPr/>
          <p:nvPr/>
        </p:nvSpPr>
        <p:spPr>
          <a:xfrm>
            <a:off x="8092440" y="4919472"/>
            <a:ext cx="3520440" cy="502920"/>
          </a:xfrm>
          <a:prstGeom prst="rect">
            <a:avLst/>
          </a:prstGeom>
          <a:noFill/>
          <a:ln/>
        </p:spPr>
        <p:txBody>
          <a:bodyPr wrap="square" lIns="0" tIns="0" rIns="0" bIns="0" rtlCol="0" anchor="ctr"/>
          <a:lstStyle/>
          <a:p>
            <a:pPr marL="0" indent="0">
              <a:buNone/>
            </a:pPr>
            <a:r>
              <a:rPr lang="en-US" sz="1150" dirty="0">
                <a:solidFill>
                  <a:srgbClr val="9FB3C8"/>
                </a:solidFill>
                <a:latin typeface="Calibri" pitchFamily="34" charset="0"/>
                <a:ea typeface="Calibri" pitchFamily="34" charset="-122"/>
                <a:cs typeface="Calibri" pitchFamily="34" charset="-120"/>
              </a:rPr>
              <a:t>Lost trust from clients and partners</a:t>
            </a:r>
            <a:endParaRPr lang="en-US" sz="1150" dirty="0"/>
          </a:p>
        </p:txBody>
      </p:sp>
      <p:sp>
        <p:nvSpPr>
          <p:cNvPr id="33" name="Text 25"/>
          <p:cNvSpPr/>
          <p:nvPr/>
        </p:nvSpPr>
        <p:spPr>
          <a:xfrm>
            <a:off x="11155680" y="6473952"/>
            <a:ext cx="822960" cy="274320"/>
          </a:xfrm>
          <a:prstGeom prst="rect">
            <a:avLst/>
          </a:prstGeom>
          <a:noFill/>
          <a:ln/>
        </p:spPr>
        <p:txBody>
          <a:bodyPr wrap="square" lIns="0" tIns="0" rIns="0" bIns="0" rtlCol="0" anchor="ctr"/>
          <a:lstStyle/>
          <a:p>
            <a:pPr marL="0" indent="0" algn="r">
              <a:buNone/>
            </a:pPr>
            <a:r>
              <a:rPr lang="en-US" sz="900" dirty="0">
                <a:solidFill>
                  <a:srgbClr val="9FB3C8"/>
                </a:solidFill>
                <a:latin typeface="Calibri" pitchFamily="34" charset="0"/>
                <a:ea typeface="Calibri" pitchFamily="34" charset="-122"/>
                <a:cs typeface="Calibri" pitchFamily="34" charset="-120"/>
              </a:rPr>
              <a:t>10 / 16</a:t>
            </a:r>
            <a:endParaRPr lang="en-US" sz="900" dirty="0"/>
          </a:p>
        </p:txBody>
      </p:sp>
      <p:sp>
        <p:nvSpPr>
          <p:cNvPr id="34" name="Text 26"/>
          <p:cNvSpPr/>
          <p:nvPr/>
        </p:nvSpPr>
        <p:spPr>
          <a:xfrm>
            <a:off x="548640" y="6473952"/>
            <a:ext cx="5486400" cy="274320"/>
          </a:xfrm>
          <a:prstGeom prst="rect">
            <a:avLst/>
          </a:prstGeom>
          <a:noFill/>
          <a:ln/>
        </p:spPr>
        <p:txBody>
          <a:bodyPr wrap="square" lIns="0" tIns="0" rIns="0" bIns="0" rtlCol="0" anchor="ctr"/>
          <a:lstStyle/>
          <a:p>
            <a:pPr marL="0" indent="0">
              <a:buNone/>
            </a:pPr>
            <a:r>
              <a:rPr lang="en-US" sz="900" kern="0" spc="100" dirty="0">
                <a:solidFill>
                  <a:srgbClr val="9FB3C8"/>
                </a:solidFill>
                <a:latin typeface="Calibri" pitchFamily="34" charset="0"/>
                <a:ea typeface="Calibri" pitchFamily="34" charset="-122"/>
                <a:cs typeface="Calibri" pitchFamily="34" charset="-120"/>
              </a:rPr>
              <a:t>PHISHING AWARENESS TRAINING</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1">
    <p:bg>
      <p:bgPr>
        <a:solidFill>
          <a:srgbClr val="0A1628"/>
        </a:solidFill>
        <a:effectLst/>
      </p:bgPr>
    </p:bg>
    <p:spTree>
      <p:nvGrpSpPr>
        <p:cNvPr id="1" name=""/>
        <p:cNvGrpSpPr/>
        <p:nvPr/>
      </p:nvGrpSpPr>
      <p:grpSpPr>
        <a:xfrm>
          <a:off x="0" y="0"/>
          <a:ext cx="0" cy="0"/>
          <a:chOff x="0" y="0"/>
          <a:chExt cx="0" cy="0"/>
        </a:xfrm>
      </p:grpSpPr>
      <p:sp>
        <p:nvSpPr>
          <p:cNvPr id="2" name="Text 0"/>
          <p:cNvSpPr/>
          <p:nvPr/>
        </p:nvSpPr>
        <p:spPr>
          <a:xfrm>
            <a:off x="548640" y="320040"/>
            <a:ext cx="7315200" cy="320040"/>
          </a:xfrm>
          <a:prstGeom prst="rect">
            <a:avLst/>
          </a:prstGeom>
          <a:noFill/>
          <a:ln/>
        </p:spPr>
        <p:txBody>
          <a:bodyPr wrap="square" lIns="0" tIns="0" rIns="0" bIns="0" rtlCol="0" anchor="ctr"/>
          <a:lstStyle/>
          <a:p>
            <a:pPr marL="0" indent="0">
              <a:buNone/>
            </a:pPr>
            <a:r>
              <a:rPr lang="en-US" sz="1200" b="1" kern="0" spc="200" dirty="0">
                <a:solidFill>
                  <a:srgbClr val="22D3EE"/>
                </a:solidFill>
                <a:latin typeface="Arial" pitchFamily="34" charset="0"/>
                <a:ea typeface="Arial" pitchFamily="34" charset="-122"/>
                <a:cs typeface="Arial" pitchFamily="34" charset="-120"/>
              </a:rPr>
              <a:t>YOUR DEFENSE</a:t>
            </a:r>
            <a:endParaRPr lang="en-US" sz="1200" dirty="0"/>
          </a:p>
        </p:txBody>
      </p:sp>
      <p:sp>
        <p:nvSpPr>
          <p:cNvPr id="3" name="Text 1"/>
          <p:cNvSpPr/>
          <p:nvPr/>
        </p:nvSpPr>
        <p:spPr>
          <a:xfrm>
            <a:off x="548640" y="621792"/>
            <a:ext cx="10789920" cy="685800"/>
          </a:xfrm>
          <a:prstGeom prst="rect">
            <a:avLst/>
          </a:prstGeom>
          <a:noFill/>
          <a:ln/>
        </p:spPr>
        <p:txBody>
          <a:bodyPr wrap="square" lIns="0" tIns="0" rIns="0" bIns="0" rtlCol="0" anchor="ctr"/>
          <a:lstStyle/>
          <a:p>
            <a:pPr marL="0" indent="0">
              <a:buNone/>
            </a:pPr>
            <a:r>
              <a:rPr lang="en-US" sz="3200" b="1" dirty="0">
                <a:solidFill>
                  <a:srgbClr val="FFFFFF"/>
                </a:solidFill>
                <a:latin typeface="Arial" pitchFamily="34" charset="0"/>
                <a:ea typeface="Arial" pitchFamily="34" charset="-122"/>
                <a:cs typeface="Arial" pitchFamily="34" charset="-120"/>
              </a:rPr>
              <a:t>Best Practices to Stay Safe</a:t>
            </a:r>
            <a:endParaRPr lang="en-US" sz="3200" dirty="0"/>
          </a:p>
        </p:txBody>
      </p:sp>
      <p:sp>
        <p:nvSpPr>
          <p:cNvPr id="4" name="Shape 2"/>
          <p:cNvSpPr/>
          <p:nvPr/>
        </p:nvSpPr>
        <p:spPr>
          <a:xfrm>
            <a:off x="548640" y="1783080"/>
            <a:ext cx="11064240" cy="777240"/>
          </a:xfrm>
          <a:prstGeom prst="roundRect">
            <a:avLst>
              <a:gd name="adj" fmla="val 9412"/>
            </a:avLst>
          </a:prstGeom>
          <a:solidFill>
            <a:srgbClr val="10233F"/>
          </a:solidFill>
          <a:ln w="9525">
            <a:solidFill>
              <a:srgbClr val="1D3A63"/>
            </a:solidFill>
            <a:prstDash val="solid"/>
          </a:ln>
          <a:effectLst>
            <a:outerShdw blurRad="76200" dist="38100" dir="5400000" algn="bl" rotWithShape="0">
              <a:srgbClr val="000000">
                <a:alpha val="35000"/>
              </a:srgbClr>
            </a:outerShdw>
          </a:effectLst>
        </p:spPr>
      </p:sp>
      <p:sp>
        <p:nvSpPr>
          <p:cNvPr id="5" name="Shape 3"/>
          <p:cNvSpPr/>
          <p:nvPr/>
        </p:nvSpPr>
        <p:spPr>
          <a:xfrm>
            <a:off x="777240" y="1892808"/>
            <a:ext cx="548640" cy="548640"/>
          </a:xfrm>
          <a:prstGeom prst="ellipse">
            <a:avLst/>
          </a:prstGeom>
          <a:solidFill>
            <a:srgbClr val="132A4C"/>
          </a:solidFill>
          <a:ln w="15875">
            <a:solidFill>
              <a:srgbClr val="22D3EE"/>
            </a:solidFill>
            <a:prstDash val="solid"/>
          </a:ln>
        </p:spPr>
      </p:sp>
      <p:pic>
        <p:nvPicPr>
          <p:cNvPr id="6" name="Image 0" descr="/home/claude/phishing/icons/checkcircle.png"/>
          <p:cNvPicPr>
            <a:picLocks noChangeAspect="1"/>
          </p:cNvPicPr>
          <p:nvPr/>
        </p:nvPicPr>
        <p:blipFill>
          <a:blip r:embed="rId3"/>
          <a:stretch>
            <a:fillRect/>
          </a:stretch>
        </p:blipFill>
        <p:spPr>
          <a:xfrm>
            <a:off x="914400" y="2029968"/>
            <a:ext cx="274320" cy="274320"/>
          </a:xfrm>
          <a:prstGeom prst="rect">
            <a:avLst/>
          </a:prstGeom>
        </p:spPr>
      </p:pic>
      <p:sp>
        <p:nvSpPr>
          <p:cNvPr id="7" name="Text 4"/>
          <p:cNvSpPr/>
          <p:nvPr/>
        </p:nvSpPr>
        <p:spPr>
          <a:xfrm>
            <a:off x="1554480" y="1856232"/>
            <a:ext cx="3291840" cy="640080"/>
          </a:xfrm>
          <a:prstGeom prst="rect">
            <a:avLst/>
          </a:prstGeom>
          <a:noFill/>
          <a:ln/>
        </p:spPr>
        <p:txBody>
          <a:bodyPr wrap="square" lIns="0" tIns="0" rIns="0" bIns="0" rtlCol="0" anchor="ctr"/>
          <a:lstStyle/>
          <a:p>
            <a:pPr marL="0" indent="0">
              <a:buNone/>
            </a:pPr>
            <a:r>
              <a:rPr lang="en-US" sz="1400" b="1" dirty="0">
                <a:solidFill>
                  <a:srgbClr val="FFFFFF"/>
                </a:solidFill>
                <a:latin typeface="Arial" pitchFamily="34" charset="0"/>
                <a:ea typeface="Arial" pitchFamily="34" charset="-122"/>
                <a:cs typeface="Arial" pitchFamily="34" charset="-120"/>
              </a:rPr>
              <a:t>Verify the sender</a:t>
            </a:r>
            <a:endParaRPr lang="en-US" sz="1400" dirty="0"/>
          </a:p>
        </p:txBody>
      </p:sp>
      <p:sp>
        <p:nvSpPr>
          <p:cNvPr id="8" name="Text 5"/>
          <p:cNvSpPr/>
          <p:nvPr/>
        </p:nvSpPr>
        <p:spPr>
          <a:xfrm>
            <a:off x="4937760" y="1856232"/>
            <a:ext cx="6400800" cy="640080"/>
          </a:xfrm>
          <a:prstGeom prst="rect">
            <a:avLst/>
          </a:prstGeom>
          <a:noFill/>
          <a:ln/>
        </p:spPr>
        <p:txBody>
          <a:bodyPr wrap="square" lIns="0" tIns="0" rIns="0" bIns="0" rtlCol="0" anchor="ctr"/>
          <a:lstStyle/>
          <a:p>
            <a:pPr marL="0" indent="0">
              <a:buNone/>
            </a:pPr>
            <a:r>
              <a:rPr lang="en-US" sz="1200" dirty="0">
                <a:solidFill>
                  <a:srgbClr val="9FB3C8"/>
                </a:solidFill>
                <a:latin typeface="Calibri" pitchFamily="34" charset="0"/>
                <a:ea typeface="Calibri" pitchFamily="34" charset="-122"/>
                <a:cs typeface="Calibri" pitchFamily="34" charset="-120"/>
              </a:rPr>
              <a:t>Check the actual email address, not just the display name</a:t>
            </a:r>
            <a:endParaRPr lang="en-US" sz="1200" dirty="0"/>
          </a:p>
        </p:txBody>
      </p:sp>
      <p:sp>
        <p:nvSpPr>
          <p:cNvPr id="9" name="Shape 6"/>
          <p:cNvSpPr/>
          <p:nvPr/>
        </p:nvSpPr>
        <p:spPr>
          <a:xfrm>
            <a:off x="548640" y="2679192"/>
            <a:ext cx="11064240" cy="777240"/>
          </a:xfrm>
          <a:prstGeom prst="roundRect">
            <a:avLst>
              <a:gd name="adj" fmla="val 9412"/>
            </a:avLst>
          </a:prstGeom>
          <a:solidFill>
            <a:srgbClr val="10233F"/>
          </a:solidFill>
          <a:ln w="9525">
            <a:solidFill>
              <a:srgbClr val="1D3A63"/>
            </a:solidFill>
            <a:prstDash val="solid"/>
          </a:ln>
          <a:effectLst>
            <a:outerShdw blurRad="76200" dist="38100" dir="5400000" algn="bl" rotWithShape="0">
              <a:srgbClr val="000000">
                <a:alpha val="35000"/>
              </a:srgbClr>
            </a:outerShdw>
          </a:effectLst>
        </p:spPr>
      </p:sp>
      <p:sp>
        <p:nvSpPr>
          <p:cNvPr id="10" name="Shape 7"/>
          <p:cNvSpPr/>
          <p:nvPr/>
        </p:nvSpPr>
        <p:spPr>
          <a:xfrm>
            <a:off x="777240" y="2788920"/>
            <a:ext cx="548640" cy="548640"/>
          </a:xfrm>
          <a:prstGeom prst="ellipse">
            <a:avLst/>
          </a:prstGeom>
          <a:solidFill>
            <a:srgbClr val="132A4C"/>
          </a:solidFill>
          <a:ln w="15875">
            <a:solidFill>
              <a:srgbClr val="22D3EE"/>
            </a:solidFill>
            <a:prstDash val="solid"/>
          </a:ln>
        </p:spPr>
      </p:sp>
      <p:pic>
        <p:nvPicPr>
          <p:cNvPr id="11" name="Image 1" descr="/home/claude/phishing/icons/mousepointer.png"/>
          <p:cNvPicPr>
            <a:picLocks noChangeAspect="1"/>
          </p:cNvPicPr>
          <p:nvPr/>
        </p:nvPicPr>
        <p:blipFill>
          <a:blip r:embed="rId4"/>
          <a:stretch>
            <a:fillRect/>
          </a:stretch>
        </p:blipFill>
        <p:spPr>
          <a:xfrm>
            <a:off x="914400" y="2926080"/>
            <a:ext cx="274320" cy="274320"/>
          </a:xfrm>
          <a:prstGeom prst="rect">
            <a:avLst/>
          </a:prstGeom>
        </p:spPr>
      </p:pic>
      <p:sp>
        <p:nvSpPr>
          <p:cNvPr id="12" name="Text 8"/>
          <p:cNvSpPr/>
          <p:nvPr/>
        </p:nvSpPr>
        <p:spPr>
          <a:xfrm>
            <a:off x="1554480" y="2752344"/>
            <a:ext cx="3291840" cy="640080"/>
          </a:xfrm>
          <a:prstGeom prst="rect">
            <a:avLst/>
          </a:prstGeom>
          <a:noFill/>
          <a:ln/>
        </p:spPr>
        <p:txBody>
          <a:bodyPr wrap="square" lIns="0" tIns="0" rIns="0" bIns="0" rtlCol="0" anchor="ctr"/>
          <a:lstStyle/>
          <a:p>
            <a:pPr marL="0" indent="0">
              <a:buNone/>
            </a:pPr>
            <a:r>
              <a:rPr lang="en-US" sz="1400" b="1" dirty="0">
                <a:solidFill>
                  <a:srgbClr val="FFFFFF"/>
                </a:solidFill>
                <a:latin typeface="Arial" pitchFamily="34" charset="0"/>
                <a:ea typeface="Arial" pitchFamily="34" charset="-122"/>
                <a:cs typeface="Arial" pitchFamily="34" charset="-120"/>
              </a:rPr>
              <a:t>Hover over links</a:t>
            </a:r>
            <a:endParaRPr lang="en-US" sz="1400" dirty="0"/>
          </a:p>
        </p:txBody>
      </p:sp>
      <p:sp>
        <p:nvSpPr>
          <p:cNvPr id="13" name="Text 9"/>
          <p:cNvSpPr/>
          <p:nvPr/>
        </p:nvSpPr>
        <p:spPr>
          <a:xfrm>
            <a:off x="4937760" y="2752344"/>
            <a:ext cx="6400800" cy="640080"/>
          </a:xfrm>
          <a:prstGeom prst="rect">
            <a:avLst/>
          </a:prstGeom>
          <a:noFill/>
          <a:ln/>
        </p:spPr>
        <p:txBody>
          <a:bodyPr wrap="square" lIns="0" tIns="0" rIns="0" bIns="0" rtlCol="0" anchor="ctr"/>
          <a:lstStyle/>
          <a:p>
            <a:pPr marL="0" indent="0">
              <a:buNone/>
            </a:pPr>
            <a:r>
              <a:rPr lang="en-US" sz="1200" dirty="0">
                <a:solidFill>
                  <a:srgbClr val="9FB3C8"/>
                </a:solidFill>
                <a:latin typeface="Calibri" pitchFamily="34" charset="0"/>
                <a:ea typeface="Calibri" pitchFamily="34" charset="-122"/>
                <a:cs typeface="Calibri" pitchFamily="34" charset="-120"/>
              </a:rPr>
              <a:t>Preview the real URL before you ever click</a:t>
            </a:r>
            <a:endParaRPr lang="en-US" sz="1200" dirty="0"/>
          </a:p>
        </p:txBody>
      </p:sp>
      <p:sp>
        <p:nvSpPr>
          <p:cNvPr id="14" name="Shape 10"/>
          <p:cNvSpPr/>
          <p:nvPr/>
        </p:nvSpPr>
        <p:spPr>
          <a:xfrm>
            <a:off x="548640" y="3575304"/>
            <a:ext cx="11064240" cy="777240"/>
          </a:xfrm>
          <a:prstGeom prst="roundRect">
            <a:avLst>
              <a:gd name="adj" fmla="val 9412"/>
            </a:avLst>
          </a:prstGeom>
          <a:solidFill>
            <a:srgbClr val="10233F"/>
          </a:solidFill>
          <a:ln w="9525">
            <a:solidFill>
              <a:srgbClr val="1D3A63"/>
            </a:solidFill>
            <a:prstDash val="solid"/>
          </a:ln>
          <a:effectLst>
            <a:outerShdw blurRad="76200" dist="38100" dir="5400000" algn="bl" rotWithShape="0">
              <a:srgbClr val="000000">
                <a:alpha val="35000"/>
              </a:srgbClr>
            </a:outerShdw>
          </a:effectLst>
        </p:spPr>
      </p:sp>
      <p:sp>
        <p:nvSpPr>
          <p:cNvPr id="15" name="Shape 11"/>
          <p:cNvSpPr/>
          <p:nvPr/>
        </p:nvSpPr>
        <p:spPr>
          <a:xfrm>
            <a:off x="777240" y="3685032"/>
            <a:ext cx="548640" cy="548640"/>
          </a:xfrm>
          <a:prstGeom prst="ellipse">
            <a:avLst/>
          </a:prstGeom>
          <a:solidFill>
            <a:srgbClr val="132A4C"/>
          </a:solidFill>
          <a:ln w="15875">
            <a:solidFill>
              <a:srgbClr val="22D3EE"/>
            </a:solidFill>
            <a:prstDash val="solid"/>
          </a:ln>
        </p:spPr>
      </p:sp>
      <p:pic>
        <p:nvPicPr>
          <p:cNvPr id="16" name="Image 2" descr="/home/claude/phishing/icons/key.png"/>
          <p:cNvPicPr>
            <a:picLocks noChangeAspect="1"/>
          </p:cNvPicPr>
          <p:nvPr/>
        </p:nvPicPr>
        <p:blipFill>
          <a:blip r:embed="rId5"/>
          <a:stretch>
            <a:fillRect/>
          </a:stretch>
        </p:blipFill>
        <p:spPr>
          <a:xfrm>
            <a:off x="914400" y="3822192"/>
            <a:ext cx="274320" cy="274320"/>
          </a:xfrm>
          <a:prstGeom prst="rect">
            <a:avLst/>
          </a:prstGeom>
        </p:spPr>
      </p:pic>
      <p:sp>
        <p:nvSpPr>
          <p:cNvPr id="17" name="Text 12"/>
          <p:cNvSpPr/>
          <p:nvPr/>
        </p:nvSpPr>
        <p:spPr>
          <a:xfrm>
            <a:off x="1554480" y="3648456"/>
            <a:ext cx="3291840" cy="640080"/>
          </a:xfrm>
          <a:prstGeom prst="rect">
            <a:avLst/>
          </a:prstGeom>
          <a:noFill/>
          <a:ln/>
        </p:spPr>
        <p:txBody>
          <a:bodyPr wrap="square" lIns="0" tIns="0" rIns="0" bIns="0" rtlCol="0" anchor="ctr"/>
          <a:lstStyle/>
          <a:p>
            <a:pPr marL="0" indent="0">
              <a:buNone/>
            </a:pPr>
            <a:r>
              <a:rPr lang="en-US" sz="1400" b="1" dirty="0">
                <a:solidFill>
                  <a:srgbClr val="FFFFFF"/>
                </a:solidFill>
                <a:latin typeface="Arial" pitchFamily="34" charset="0"/>
                <a:ea typeface="Arial" pitchFamily="34" charset="-122"/>
                <a:cs typeface="Arial" pitchFamily="34" charset="-120"/>
              </a:rPr>
              <a:t>Use strong passwords</a:t>
            </a:r>
            <a:endParaRPr lang="en-US" sz="1400" dirty="0"/>
          </a:p>
        </p:txBody>
      </p:sp>
      <p:sp>
        <p:nvSpPr>
          <p:cNvPr id="18" name="Text 13"/>
          <p:cNvSpPr/>
          <p:nvPr/>
        </p:nvSpPr>
        <p:spPr>
          <a:xfrm>
            <a:off x="4937760" y="3648456"/>
            <a:ext cx="6400800" cy="640080"/>
          </a:xfrm>
          <a:prstGeom prst="rect">
            <a:avLst/>
          </a:prstGeom>
          <a:noFill/>
          <a:ln/>
        </p:spPr>
        <p:txBody>
          <a:bodyPr wrap="square" lIns="0" tIns="0" rIns="0" bIns="0" rtlCol="0" anchor="ctr"/>
          <a:lstStyle/>
          <a:p>
            <a:pPr marL="0" indent="0">
              <a:buNone/>
            </a:pPr>
            <a:r>
              <a:rPr lang="en-US" sz="1200" dirty="0">
                <a:solidFill>
                  <a:srgbClr val="9FB3C8"/>
                </a:solidFill>
                <a:latin typeface="Calibri" pitchFamily="34" charset="0"/>
                <a:ea typeface="Calibri" pitchFamily="34" charset="-122"/>
                <a:cs typeface="Calibri" pitchFamily="34" charset="-120"/>
              </a:rPr>
              <a:t>Unique passwords for every account, no reuse</a:t>
            </a:r>
            <a:endParaRPr lang="en-US" sz="1200" dirty="0"/>
          </a:p>
        </p:txBody>
      </p:sp>
      <p:sp>
        <p:nvSpPr>
          <p:cNvPr id="19" name="Shape 14"/>
          <p:cNvSpPr/>
          <p:nvPr/>
        </p:nvSpPr>
        <p:spPr>
          <a:xfrm>
            <a:off x="548640" y="4471416"/>
            <a:ext cx="11064240" cy="777240"/>
          </a:xfrm>
          <a:prstGeom prst="roundRect">
            <a:avLst>
              <a:gd name="adj" fmla="val 9412"/>
            </a:avLst>
          </a:prstGeom>
          <a:solidFill>
            <a:srgbClr val="10233F"/>
          </a:solidFill>
          <a:ln w="9525">
            <a:solidFill>
              <a:srgbClr val="1D3A63"/>
            </a:solidFill>
            <a:prstDash val="solid"/>
          </a:ln>
          <a:effectLst>
            <a:outerShdw blurRad="76200" dist="38100" dir="5400000" algn="bl" rotWithShape="0">
              <a:srgbClr val="000000">
                <a:alpha val="35000"/>
              </a:srgbClr>
            </a:outerShdw>
          </a:effectLst>
        </p:spPr>
      </p:sp>
      <p:sp>
        <p:nvSpPr>
          <p:cNvPr id="20" name="Shape 15"/>
          <p:cNvSpPr/>
          <p:nvPr/>
        </p:nvSpPr>
        <p:spPr>
          <a:xfrm>
            <a:off x="777240" y="4581144"/>
            <a:ext cx="548640" cy="548640"/>
          </a:xfrm>
          <a:prstGeom prst="ellipse">
            <a:avLst/>
          </a:prstGeom>
          <a:solidFill>
            <a:srgbClr val="132A4C"/>
          </a:solidFill>
          <a:ln w="15875">
            <a:solidFill>
              <a:srgbClr val="22D3EE"/>
            </a:solidFill>
            <a:prstDash val="solid"/>
          </a:ln>
        </p:spPr>
      </p:sp>
      <p:pic>
        <p:nvPicPr>
          <p:cNvPr id="21" name="Image 3" descr="/home/claude/phishing/icons/shield.png"/>
          <p:cNvPicPr>
            <a:picLocks noChangeAspect="1"/>
          </p:cNvPicPr>
          <p:nvPr/>
        </p:nvPicPr>
        <p:blipFill>
          <a:blip r:embed="rId6"/>
          <a:stretch>
            <a:fillRect/>
          </a:stretch>
        </p:blipFill>
        <p:spPr>
          <a:xfrm>
            <a:off x="914400" y="4718304"/>
            <a:ext cx="274320" cy="274320"/>
          </a:xfrm>
          <a:prstGeom prst="rect">
            <a:avLst/>
          </a:prstGeom>
        </p:spPr>
      </p:pic>
      <p:sp>
        <p:nvSpPr>
          <p:cNvPr id="22" name="Text 16"/>
          <p:cNvSpPr/>
          <p:nvPr/>
        </p:nvSpPr>
        <p:spPr>
          <a:xfrm>
            <a:off x="1554480" y="4544568"/>
            <a:ext cx="3291840" cy="640080"/>
          </a:xfrm>
          <a:prstGeom prst="rect">
            <a:avLst/>
          </a:prstGeom>
          <a:noFill/>
          <a:ln/>
        </p:spPr>
        <p:txBody>
          <a:bodyPr wrap="square" lIns="0" tIns="0" rIns="0" bIns="0" rtlCol="0" anchor="ctr"/>
          <a:lstStyle/>
          <a:p>
            <a:pPr marL="0" indent="0">
              <a:buNone/>
            </a:pPr>
            <a:r>
              <a:rPr lang="en-US" sz="1400" b="1" dirty="0">
                <a:solidFill>
                  <a:srgbClr val="FFFFFF"/>
                </a:solidFill>
                <a:latin typeface="Arial" pitchFamily="34" charset="0"/>
                <a:ea typeface="Arial" pitchFamily="34" charset="-122"/>
                <a:cs typeface="Arial" pitchFamily="34" charset="-120"/>
              </a:rPr>
              <a:t>Enable MFA</a:t>
            </a:r>
            <a:endParaRPr lang="en-US" sz="1400" dirty="0"/>
          </a:p>
        </p:txBody>
      </p:sp>
      <p:sp>
        <p:nvSpPr>
          <p:cNvPr id="23" name="Text 17"/>
          <p:cNvSpPr/>
          <p:nvPr/>
        </p:nvSpPr>
        <p:spPr>
          <a:xfrm>
            <a:off x="4937760" y="4544568"/>
            <a:ext cx="6400800" cy="640080"/>
          </a:xfrm>
          <a:prstGeom prst="rect">
            <a:avLst/>
          </a:prstGeom>
          <a:noFill/>
          <a:ln/>
        </p:spPr>
        <p:txBody>
          <a:bodyPr wrap="square" lIns="0" tIns="0" rIns="0" bIns="0" rtlCol="0" anchor="ctr"/>
          <a:lstStyle/>
          <a:p>
            <a:pPr marL="0" indent="0">
              <a:buNone/>
            </a:pPr>
            <a:r>
              <a:rPr lang="en-US" sz="1200" dirty="0">
                <a:solidFill>
                  <a:srgbClr val="9FB3C8"/>
                </a:solidFill>
                <a:latin typeface="Calibri" pitchFamily="34" charset="0"/>
                <a:ea typeface="Calibri" pitchFamily="34" charset="-122"/>
                <a:cs typeface="Calibri" pitchFamily="34" charset="-120"/>
              </a:rPr>
              <a:t>A stolen password alone shouldn't be enough to get in</a:t>
            </a:r>
            <a:endParaRPr lang="en-US" sz="1200" dirty="0"/>
          </a:p>
        </p:txBody>
      </p:sp>
      <p:sp>
        <p:nvSpPr>
          <p:cNvPr id="24" name="Shape 18"/>
          <p:cNvSpPr/>
          <p:nvPr/>
        </p:nvSpPr>
        <p:spPr>
          <a:xfrm>
            <a:off x="548640" y="5367528"/>
            <a:ext cx="11064240" cy="777240"/>
          </a:xfrm>
          <a:prstGeom prst="roundRect">
            <a:avLst>
              <a:gd name="adj" fmla="val 9412"/>
            </a:avLst>
          </a:prstGeom>
          <a:solidFill>
            <a:srgbClr val="10233F"/>
          </a:solidFill>
          <a:ln w="9525">
            <a:solidFill>
              <a:srgbClr val="1D3A63"/>
            </a:solidFill>
            <a:prstDash val="solid"/>
          </a:ln>
          <a:effectLst>
            <a:outerShdw blurRad="76200" dist="38100" dir="5400000" algn="bl" rotWithShape="0">
              <a:srgbClr val="000000">
                <a:alpha val="35000"/>
              </a:srgbClr>
            </a:outerShdw>
          </a:effectLst>
        </p:spPr>
      </p:sp>
      <p:sp>
        <p:nvSpPr>
          <p:cNvPr id="25" name="Shape 19"/>
          <p:cNvSpPr/>
          <p:nvPr/>
        </p:nvSpPr>
        <p:spPr>
          <a:xfrm>
            <a:off x="777240" y="5477256"/>
            <a:ext cx="548640" cy="548640"/>
          </a:xfrm>
          <a:prstGeom prst="ellipse">
            <a:avLst/>
          </a:prstGeom>
          <a:solidFill>
            <a:srgbClr val="132A4C"/>
          </a:solidFill>
          <a:ln w="15875">
            <a:solidFill>
              <a:srgbClr val="22D3EE"/>
            </a:solidFill>
            <a:prstDash val="solid"/>
          </a:ln>
        </p:spPr>
      </p:sp>
      <p:pic>
        <p:nvPicPr>
          <p:cNvPr id="26" name="Image 4" descr="/home/claude/phishing/icons/pausecircle.png"/>
          <p:cNvPicPr>
            <a:picLocks noChangeAspect="1"/>
          </p:cNvPicPr>
          <p:nvPr/>
        </p:nvPicPr>
        <p:blipFill>
          <a:blip r:embed="rId7"/>
          <a:stretch>
            <a:fillRect/>
          </a:stretch>
        </p:blipFill>
        <p:spPr>
          <a:xfrm>
            <a:off x="914400" y="5614416"/>
            <a:ext cx="274320" cy="274320"/>
          </a:xfrm>
          <a:prstGeom prst="rect">
            <a:avLst/>
          </a:prstGeom>
        </p:spPr>
      </p:pic>
      <p:sp>
        <p:nvSpPr>
          <p:cNvPr id="27" name="Text 20"/>
          <p:cNvSpPr/>
          <p:nvPr/>
        </p:nvSpPr>
        <p:spPr>
          <a:xfrm>
            <a:off x="1554480" y="5440680"/>
            <a:ext cx="3291840" cy="640080"/>
          </a:xfrm>
          <a:prstGeom prst="rect">
            <a:avLst/>
          </a:prstGeom>
          <a:noFill/>
          <a:ln/>
        </p:spPr>
        <p:txBody>
          <a:bodyPr wrap="square" lIns="0" tIns="0" rIns="0" bIns="0" rtlCol="0" anchor="ctr"/>
          <a:lstStyle/>
          <a:p>
            <a:pPr marL="0" indent="0">
              <a:buNone/>
            </a:pPr>
            <a:r>
              <a:rPr lang="en-US" sz="1400" b="1" dirty="0">
                <a:solidFill>
                  <a:srgbClr val="FFFFFF"/>
                </a:solidFill>
                <a:latin typeface="Arial" pitchFamily="34" charset="0"/>
                <a:ea typeface="Arial" pitchFamily="34" charset="-122"/>
                <a:cs typeface="Arial" pitchFamily="34" charset="-120"/>
              </a:rPr>
              <a:t>Think before clicking</a:t>
            </a:r>
            <a:endParaRPr lang="en-US" sz="1400" dirty="0"/>
          </a:p>
        </p:txBody>
      </p:sp>
      <p:sp>
        <p:nvSpPr>
          <p:cNvPr id="28" name="Text 21"/>
          <p:cNvSpPr/>
          <p:nvPr/>
        </p:nvSpPr>
        <p:spPr>
          <a:xfrm>
            <a:off x="4937760" y="5440680"/>
            <a:ext cx="6400800" cy="640080"/>
          </a:xfrm>
          <a:prstGeom prst="rect">
            <a:avLst/>
          </a:prstGeom>
          <a:noFill/>
          <a:ln/>
        </p:spPr>
        <p:txBody>
          <a:bodyPr wrap="square" lIns="0" tIns="0" rIns="0" bIns="0" rtlCol="0" anchor="ctr"/>
          <a:lstStyle/>
          <a:p>
            <a:pPr marL="0" indent="0">
              <a:buNone/>
            </a:pPr>
            <a:r>
              <a:rPr lang="en-US" sz="1200" dirty="0">
                <a:solidFill>
                  <a:srgbClr val="9FB3C8"/>
                </a:solidFill>
                <a:latin typeface="Calibri" pitchFamily="34" charset="0"/>
                <a:ea typeface="Calibri" pitchFamily="34" charset="-122"/>
                <a:cs typeface="Calibri" pitchFamily="34" charset="-120"/>
              </a:rPr>
              <a:t>Slow down — urgency is usually a red flag itself</a:t>
            </a:r>
            <a:endParaRPr lang="en-US" sz="1200" dirty="0"/>
          </a:p>
        </p:txBody>
      </p:sp>
      <p:sp>
        <p:nvSpPr>
          <p:cNvPr id="29" name="Text 22"/>
          <p:cNvSpPr/>
          <p:nvPr/>
        </p:nvSpPr>
        <p:spPr>
          <a:xfrm>
            <a:off x="11155680" y="6473952"/>
            <a:ext cx="822960" cy="274320"/>
          </a:xfrm>
          <a:prstGeom prst="rect">
            <a:avLst/>
          </a:prstGeom>
          <a:noFill/>
          <a:ln/>
        </p:spPr>
        <p:txBody>
          <a:bodyPr wrap="square" lIns="0" tIns="0" rIns="0" bIns="0" rtlCol="0" anchor="ctr"/>
          <a:lstStyle/>
          <a:p>
            <a:pPr marL="0" indent="0" algn="r">
              <a:buNone/>
            </a:pPr>
            <a:r>
              <a:rPr lang="en-US" sz="900" dirty="0">
                <a:solidFill>
                  <a:srgbClr val="9FB3C8"/>
                </a:solidFill>
                <a:latin typeface="Calibri" pitchFamily="34" charset="0"/>
                <a:ea typeface="Calibri" pitchFamily="34" charset="-122"/>
                <a:cs typeface="Calibri" pitchFamily="34" charset="-120"/>
              </a:rPr>
              <a:t>11 / 16</a:t>
            </a:r>
            <a:endParaRPr lang="en-US" sz="900" dirty="0"/>
          </a:p>
        </p:txBody>
      </p:sp>
      <p:sp>
        <p:nvSpPr>
          <p:cNvPr id="30" name="Text 23"/>
          <p:cNvSpPr/>
          <p:nvPr/>
        </p:nvSpPr>
        <p:spPr>
          <a:xfrm>
            <a:off x="548640" y="6473952"/>
            <a:ext cx="5486400" cy="274320"/>
          </a:xfrm>
          <a:prstGeom prst="rect">
            <a:avLst/>
          </a:prstGeom>
          <a:noFill/>
          <a:ln/>
        </p:spPr>
        <p:txBody>
          <a:bodyPr wrap="square" lIns="0" tIns="0" rIns="0" bIns="0" rtlCol="0" anchor="ctr"/>
          <a:lstStyle/>
          <a:p>
            <a:pPr marL="0" indent="0">
              <a:buNone/>
            </a:pPr>
            <a:r>
              <a:rPr lang="en-US" sz="900" kern="0" spc="100" dirty="0">
                <a:solidFill>
                  <a:srgbClr val="9FB3C8"/>
                </a:solidFill>
                <a:latin typeface="Calibri" pitchFamily="34" charset="0"/>
                <a:ea typeface="Calibri" pitchFamily="34" charset="-122"/>
                <a:cs typeface="Calibri" pitchFamily="34" charset="-120"/>
              </a:rPr>
              <a:t>PHISHING AWARENESS TRAINING</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2">
    <p:bg>
      <p:bgPr>
        <a:solidFill>
          <a:srgbClr val="0A1628"/>
        </a:solidFill>
        <a:effectLst/>
      </p:bgPr>
    </p:bg>
    <p:spTree>
      <p:nvGrpSpPr>
        <p:cNvPr id="1" name=""/>
        <p:cNvGrpSpPr/>
        <p:nvPr/>
      </p:nvGrpSpPr>
      <p:grpSpPr>
        <a:xfrm>
          <a:off x="0" y="0"/>
          <a:ext cx="0" cy="0"/>
          <a:chOff x="0" y="0"/>
          <a:chExt cx="0" cy="0"/>
        </a:xfrm>
      </p:grpSpPr>
      <p:sp>
        <p:nvSpPr>
          <p:cNvPr id="2" name="Text 0"/>
          <p:cNvSpPr/>
          <p:nvPr/>
        </p:nvSpPr>
        <p:spPr>
          <a:xfrm>
            <a:off x="548640" y="320040"/>
            <a:ext cx="7315200" cy="320040"/>
          </a:xfrm>
          <a:prstGeom prst="rect">
            <a:avLst/>
          </a:prstGeom>
          <a:noFill/>
          <a:ln/>
        </p:spPr>
        <p:txBody>
          <a:bodyPr wrap="square" lIns="0" tIns="0" rIns="0" bIns="0" rtlCol="0" anchor="ctr"/>
          <a:lstStyle/>
          <a:p>
            <a:pPr marL="0" indent="0">
              <a:buNone/>
            </a:pPr>
            <a:r>
              <a:rPr lang="en-US" sz="1200" b="1" kern="0" spc="200" dirty="0">
                <a:solidFill>
                  <a:srgbClr val="22D3EE"/>
                </a:solidFill>
                <a:latin typeface="Arial" pitchFamily="34" charset="0"/>
                <a:ea typeface="Arial" pitchFamily="34" charset="-122"/>
                <a:cs typeface="Arial" pitchFamily="34" charset="-120"/>
              </a:rPr>
              <a:t>DON'T PANIC</a:t>
            </a:r>
            <a:endParaRPr lang="en-US" sz="1200" dirty="0"/>
          </a:p>
        </p:txBody>
      </p:sp>
      <p:sp>
        <p:nvSpPr>
          <p:cNvPr id="3" name="Text 1"/>
          <p:cNvSpPr/>
          <p:nvPr/>
        </p:nvSpPr>
        <p:spPr>
          <a:xfrm>
            <a:off x="548640" y="621792"/>
            <a:ext cx="10789920" cy="685800"/>
          </a:xfrm>
          <a:prstGeom prst="rect">
            <a:avLst/>
          </a:prstGeom>
          <a:noFill/>
          <a:ln/>
        </p:spPr>
        <p:txBody>
          <a:bodyPr wrap="square" lIns="0" tIns="0" rIns="0" bIns="0" rtlCol="0" anchor="ctr"/>
          <a:lstStyle/>
          <a:p>
            <a:pPr marL="0" indent="0">
              <a:buNone/>
            </a:pPr>
            <a:r>
              <a:rPr lang="en-US" sz="3200" b="1" dirty="0">
                <a:solidFill>
                  <a:srgbClr val="FFFFFF"/>
                </a:solidFill>
                <a:latin typeface="Arial" pitchFamily="34" charset="0"/>
                <a:ea typeface="Arial" pitchFamily="34" charset="-122"/>
                <a:cs typeface="Arial" pitchFamily="34" charset="-120"/>
              </a:rPr>
              <a:t>What To Do If You Click a Phishing Link</a:t>
            </a:r>
            <a:endParaRPr lang="en-US" sz="3200" dirty="0"/>
          </a:p>
        </p:txBody>
      </p:sp>
      <p:sp>
        <p:nvSpPr>
          <p:cNvPr id="4" name="Shape 2"/>
          <p:cNvSpPr/>
          <p:nvPr/>
        </p:nvSpPr>
        <p:spPr>
          <a:xfrm>
            <a:off x="548640" y="2011680"/>
            <a:ext cx="2084832" cy="3566160"/>
          </a:xfrm>
          <a:prstGeom prst="roundRect">
            <a:avLst>
              <a:gd name="adj" fmla="val 3509"/>
            </a:avLst>
          </a:prstGeom>
          <a:solidFill>
            <a:srgbClr val="10233F"/>
          </a:solidFill>
          <a:ln w="9525">
            <a:solidFill>
              <a:srgbClr val="1D3A63"/>
            </a:solidFill>
            <a:prstDash val="solid"/>
          </a:ln>
        </p:spPr>
      </p:sp>
      <p:sp>
        <p:nvSpPr>
          <p:cNvPr id="5" name="Text 3"/>
          <p:cNvSpPr/>
          <p:nvPr/>
        </p:nvSpPr>
        <p:spPr>
          <a:xfrm>
            <a:off x="685800" y="2121408"/>
            <a:ext cx="457200" cy="365760"/>
          </a:xfrm>
          <a:prstGeom prst="rect">
            <a:avLst/>
          </a:prstGeom>
          <a:noFill/>
          <a:ln/>
        </p:spPr>
        <p:txBody>
          <a:bodyPr wrap="square" lIns="0" tIns="0" rIns="0" bIns="0" rtlCol="0" anchor="ctr"/>
          <a:lstStyle/>
          <a:p>
            <a:pPr marL="0" indent="0">
              <a:buNone/>
            </a:pPr>
            <a:r>
              <a:rPr lang="en-US" sz="1600" b="1" dirty="0">
                <a:solidFill>
                  <a:srgbClr val="22D3EE"/>
                </a:solidFill>
                <a:latin typeface="Arial" pitchFamily="34" charset="0"/>
                <a:ea typeface="Arial" pitchFamily="34" charset="-122"/>
                <a:cs typeface="Arial" pitchFamily="34" charset="-120"/>
              </a:rPr>
              <a:t>1</a:t>
            </a:r>
            <a:endParaRPr lang="en-US" sz="1600" dirty="0"/>
          </a:p>
        </p:txBody>
      </p:sp>
      <p:sp>
        <p:nvSpPr>
          <p:cNvPr id="6" name="Shape 4"/>
          <p:cNvSpPr/>
          <p:nvPr/>
        </p:nvSpPr>
        <p:spPr>
          <a:xfrm>
            <a:off x="1325880" y="2514600"/>
            <a:ext cx="530352" cy="530352"/>
          </a:xfrm>
          <a:prstGeom prst="ellipse">
            <a:avLst/>
          </a:prstGeom>
          <a:solidFill>
            <a:srgbClr val="132A4C"/>
          </a:solidFill>
          <a:ln w="15875">
            <a:solidFill>
              <a:srgbClr val="22D3EE"/>
            </a:solidFill>
            <a:prstDash val="solid"/>
          </a:ln>
        </p:spPr>
      </p:sp>
      <p:pic>
        <p:nvPicPr>
          <p:cNvPr id="7" name="Image 0" descr="/home/claude/phishing/icons/wifioff.png"/>
          <p:cNvPicPr>
            <a:picLocks noChangeAspect="1"/>
          </p:cNvPicPr>
          <p:nvPr/>
        </p:nvPicPr>
        <p:blipFill>
          <a:blip r:embed="rId3"/>
          <a:stretch>
            <a:fillRect/>
          </a:stretch>
        </p:blipFill>
        <p:spPr>
          <a:xfrm>
            <a:off x="1463040" y="2651760"/>
            <a:ext cx="256032" cy="256032"/>
          </a:xfrm>
          <a:prstGeom prst="rect">
            <a:avLst/>
          </a:prstGeom>
        </p:spPr>
      </p:pic>
      <p:sp>
        <p:nvSpPr>
          <p:cNvPr id="8" name="Text 5"/>
          <p:cNvSpPr/>
          <p:nvPr/>
        </p:nvSpPr>
        <p:spPr>
          <a:xfrm>
            <a:off x="658368" y="3246120"/>
            <a:ext cx="1865376" cy="365760"/>
          </a:xfrm>
          <a:prstGeom prst="rect">
            <a:avLst/>
          </a:prstGeom>
          <a:noFill/>
          <a:ln/>
        </p:spPr>
        <p:txBody>
          <a:bodyPr wrap="square" lIns="0" tIns="0" rIns="0" bIns="0" rtlCol="0" anchor="ctr"/>
          <a:lstStyle/>
          <a:p>
            <a:pPr marL="0" indent="0" algn="ctr">
              <a:buNone/>
            </a:pPr>
            <a:r>
              <a:rPr lang="en-US" sz="1250" b="1" dirty="0">
                <a:solidFill>
                  <a:srgbClr val="FFFFFF"/>
                </a:solidFill>
                <a:latin typeface="Arial" pitchFamily="34" charset="0"/>
                <a:ea typeface="Arial" pitchFamily="34" charset="-122"/>
                <a:cs typeface="Arial" pitchFamily="34" charset="-120"/>
              </a:rPr>
              <a:t>Disconnect</a:t>
            </a:r>
            <a:endParaRPr lang="en-US" sz="1250" dirty="0"/>
          </a:p>
        </p:txBody>
      </p:sp>
      <p:sp>
        <p:nvSpPr>
          <p:cNvPr id="9" name="Text 6"/>
          <p:cNvSpPr/>
          <p:nvPr/>
        </p:nvSpPr>
        <p:spPr>
          <a:xfrm>
            <a:off x="694944" y="3657600"/>
            <a:ext cx="1792224" cy="1737360"/>
          </a:xfrm>
          <a:prstGeom prst="rect">
            <a:avLst/>
          </a:prstGeom>
          <a:noFill/>
          <a:ln/>
        </p:spPr>
        <p:txBody>
          <a:bodyPr wrap="square" lIns="0" tIns="0" rIns="0" bIns="0" rtlCol="0" anchor="ctr"/>
          <a:lstStyle/>
          <a:p>
            <a:pPr marL="0" indent="0" algn="ctr">
              <a:buNone/>
            </a:pPr>
            <a:r>
              <a:rPr lang="en-US" sz="1000" dirty="0">
                <a:solidFill>
                  <a:srgbClr val="9FB3C8"/>
                </a:solidFill>
                <a:latin typeface="Calibri" pitchFamily="34" charset="0"/>
                <a:ea typeface="Calibri" pitchFamily="34" charset="-122"/>
                <a:cs typeface="Calibri" pitchFamily="34" charset="-120"/>
              </a:rPr>
              <a:t>Unplug from the network or turn off Wi-Fi right away</a:t>
            </a:r>
            <a:endParaRPr lang="en-US" sz="1000" dirty="0"/>
          </a:p>
        </p:txBody>
      </p:sp>
      <p:pic>
        <p:nvPicPr>
          <p:cNvPr id="10" name="Image 1" descr="/home/claude/phishing/icons/arrowright.png"/>
          <p:cNvPicPr>
            <a:picLocks noChangeAspect="1"/>
          </p:cNvPicPr>
          <p:nvPr/>
        </p:nvPicPr>
        <p:blipFill>
          <a:blip r:embed="rId4"/>
          <a:stretch>
            <a:fillRect/>
          </a:stretch>
        </p:blipFill>
        <p:spPr>
          <a:xfrm>
            <a:off x="2647188" y="3621024"/>
            <a:ext cx="146304" cy="146304"/>
          </a:xfrm>
          <a:prstGeom prst="rect">
            <a:avLst/>
          </a:prstGeom>
        </p:spPr>
      </p:pic>
      <p:sp>
        <p:nvSpPr>
          <p:cNvPr id="11" name="Shape 7"/>
          <p:cNvSpPr/>
          <p:nvPr/>
        </p:nvSpPr>
        <p:spPr>
          <a:xfrm>
            <a:off x="2807208" y="2011680"/>
            <a:ext cx="2084832" cy="3566160"/>
          </a:xfrm>
          <a:prstGeom prst="roundRect">
            <a:avLst>
              <a:gd name="adj" fmla="val 3509"/>
            </a:avLst>
          </a:prstGeom>
          <a:solidFill>
            <a:srgbClr val="10233F"/>
          </a:solidFill>
          <a:ln w="9525">
            <a:solidFill>
              <a:srgbClr val="1D3A63"/>
            </a:solidFill>
            <a:prstDash val="solid"/>
          </a:ln>
        </p:spPr>
      </p:sp>
      <p:sp>
        <p:nvSpPr>
          <p:cNvPr id="12" name="Text 8"/>
          <p:cNvSpPr/>
          <p:nvPr/>
        </p:nvSpPr>
        <p:spPr>
          <a:xfrm>
            <a:off x="2944368" y="2121408"/>
            <a:ext cx="457200" cy="365760"/>
          </a:xfrm>
          <a:prstGeom prst="rect">
            <a:avLst/>
          </a:prstGeom>
          <a:noFill/>
          <a:ln/>
        </p:spPr>
        <p:txBody>
          <a:bodyPr wrap="square" lIns="0" tIns="0" rIns="0" bIns="0" rtlCol="0" anchor="ctr"/>
          <a:lstStyle/>
          <a:p>
            <a:pPr marL="0" indent="0">
              <a:buNone/>
            </a:pPr>
            <a:r>
              <a:rPr lang="en-US" sz="1600" b="1" dirty="0">
                <a:solidFill>
                  <a:srgbClr val="22D3EE"/>
                </a:solidFill>
                <a:latin typeface="Arial" pitchFamily="34" charset="0"/>
                <a:ea typeface="Arial" pitchFamily="34" charset="-122"/>
                <a:cs typeface="Arial" pitchFamily="34" charset="-120"/>
              </a:rPr>
              <a:t>2</a:t>
            </a:r>
            <a:endParaRPr lang="en-US" sz="1600" dirty="0"/>
          </a:p>
        </p:txBody>
      </p:sp>
      <p:sp>
        <p:nvSpPr>
          <p:cNvPr id="13" name="Shape 9"/>
          <p:cNvSpPr/>
          <p:nvPr/>
        </p:nvSpPr>
        <p:spPr>
          <a:xfrm>
            <a:off x="3584448" y="2514600"/>
            <a:ext cx="530352" cy="530352"/>
          </a:xfrm>
          <a:prstGeom prst="ellipse">
            <a:avLst/>
          </a:prstGeom>
          <a:solidFill>
            <a:srgbClr val="132A4C"/>
          </a:solidFill>
          <a:ln w="15875">
            <a:solidFill>
              <a:srgbClr val="22D3EE"/>
            </a:solidFill>
            <a:prstDash val="solid"/>
          </a:ln>
        </p:spPr>
      </p:sp>
      <p:pic>
        <p:nvPicPr>
          <p:cNvPr id="14" name="Image 2" descr="/home/claude/phishing/icons/refreshcw.png"/>
          <p:cNvPicPr>
            <a:picLocks noChangeAspect="1"/>
          </p:cNvPicPr>
          <p:nvPr/>
        </p:nvPicPr>
        <p:blipFill>
          <a:blip r:embed="rId5"/>
          <a:stretch>
            <a:fillRect/>
          </a:stretch>
        </p:blipFill>
        <p:spPr>
          <a:xfrm>
            <a:off x="3721608" y="2651760"/>
            <a:ext cx="256032" cy="256032"/>
          </a:xfrm>
          <a:prstGeom prst="rect">
            <a:avLst/>
          </a:prstGeom>
        </p:spPr>
      </p:pic>
      <p:sp>
        <p:nvSpPr>
          <p:cNvPr id="15" name="Text 10"/>
          <p:cNvSpPr/>
          <p:nvPr/>
        </p:nvSpPr>
        <p:spPr>
          <a:xfrm>
            <a:off x="2916936" y="3246120"/>
            <a:ext cx="1865376" cy="365760"/>
          </a:xfrm>
          <a:prstGeom prst="rect">
            <a:avLst/>
          </a:prstGeom>
          <a:noFill/>
          <a:ln/>
        </p:spPr>
        <p:txBody>
          <a:bodyPr wrap="square" lIns="0" tIns="0" rIns="0" bIns="0" rtlCol="0" anchor="ctr"/>
          <a:lstStyle/>
          <a:p>
            <a:pPr marL="0" indent="0" algn="ctr">
              <a:buNone/>
            </a:pPr>
            <a:r>
              <a:rPr lang="en-US" sz="1250" b="1" dirty="0">
                <a:solidFill>
                  <a:srgbClr val="FFFFFF"/>
                </a:solidFill>
                <a:latin typeface="Arial" pitchFamily="34" charset="0"/>
                <a:ea typeface="Arial" pitchFamily="34" charset="-122"/>
                <a:cs typeface="Arial" pitchFamily="34" charset="-120"/>
              </a:rPr>
              <a:t>Change passwords</a:t>
            </a:r>
            <a:endParaRPr lang="en-US" sz="1250" dirty="0"/>
          </a:p>
        </p:txBody>
      </p:sp>
      <p:sp>
        <p:nvSpPr>
          <p:cNvPr id="16" name="Text 11"/>
          <p:cNvSpPr/>
          <p:nvPr/>
        </p:nvSpPr>
        <p:spPr>
          <a:xfrm>
            <a:off x="2953512" y="3657600"/>
            <a:ext cx="1792224" cy="1737360"/>
          </a:xfrm>
          <a:prstGeom prst="rect">
            <a:avLst/>
          </a:prstGeom>
          <a:noFill/>
          <a:ln/>
        </p:spPr>
        <p:txBody>
          <a:bodyPr wrap="square" lIns="0" tIns="0" rIns="0" bIns="0" rtlCol="0" anchor="ctr"/>
          <a:lstStyle/>
          <a:p>
            <a:pPr marL="0" indent="0" algn="ctr">
              <a:buNone/>
            </a:pPr>
            <a:r>
              <a:rPr lang="en-US" sz="1000" dirty="0">
                <a:solidFill>
                  <a:srgbClr val="9FB3C8"/>
                </a:solidFill>
                <a:latin typeface="Calibri" pitchFamily="34" charset="0"/>
                <a:ea typeface="Calibri" pitchFamily="34" charset="-122"/>
                <a:cs typeface="Calibri" pitchFamily="34" charset="-120"/>
              </a:rPr>
              <a:t>Update the affected account from a different device</a:t>
            </a:r>
            <a:endParaRPr lang="en-US" sz="1000" dirty="0"/>
          </a:p>
        </p:txBody>
      </p:sp>
      <p:pic>
        <p:nvPicPr>
          <p:cNvPr id="17" name="Image 3" descr="/home/claude/phishing/icons/arrowright.png"/>
          <p:cNvPicPr>
            <a:picLocks noChangeAspect="1"/>
          </p:cNvPicPr>
          <p:nvPr/>
        </p:nvPicPr>
        <p:blipFill>
          <a:blip r:embed="rId4"/>
          <a:stretch>
            <a:fillRect/>
          </a:stretch>
        </p:blipFill>
        <p:spPr>
          <a:xfrm>
            <a:off x="4905756" y="3621024"/>
            <a:ext cx="146304" cy="146304"/>
          </a:xfrm>
          <a:prstGeom prst="rect">
            <a:avLst/>
          </a:prstGeom>
        </p:spPr>
      </p:pic>
      <p:sp>
        <p:nvSpPr>
          <p:cNvPr id="18" name="Shape 12"/>
          <p:cNvSpPr/>
          <p:nvPr/>
        </p:nvSpPr>
        <p:spPr>
          <a:xfrm>
            <a:off x="5065776" y="2011680"/>
            <a:ext cx="2084832" cy="3566160"/>
          </a:xfrm>
          <a:prstGeom prst="roundRect">
            <a:avLst>
              <a:gd name="adj" fmla="val 3509"/>
            </a:avLst>
          </a:prstGeom>
          <a:solidFill>
            <a:srgbClr val="10233F"/>
          </a:solidFill>
          <a:ln w="9525">
            <a:solidFill>
              <a:srgbClr val="1D3A63"/>
            </a:solidFill>
            <a:prstDash val="solid"/>
          </a:ln>
        </p:spPr>
      </p:sp>
      <p:sp>
        <p:nvSpPr>
          <p:cNvPr id="19" name="Text 13"/>
          <p:cNvSpPr/>
          <p:nvPr/>
        </p:nvSpPr>
        <p:spPr>
          <a:xfrm>
            <a:off x="5202936" y="2121408"/>
            <a:ext cx="457200" cy="365760"/>
          </a:xfrm>
          <a:prstGeom prst="rect">
            <a:avLst/>
          </a:prstGeom>
          <a:noFill/>
          <a:ln/>
        </p:spPr>
        <p:txBody>
          <a:bodyPr wrap="square" lIns="0" tIns="0" rIns="0" bIns="0" rtlCol="0" anchor="ctr"/>
          <a:lstStyle/>
          <a:p>
            <a:pPr marL="0" indent="0">
              <a:buNone/>
            </a:pPr>
            <a:r>
              <a:rPr lang="en-US" sz="1600" b="1" dirty="0">
                <a:solidFill>
                  <a:srgbClr val="22D3EE"/>
                </a:solidFill>
                <a:latin typeface="Arial" pitchFamily="34" charset="0"/>
                <a:ea typeface="Arial" pitchFamily="34" charset="-122"/>
                <a:cs typeface="Arial" pitchFamily="34" charset="-120"/>
              </a:rPr>
              <a:t>3</a:t>
            </a:r>
            <a:endParaRPr lang="en-US" sz="1600" dirty="0"/>
          </a:p>
        </p:txBody>
      </p:sp>
      <p:sp>
        <p:nvSpPr>
          <p:cNvPr id="20" name="Shape 14"/>
          <p:cNvSpPr/>
          <p:nvPr/>
        </p:nvSpPr>
        <p:spPr>
          <a:xfrm>
            <a:off x="5843016" y="2514600"/>
            <a:ext cx="530352" cy="530352"/>
          </a:xfrm>
          <a:prstGeom prst="ellipse">
            <a:avLst/>
          </a:prstGeom>
          <a:solidFill>
            <a:srgbClr val="132A4C"/>
          </a:solidFill>
          <a:ln w="15875">
            <a:solidFill>
              <a:srgbClr val="22D3EE"/>
            </a:solidFill>
            <a:prstDash val="solid"/>
          </a:ln>
        </p:spPr>
      </p:sp>
      <p:pic>
        <p:nvPicPr>
          <p:cNvPr id="21" name="Image 4" descr="/home/claude/phishing/icons/headphones.png"/>
          <p:cNvPicPr>
            <a:picLocks noChangeAspect="1"/>
          </p:cNvPicPr>
          <p:nvPr/>
        </p:nvPicPr>
        <p:blipFill>
          <a:blip r:embed="rId6"/>
          <a:stretch>
            <a:fillRect/>
          </a:stretch>
        </p:blipFill>
        <p:spPr>
          <a:xfrm>
            <a:off x="5980176" y="2651760"/>
            <a:ext cx="256032" cy="256032"/>
          </a:xfrm>
          <a:prstGeom prst="rect">
            <a:avLst/>
          </a:prstGeom>
        </p:spPr>
      </p:pic>
      <p:sp>
        <p:nvSpPr>
          <p:cNvPr id="22" name="Text 15"/>
          <p:cNvSpPr/>
          <p:nvPr/>
        </p:nvSpPr>
        <p:spPr>
          <a:xfrm>
            <a:off x="5175504" y="3246120"/>
            <a:ext cx="1865376" cy="365760"/>
          </a:xfrm>
          <a:prstGeom prst="rect">
            <a:avLst/>
          </a:prstGeom>
          <a:noFill/>
          <a:ln/>
        </p:spPr>
        <p:txBody>
          <a:bodyPr wrap="square" lIns="0" tIns="0" rIns="0" bIns="0" rtlCol="0" anchor="ctr"/>
          <a:lstStyle/>
          <a:p>
            <a:pPr marL="0" indent="0" algn="ctr">
              <a:buNone/>
            </a:pPr>
            <a:r>
              <a:rPr lang="en-US" sz="1250" b="1" dirty="0">
                <a:solidFill>
                  <a:srgbClr val="FFFFFF"/>
                </a:solidFill>
                <a:latin typeface="Arial" pitchFamily="34" charset="0"/>
                <a:ea typeface="Arial" pitchFamily="34" charset="-122"/>
                <a:cs typeface="Arial" pitchFamily="34" charset="-120"/>
              </a:rPr>
              <a:t>Report to IT</a:t>
            </a:r>
            <a:endParaRPr lang="en-US" sz="1250" dirty="0"/>
          </a:p>
        </p:txBody>
      </p:sp>
      <p:sp>
        <p:nvSpPr>
          <p:cNvPr id="23" name="Text 16"/>
          <p:cNvSpPr/>
          <p:nvPr/>
        </p:nvSpPr>
        <p:spPr>
          <a:xfrm>
            <a:off x="5212080" y="3657600"/>
            <a:ext cx="1792224" cy="1737360"/>
          </a:xfrm>
          <a:prstGeom prst="rect">
            <a:avLst/>
          </a:prstGeom>
          <a:noFill/>
          <a:ln/>
        </p:spPr>
        <p:txBody>
          <a:bodyPr wrap="square" lIns="0" tIns="0" rIns="0" bIns="0" rtlCol="0" anchor="ctr"/>
          <a:lstStyle/>
          <a:p>
            <a:pPr marL="0" indent="0" algn="ctr">
              <a:buNone/>
            </a:pPr>
            <a:r>
              <a:rPr lang="en-US" sz="1000" dirty="0">
                <a:solidFill>
                  <a:srgbClr val="9FB3C8"/>
                </a:solidFill>
                <a:latin typeface="Calibri" pitchFamily="34" charset="0"/>
                <a:ea typeface="Calibri" pitchFamily="34" charset="-122"/>
                <a:cs typeface="Calibri" pitchFamily="34" charset="-120"/>
              </a:rPr>
              <a:t>Tell security immediately — don't wait or feel embarrassed</a:t>
            </a:r>
            <a:endParaRPr lang="en-US" sz="1000" dirty="0"/>
          </a:p>
        </p:txBody>
      </p:sp>
      <p:pic>
        <p:nvPicPr>
          <p:cNvPr id="24" name="Image 5" descr="/home/claude/phishing/icons/arrowright.png"/>
          <p:cNvPicPr>
            <a:picLocks noChangeAspect="1"/>
          </p:cNvPicPr>
          <p:nvPr/>
        </p:nvPicPr>
        <p:blipFill>
          <a:blip r:embed="rId4"/>
          <a:stretch>
            <a:fillRect/>
          </a:stretch>
        </p:blipFill>
        <p:spPr>
          <a:xfrm>
            <a:off x="7164324" y="3621024"/>
            <a:ext cx="146304" cy="146304"/>
          </a:xfrm>
          <a:prstGeom prst="rect">
            <a:avLst/>
          </a:prstGeom>
        </p:spPr>
      </p:pic>
      <p:sp>
        <p:nvSpPr>
          <p:cNvPr id="25" name="Shape 17"/>
          <p:cNvSpPr/>
          <p:nvPr/>
        </p:nvSpPr>
        <p:spPr>
          <a:xfrm>
            <a:off x="7324344" y="2011680"/>
            <a:ext cx="2084832" cy="3566160"/>
          </a:xfrm>
          <a:prstGeom prst="roundRect">
            <a:avLst>
              <a:gd name="adj" fmla="val 3509"/>
            </a:avLst>
          </a:prstGeom>
          <a:solidFill>
            <a:srgbClr val="10233F"/>
          </a:solidFill>
          <a:ln w="9525">
            <a:solidFill>
              <a:srgbClr val="1D3A63"/>
            </a:solidFill>
            <a:prstDash val="solid"/>
          </a:ln>
        </p:spPr>
      </p:sp>
      <p:sp>
        <p:nvSpPr>
          <p:cNvPr id="26" name="Text 18"/>
          <p:cNvSpPr/>
          <p:nvPr/>
        </p:nvSpPr>
        <p:spPr>
          <a:xfrm>
            <a:off x="7461504" y="2121408"/>
            <a:ext cx="457200" cy="365760"/>
          </a:xfrm>
          <a:prstGeom prst="rect">
            <a:avLst/>
          </a:prstGeom>
          <a:noFill/>
          <a:ln/>
        </p:spPr>
        <p:txBody>
          <a:bodyPr wrap="square" lIns="0" tIns="0" rIns="0" bIns="0" rtlCol="0" anchor="ctr"/>
          <a:lstStyle/>
          <a:p>
            <a:pPr marL="0" indent="0">
              <a:buNone/>
            </a:pPr>
            <a:r>
              <a:rPr lang="en-US" sz="1600" b="1" dirty="0">
                <a:solidFill>
                  <a:srgbClr val="22D3EE"/>
                </a:solidFill>
                <a:latin typeface="Arial" pitchFamily="34" charset="0"/>
                <a:ea typeface="Arial" pitchFamily="34" charset="-122"/>
                <a:cs typeface="Arial" pitchFamily="34" charset="-120"/>
              </a:rPr>
              <a:t>4</a:t>
            </a:r>
            <a:endParaRPr lang="en-US" sz="1600" dirty="0"/>
          </a:p>
        </p:txBody>
      </p:sp>
      <p:sp>
        <p:nvSpPr>
          <p:cNvPr id="27" name="Shape 19"/>
          <p:cNvSpPr/>
          <p:nvPr/>
        </p:nvSpPr>
        <p:spPr>
          <a:xfrm>
            <a:off x="8101584" y="2514600"/>
            <a:ext cx="530352" cy="530352"/>
          </a:xfrm>
          <a:prstGeom prst="ellipse">
            <a:avLst/>
          </a:prstGeom>
          <a:solidFill>
            <a:srgbClr val="132A4C"/>
          </a:solidFill>
          <a:ln w="15875">
            <a:solidFill>
              <a:srgbClr val="22D3EE"/>
            </a:solidFill>
            <a:prstDash val="solid"/>
          </a:ln>
        </p:spPr>
      </p:sp>
      <p:pic>
        <p:nvPicPr>
          <p:cNvPr id="28" name="Image 6" descr="/home/claude/phishing/icons/search.png"/>
          <p:cNvPicPr>
            <a:picLocks noChangeAspect="1"/>
          </p:cNvPicPr>
          <p:nvPr/>
        </p:nvPicPr>
        <p:blipFill>
          <a:blip r:embed="rId7"/>
          <a:stretch>
            <a:fillRect/>
          </a:stretch>
        </p:blipFill>
        <p:spPr>
          <a:xfrm>
            <a:off x="8238744" y="2651760"/>
            <a:ext cx="256032" cy="256032"/>
          </a:xfrm>
          <a:prstGeom prst="rect">
            <a:avLst/>
          </a:prstGeom>
        </p:spPr>
      </p:pic>
      <p:sp>
        <p:nvSpPr>
          <p:cNvPr id="29" name="Text 20"/>
          <p:cNvSpPr/>
          <p:nvPr/>
        </p:nvSpPr>
        <p:spPr>
          <a:xfrm>
            <a:off x="7434072" y="3246120"/>
            <a:ext cx="1865376" cy="365760"/>
          </a:xfrm>
          <a:prstGeom prst="rect">
            <a:avLst/>
          </a:prstGeom>
          <a:noFill/>
          <a:ln/>
        </p:spPr>
        <p:txBody>
          <a:bodyPr wrap="square" lIns="0" tIns="0" rIns="0" bIns="0" rtlCol="0" anchor="ctr"/>
          <a:lstStyle/>
          <a:p>
            <a:pPr marL="0" indent="0" algn="ctr">
              <a:buNone/>
            </a:pPr>
            <a:r>
              <a:rPr lang="en-US" sz="1250" b="1" dirty="0">
                <a:solidFill>
                  <a:srgbClr val="FFFFFF"/>
                </a:solidFill>
                <a:latin typeface="Arial" pitchFamily="34" charset="0"/>
                <a:ea typeface="Arial" pitchFamily="34" charset="-122"/>
                <a:cs typeface="Arial" pitchFamily="34" charset="-120"/>
              </a:rPr>
              <a:t>Scan device</a:t>
            </a:r>
            <a:endParaRPr lang="en-US" sz="1250" dirty="0"/>
          </a:p>
        </p:txBody>
      </p:sp>
      <p:sp>
        <p:nvSpPr>
          <p:cNvPr id="30" name="Text 21"/>
          <p:cNvSpPr/>
          <p:nvPr/>
        </p:nvSpPr>
        <p:spPr>
          <a:xfrm>
            <a:off x="7470648" y="3657600"/>
            <a:ext cx="1792224" cy="1737360"/>
          </a:xfrm>
          <a:prstGeom prst="rect">
            <a:avLst/>
          </a:prstGeom>
          <a:noFill/>
          <a:ln/>
        </p:spPr>
        <p:txBody>
          <a:bodyPr wrap="square" lIns="0" tIns="0" rIns="0" bIns="0" rtlCol="0" anchor="ctr"/>
          <a:lstStyle/>
          <a:p>
            <a:pPr marL="0" indent="0" algn="ctr">
              <a:buNone/>
            </a:pPr>
            <a:r>
              <a:rPr lang="en-US" sz="1000" dirty="0">
                <a:solidFill>
                  <a:srgbClr val="9FB3C8"/>
                </a:solidFill>
                <a:latin typeface="Calibri" pitchFamily="34" charset="0"/>
                <a:ea typeface="Calibri" pitchFamily="34" charset="-122"/>
                <a:cs typeface="Calibri" pitchFamily="34" charset="-120"/>
              </a:rPr>
              <a:t>Let IT run a full malware scan on your machine</a:t>
            </a:r>
            <a:endParaRPr lang="en-US" sz="1000" dirty="0"/>
          </a:p>
        </p:txBody>
      </p:sp>
      <p:pic>
        <p:nvPicPr>
          <p:cNvPr id="31" name="Image 7" descr="/home/claude/phishing/icons/arrowright.png"/>
          <p:cNvPicPr>
            <a:picLocks noChangeAspect="1"/>
          </p:cNvPicPr>
          <p:nvPr/>
        </p:nvPicPr>
        <p:blipFill>
          <a:blip r:embed="rId4"/>
          <a:stretch>
            <a:fillRect/>
          </a:stretch>
        </p:blipFill>
        <p:spPr>
          <a:xfrm>
            <a:off x="9422892" y="3621024"/>
            <a:ext cx="146304" cy="146304"/>
          </a:xfrm>
          <a:prstGeom prst="rect">
            <a:avLst/>
          </a:prstGeom>
        </p:spPr>
      </p:pic>
      <p:sp>
        <p:nvSpPr>
          <p:cNvPr id="32" name="Shape 22"/>
          <p:cNvSpPr/>
          <p:nvPr/>
        </p:nvSpPr>
        <p:spPr>
          <a:xfrm>
            <a:off x="9582912" y="2011680"/>
            <a:ext cx="2084832" cy="3566160"/>
          </a:xfrm>
          <a:prstGeom prst="roundRect">
            <a:avLst>
              <a:gd name="adj" fmla="val 3509"/>
            </a:avLst>
          </a:prstGeom>
          <a:solidFill>
            <a:srgbClr val="10233F"/>
          </a:solidFill>
          <a:ln w="9525">
            <a:solidFill>
              <a:srgbClr val="1D3A63"/>
            </a:solidFill>
            <a:prstDash val="solid"/>
          </a:ln>
        </p:spPr>
      </p:sp>
      <p:sp>
        <p:nvSpPr>
          <p:cNvPr id="33" name="Text 23"/>
          <p:cNvSpPr/>
          <p:nvPr/>
        </p:nvSpPr>
        <p:spPr>
          <a:xfrm>
            <a:off x="9720072" y="2121408"/>
            <a:ext cx="457200" cy="365760"/>
          </a:xfrm>
          <a:prstGeom prst="rect">
            <a:avLst/>
          </a:prstGeom>
          <a:noFill/>
          <a:ln/>
        </p:spPr>
        <p:txBody>
          <a:bodyPr wrap="square" lIns="0" tIns="0" rIns="0" bIns="0" rtlCol="0" anchor="ctr"/>
          <a:lstStyle/>
          <a:p>
            <a:pPr marL="0" indent="0">
              <a:buNone/>
            </a:pPr>
            <a:r>
              <a:rPr lang="en-US" sz="1600" b="1" dirty="0">
                <a:solidFill>
                  <a:srgbClr val="22D3EE"/>
                </a:solidFill>
                <a:latin typeface="Arial" pitchFamily="34" charset="0"/>
                <a:ea typeface="Arial" pitchFamily="34" charset="-122"/>
                <a:cs typeface="Arial" pitchFamily="34" charset="-120"/>
              </a:rPr>
              <a:t>5</a:t>
            </a:r>
            <a:endParaRPr lang="en-US" sz="1600" dirty="0"/>
          </a:p>
        </p:txBody>
      </p:sp>
      <p:sp>
        <p:nvSpPr>
          <p:cNvPr id="34" name="Shape 24"/>
          <p:cNvSpPr/>
          <p:nvPr/>
        </p:nvSpPr>
        <p:spPr>
          <a:xfrm>
            <a:off x="10360152" y="2514600"/>
            <a:ext cx="530352" cy="530352"/>
          </a:xfrm>
          <a:prstGeom prst="ellipse">
            <a:avLst/>
          </a:prstGeom>
          <a:solidFill>
            <a:srgbClr val="132A4C"/>
          </a:solidFill>
          <a:ln w="15875">
            <a:solidFill>
              <a:srgbClr val="22D3EE"/>
            </a:solidFill>
            <a:prstDash val="solid"/>
          </a:ln>
        </p:spPr>
      </p:sp>
      <p:pic>
        <p:nvPicPr>
          <p:cNvPr id="35" name="Image 8" descr="/home/claude/phishing/icons/activity.png"/>
          <p:cNvPicPr>
            <a:picLocks noChangeAspect="1"/>
          </p:cNvPicPr>
          <p:nvPr/>
        </p:nvPicPr>
        <p:blipFill>
          <a:blip r:embed="rId8"/>
          <a:stretch>
            <a:fillRect/>
          </a:stretch>
        </p:blipFill>
        <p:spPr>
          <a:xfrm>
            <a:off x="10497312" y="2651760"/>
            <a:ext cx="256032" cy="256032"/>
          </a:xfrm>
          <a:prstGeom prst="rect">
            <a:avLst/>
          </a:prstGeom>
        </p:spPr>
      </p:pic>
      <p:sp>
        <p:nvSpPr>
          <p:cNvPr id="36" name="Text 25"/>
          <p:cNvSpPr/>
          <p:nvPr/>
        </p:nvSpPr>
        <p:spPr>
          <a:xfrm>
            <a:off x="9692640" y="3246120"/>
            <a:ext cx="1865376" cy="365760"/>
          </a:xfrm>
          <a:prstGeom prst="rect">
            <a:avLst/>
          </a:prstGeom>
          <a:noFill/>
          <a:ln/>
        </p:spPr>
        <p:txBody>
          <a:bodyPr wrap="square" lIns="0" tIns="0" rIns="0" bIns="0" rtlCol="0" anchor="ctr"/>
          <a:lstStyle/>
          <a:p>
            <a:pPr marL="0" indent="0" algn="ctr">
              <a:buNone/>
            </a:pPr>
            <a:r>
              <a:rPr lang="en-US" sz="1250" b="1" dirty="0">
                <a:solidFill>
                  <a:srgbClr val="FFFFFF"/>
                </a:solidFill>
                <a:latin typeface="Arial" pitchFamily="34" charset="0"/>
                <a:ea typeface="Arial" pitchFamily="34" charset="-122"/>
                <a:cs typeface="Arial" pitchFamily="34" charset="-120"/>
              </a:rPr>
              <a:t>Monitor accounts</a:t>
            </a:r>
            <a:endParaRPr lang="en-US" sz="1250" dirty="0"/>
          </a:p>
        </p:txBody>
      </p:sp>
      <p:sp>
        <p:nvSpPr>
          <p:cNvPr id="37" name="Text 26"/>
          <p:cNvSpPr/>
          <p:nvPr/>
        </p:nvSpPr>
        <p:spPr>
          <a:xfrm>
            <a:off x="9729216" y="3657600"/>
            <a:ext cx="1792224" cy="1737360"/>
          </a:xfrm>
          <a:prstGeom prst="rect">
            <a:avLst/>
          </a:prstGeom>
          <a:noFill/>
          <a:ln/>
        </p:spPr>
        <p:txBody>
          <a:bodyPr wrap="square" lIns="0" tIns="0" rIns="0" bIns="0" rtlCol="0" anchor="ctr"/>
          <a:lstStyle/>
          <a:p>
            <a:pPr marL="0" indent="0" algn="ctr">
              <a:buNone/>
            </a:pPr>
            <a:r>
              <a:rPr lang="en-US" sz="1000" dirty="0">
                <a:solidFill>
                  <a:srgbClr val="9FB3C8"/>
                </a:solidFill>
                <a:latin typeface="Calibri" pitchFamily="34" charset="0"/>
                <a:ea typeface="Calibri" pitchFamily="34" charset="-122"/>
                <a:cs typeface="Calibri" pitchFamily="34" charset="-120"/>
              </a:rPr>
              <a:t>Watch for unusual activity over the following days</a:t>
            </a:r>
            <a:endParaRPr lang="en-US" sz="1000" dirty="0"/>
          </a:p>
        </p:txBody>
      </p:sp>
      <p:sp>
        <p:nvSpPr>
          <p:cNvPr id="38" name="Text 27"/>
          <p:cNvSpPr/>
          <p:nvPr/>
        </p:nvSpPr>
        <p:spPr>
          <a:xfrm>
            <a:off x="11155680" y="6473952"/>
            <a:ext cx="822960" cy="274320"/>
          </a:xfrm>
          <a:prstGeom prst="rect">
            <a:avLst/>
          </a:prstGeom>
          <a:noFill/>
          <a:ln/>
        </p:spPr>
        <p:txBody>
          <a:bodyPr wrap="square" lIns="0" tIns="0" rIns="0" bIns="0" rtlCol="0" anchor="ctr"/>
          <a:lstStyle/>
          <a:p>
            <a:pPr marL="0" indent="0" algn="r">
              <a:buNone/>
            </a:pPr>
            <a:r>
              <a:rPr lang="en-US" sz="900" dirty="0">
                <a:solidFill>
                  <a:srgbClr val="9FB3C8"/>
                </a:solidFill>
                <a:latin typeface="Calibri" pitchFamily="34" charset="0"/>
                <a:ea typeface="Calibri" pitchFamily="34" charset="-122"/>
                <a:cs typeface="Calibri" pitchFamily="34" charset="-120"/>
              </a:rPr>
              <a:t>12 / 16</a:t>
            </a:r>
            <a:endParaRPr lang="en-US" sz="900" dirty="0"/>
          </a:p>
        </p:txBody>
      </p:sp>
      <p:sp>
        <p:nvSpPr>
          <p:cNvPr id="39" name="Text 28"/>
          <p:cNvSpPr/>
          <p:nvPr/>
        </p:nvSpPr>
        <p:spPr>
          <a:xfrm>
            <a:off x="548640" y="6473952"/>
            <a:ext cx="5486400" cy="274320"/>
          </a:xfrm>
          <a:prstGeom prst="rect">
            <a:avLst/>
          </a:prstGeom>
          <a:noFill/>
          <a:ln/>
        </p:spPr>
        <p:txBody>
          <a:bodyPr wrap="square" lIns="0" tIns="0" rIns="0" bIns="0" rtlCol="0" anchor="ctr"/>
          <a:lstStyle/>
          <a:p>
            <a:pPr marL="0" indent="0">
              <a:buNone/>
            </a:pPr>
            <a:r>
              <a:rPr lang="en-US" sz="900" kern="0" spc="100" dirty="0">
                <a:solidFill>
                  <a:srgbClr val="9FB3C8"/>
                </a:solidFill>
                <a:latin typeface="Calibri" pitchFamily="34" charset="0"/>
                <a:ea typeface="Calibri" pitchFamily="34" charset="-122"/>
                <a:cs typeface="Calibri" pitchFamily="34" charset="-120"/>
              </a:rPr>
              <a:t>PHISHING AWARENESS TRAINING</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3">
    <p:bg>
      <p:bgPr>
        <a:solidFill>
          <a:srgbClr val="0A1628"/>
        </a:solidFill>
        <a:effectLst/>
      </p:bgPr>
    </p:bg>
    <p:spTree>
      <p:nvGrpSpPr>
        <p:cNvPr id="1" name=""/>
        <p:cNvGrpSpPr/>
        <p:nvPr/>
      </p:nvGrpSpPr>
      <p:grpSpPr>
        <a:xfrm>
          <a:off x="0" y="0"/>
          <a:ext cx="0" cy="0"/>
          <a:chOff x="0" y="0"/>
          <a:chExt cx="0" cy="0"/>
        </a:xfrm>
      </p:grpSpPr>
      <p:sp>
        <p:nvSpPr>
          <p:cNvPr id="2" name="Text 0"/>
          <p:cNvSpPr/>
          <p:nvPr/>
        </p:nvSpPr>
        <p:spPr>
          <a:xfrm>
            <a:off x="548640" y="320040"/>
            <a:ext cx="7315200" cy="320040"/>
          </a:xfrm>
          <a:prstGeom prst="rect">
            <a:avLst/>
          </a:prstGeom>
          <a:noFill/>
          <a:ln/>
        </p:spPr>
        <p:txBody>
          <a:bodyPr wrap="square" lIns="0" tIns="0" rIns="0" bIns="0" rtlCol="0" anchor="ctr"/>
          <a:lstStyle/>
          <a:p>
            <a:pPr marL="0" indent="0">
              <a:buNone/>
            </a:pPr>
            <a:r>
              <a:rPr lang="en-US" sz="1200" b="1" kern="0" spc="200" dirty="0">
                <a:solidFill>
                  <a:srgbClr val="22D3EE"/>
                </a:solidFill>
                <a:latin typeface="Arial" pitchFamily="34" charset="0"/>
                <a:ea typeface="Arial" pitchFamily="34" charset="-122"/>
                <a:cs typeface="Arial" pitchFamily="34" charset="-120"/>
              </a:rPr>
              <a:t>GROUP EXERCISE</a:t>
            </a:r>
            <a:endParaRPr lang="en-US" sz="1200" dirty="0"/>
          </a:p>
        </p:txBody>
      </p:sp>
      <p:sp>
        <p:nvSpPr>
          <p:cNvPr id="3" name="Text 1"/>
          <p:cNvSpPr/>
          <p:nvPr/>
        </p:nvSpPr>
        <p:spPr>
          <a:xfrm>
            <a:off x="548640" y="621792"/>
            <a:ext cx="10789920" cy="685800"/>
          </a:xfrm>
          <a:prstGeom prst="rect">
            <a:avLst/>
          </a:prstGeom>
          <a:noFill/>
          <a:ln/>
        </p:spPr>
        <p:txBody>
          <a:bodyPr wrap="square" lIns="0" tIns="0" rIns="0" bIns="0" rtlCol="0" anchor="ctr"/>
          <a:lstStyle/>
          <a:p>
            <a:pPr marL="0" indent="0">
              <a:buNone/>
            </a:pPr>
            <a:r>
              <a:rPr lang="en-US" sz="3200" b="1" dirty="0">
                <a:solidFill>
                  <a:srgbClr val="FFFFFF"/>
                </a:solidFill>
                <a:latin typeface="Arial" pitchFamily="34" charset="0"/>
                <a:ea typeface="Arial" pitchFamily="34" charset="-122"/>
                <a:cs typeface="Arial" pitchFamily="34" charset="-120"/>
              </a:rPr>
              <a:t>Interactive Activity: Spot the Red Flags</a:t>
            </a:r>
            <a:endParaRPr lang="en-US" sz="3200" dirty="0"/>
          </a:p>
        </p:txBody>
      </p:sp>
      <p:sp>
        <p:nvSpPr>
          <p:cNvPr id="4" name="Shape 2"/>
          <p:cNvSpPr/>
          <p:nvPr/>
        </p:nvSpPr>
        <p:spPr>
          <a:xfrm>
            <a:off x="548640" y="1691640"/>
            <a:ext cx="6217920" cy="4343400"/>
          </a:xfrm>
          <a:prstGeom prst="roundRect">
            <a:avLst>
              <a:gd name="adj" fmla="val 1263"/>
            </a:avLst>
          </a:prstGeom>
          <a:solidFill>
            <a:srgbClr val="FFFFFF"/>
          </a:solidFill>
          <a:ln w="12700">
            <a:solidFill>
              <a:srgbClr val="1D3A63"/>
            </a:solidFill>
            <a:prstDash val="solid"/>
          </a:ln>
        </p:spPr>
      </p:sp>
      <p:sp>
        <p:nvSpPr>
          <p:cNvPr id="5" name="Shape 3"/>
          <p:cNvSpPr/>
          <p:nvPr/>
        </p:nvSpPr>
        <p:spPr>
          <a:xfrm>
            <a:off x="548640" y="1691640"/>
            <a:ext cx="6217920" cy="365760"/>
          </a:xfrm>
          <a:prstGeom prst="rect">
            <a:avLst/>
          </a:prstGeom>
          <a:solidFill>
            <a:srgbClr val="EDEFF3"/>
          </a:solidFill>
          <a:ln/>
        </p:spPr>
      </p:sp>
      <p:sp>
        <p:nvSpPr>
          <p:cNvPr id="6" name="Shape 4"/>
          <p:cNvSpPr/>
          <p:nvPr/>
        </p:nvSpPr>
        <p:spPr>
          <a:xfrm>
            <a:off x="685800" y="1819656"/>
            <a:ext cx="109728" cy="109728"/>
          </a:xfrm>
          <a:prstGeom prst="ellipse">
            <a:avLst/>
          </a:prstGeom>
          <a:solidFill>
            <a:srgbClr val="FF5F57"/>
          </a:solidFill>
          <a:ln/>
        </p:spPr>
      </p:sp>
      <p:sp>
        <p:nvSpPr>
          <p:cNvPr id="7" name="Shape 5"/>
          <p:cNvSpPr/>
          <p:nvPr/>
        </p:nvSpPr>
        <p:spPr>
          <a:xfrm>
            <a:off x="859536" y="1819656"/>
            <a:ext cx="109728" cy="109728"/>
          </a:xfrm>
          <a:prstGeom prst="ellipse">
            <a:avLst/>
          </a:prstGeom>
          <a:solidFill>
            <a:srgbClr val="FEBC2E"/>
          </a:solidFill>
          <a:ln/>
        </p:spPr>
      </p:sp>
      <p:sp>
        <p:nvSpPr>
          <p:cNvPr id="8" name="Shape 6"/>
          <p:cNvSpPr/>
          <p:nvPr/>
        </p:nvSpPr>
        <p:spPr>
          <a:xfrm>
            <a:off x="1033272" y="1819656"/>
            <a:ext cx="109728" cy="109728"/>
          </a:xfrm>
          <a:prstGeom prst="ellipse">
            <a:avLst/>
          </a:prstGeom>
          <a:solidFill>
            <a:srgbClr val="28C840"/>
          </a:solidFill>
          <a:ln/>
        </p:spPr>
      </p:sp>
      <p:sp>
        <p:nvSpPr>
          <p:cNvPr id="9" name="Text 7"/>
          <p:cNvSpPr/>
          <p:nvPr/>
        </p:nvSpPr>
        <p:spPr>
          <a:xfrm>
            <a:off x="822960" y="2194560"/>
            <a:ext cx="5669280" cy="274320"/>
          </a:xfrm>
          <a:prstGeom prst="rect">
            <a:avLst/>
          </a:prstGeom>
          <a:noFill/>
          <a:ln/>
        </p:spPr>
        <p:txBody>
          <a:bodyPr wrap="square" lIns="0" tIns="0" rIns="0" bIns="0" rtlCol="0" anchor="ctr"/>
          <a:lstStyle/>
          <a:p>
            <a:pPr marL="0" indent="0">
              <a:buNone/>
            </a:pPr>
            <a:r>
              <a:rPr lang="en-US" sz="1100" b="1" dirty="0">
                <a:solidFill>
                  <a:srgbClr val="333333"/>
                </a:solidFill>
                <a:latin typeface="Courier New" pitchFamily="34" charset="0"/>
                <a:ea typeface="Courier New" pitchFamily="34" charset="-122"/>
                <a:cs typeface="Courier New" pitchFamily="34" charset="-120"/>
              </a:rPr>
              <a:t>From: </a:t>
            </a:r>
            <a:r>
              <a:rPr lang="en-US" sz="1100" dirty="0">
                <a:solidFill>
                  <a:srgbClr val="333333"/>
                </a:solidFill>
                <a:latin typeface="Courier New" pitchFamily="34" charset="0"/>
                <a:ea typeface="Courier New" pitchFamily="34" charset="-122"/>
                <a:cs typeface="Courier New" pitchFamily="34" charset="-120"/>
              </a:rPr>
              <a:t>HR-Payroll@company-hronline.co</a:t>
            </a:r>
            <a:endParaRPr lang="en-US" sz="1100" dirty="0"/>
          </a:p>
        </p:txBody>
      </p:sp>
      <p:sp>
        <p:nvSpPr>
          <p:cNvPr id="10" name="Text 8"/>
          <p:cNvSpPr/>
          <p:nvPr/>
        </p:nvSpPr>
        <p:spPr>
          <a:xfrm>
            <a:off x="822960" y="2514600"/>
            <a:ext cx="5669280" cy="274320"/>
          </a:xfrm>
          <a:prstGeom prst="rect">
            <a:avLst/>
          </a:prstGeom>
          <a:noFill/>
          <a:ln/>
        </p:spPr>
        <p:txBody>
          <a:bodyPr wrap="square" lIns="0" tIns="0" rIns="0" bIns="0" rtlCol="0" anchor="ctr"/>
          <a:lstStyle/>
          <a:p>
            <a:pPr marL="0" indent="0">
              <a:buNone/>
            </a:pPr>
            <a:r>
              <a:rPr lang="en-US" sz="1100" b="1" dirty="0">
                <a:solidFill>
                  <a:srgbClr val="333333"/>
                </a:solidFill>
                <a:latin typeface="Courier New" pitchFamily="34" charset="0"/>
                <a:ea typeface="Courier New" pitchFamily="34" charset="-122"/>
                <a:cs typeface="Courier New" pitchFamily="34" charset="-120"/>
              </a:rPr>
              <a:t>Subject: </a:t>
            </a:r>
            <a:r>
              <a:rPr lang="en-US" sz="1100" dirty="0">
                <a:solidFill>
                  <a:srgbClr val="333333"/>
                </a:solidFill>
                <a:latin typeface="Courier New" pitchFamily="34" charset="0"/>
                <a:ea typeface="Courier New" pitchFamily="34" charset="-122"/>
                <a:cs typeface="Courier New" pitchFamily="34" charset="-120"/>
              </a:rPr>
              <a:t>Action Needed: Update Your Direct Deposit Info Today</a:t>
            </a:r>
            <a:endParaRPr lang="en-US" sz="1100" dirty="0"/>
          </a:p>
        </p:txBody>
      </p:sp>
      <p:sp>
        <p:nvSpPr>
          <p:cNvPr id="11" name="Shape 9"/>
          <p:cNvSpPr/>
          <p:nvPr/>
        </p:nvSpPr>
        <p:spPr>
          <a:xfrm>
            <a:off x="822960" y="2880360"/>
            <a:ext cx="5669280" cy="0"/>
          </a:xfrm>
          <a:prstGeom prst="line">
            <a:avLst/>
          </a:prstGeom>
          <a:noFill/>
          <a:ln w="9525">
            <a:solidFill>
              <a:srgbClr val="DDDDDD"/>
            </a:solidFill>
            <a:prstDash val="solid"/>
          </a:ln>
        </p:spPr>
      </p:sp>
      <p:sp>
        <p:nvSpPr>
          <p:cNvPr id="12" name="Text 10"/>
          <p:cNvSpPr/>
          <p:nvPr/>
        </p:nvSpPr>
        <p:spPr>
          <a:xfrm>
            <a:off x="822960" y="3017520"/>
            <a:ext cx="5669280" cy="1051560"/>
          </a:xfrm>
          <a:prstGeom prst="rect">
            <a:avLst/>
          </a:prstGeom>
          <a:noFill/>
          <a:ln/>
        </p:spPr>
        <p:txBody>
          <a:bodyPr wrap="square" lIns="0" tIns="0" rIns="0" bIns="0" rtlCol="0" anchor="ctr"/>
          <a:lstStyle/>
          <a:p>
            <a:pPr marL="0" indent="0">
              <a:buNone/>
            </a:pPr>
            <a:r>
              <a:rPr lang="en-US" sz="1100" dirty="0">
                <a:solidFill>
                  <a:srgbClr val="333333"/>
                </a:solidFill>
                <a:latin typeface="Calibri" pitchFamily="34" charset="0"/>
                <a:ea typeface="Calibri" pitchFamily="34" charset="-122"/>
                <a:cs typeface="Calibri" pitchFamily="34" charset="-120"/>
              </a:rPr>
              <a:t>Hi,</a:t>
            </a:r>
            <a:endParaRPr lang="en-US" sz="1100" dirty="0"/>
          </a:p>
          <a:p>
            <a:pPr marL="0" indent="0">
              <a:buNone/>
            </a:pPr>
            <a:endParaRPr lang="en-US" sz="1100" dirty="0"/>
          </a:p>
          <a:p>
            <a:pPr marL="0" indent="0">
              <a:buNone/>
            </a:pPr>
            <a:r>
              <a:rPr lang="en-US" sz="1100" dirty="0">
                <a:solidFill>
                  <a:srgbClr val="333333"/>
                </a:solidFill>
                <a:latin typeface="Calibri" pitchFamily="34" charset="0"/>
                <a:ea typeface="Calibri" pitchFamily="34" charset="-122"/>
                <a:cs typeface="Calibri" pitchFamily="34" charset="-120"/>
              </a:rPr>
              <a:t>Our payroll system was upgraded. Please confirm your banking details within 24 hours to avoid a delay in your next paycheck. Click the secure link below to log in.</a:t>
            </a:r>
            <a:endParaRPr lang="en-US" sz="1100" dirty="0"/>
          </a:p>
        </p:txBody>
      </p:sp>
      <p:sp>
        <p:nvSpPr>
          <p:cNvPr id="13" name="Shape 11"/>
          <p:cNvSpPr/>
          <p:nvPr/>
        </p:nvSpPr>
        <p:spPr>
          <a:xfrm>
            <a:off x="822960" y="4251960"/>
            <a:ext cx="2377440" cy="384048"/>
          </a:xfrm>
          <a:prstGeom prst="roundRect">
            <a:avLst>
              <a:gd name="adj" fmla="val 14286"/>
            </a:avLst>
          </a:prstGeom>
          <a:solidFill>
            <a:srgbClr val="2F6FED"/>
          </a:solidFill>
          <a:ln/>
        </p:spPr>
      </p:sp>
      <p:sp>
        <p:nvSpPr>
          <p:cNvPr id="14" name="Text 12"/>
          <p:cNvSpPr/>
          <p:nvPr/>
        </p:nvSpPr>
        <p:spPr>
          <a:xfrm>
            <a:off x="822960" y="4251960"/>
            <a:ext cx="2377440" cy="384048"/>
          </a:xfrm>
          <a:prstGeom prst="rect">
            <a:avLst/>
          </a:prstGeom>
          <a:noFill/>
          <a:ln/>
        </p:spPr>
        <p:txBody>
          <a:bodyPr wrap="square" lIns="0" tIns="0" rIns="0" bIns="0" rtlCol="0" anchor="ctr"/>
          <a:lstStyle/>
          <a:p>
            <a:pPr marL="0" indent="0" algn="ctr">
              <a:buNone/>
            </a:pPr>
            <a:r>
              <a:rPr lang="en-US" sz="1050" dirty="0">
                <a:solidFill>
                  <a:srgbClr val="FFFFFF"/>
                </a:solidFill>
                <a:latin typeface="Calibri" pitchFamily="34" charset="0"/>
                <a:ea typeface="Calibri" pitchFamily="34" charset="-122"/>
                <a:cs typeface="Calibri" pitchFamily="34" charset="-120"/>
              </a:rPr>
              <a:t>Update Bank Details</a:t>
            </a:r>
            <a:endParaRPr lang="en-US" sz="1050" dirty="0"/>
          </a:p>
        </p:txBody>
      </p:sp>
      <p:sp>
        <p:nvSpPr>
          <p:cNvPr id="15" name="Text 13"/>
          <p:cNvSpPr/>
          <p:nvPr/>
        </p:nvSpPr>
        <p:spPr>
          <a:xfrm>
            <a:off x="822960" y="4846320"/>
            <a:ext cx="5669280" cy="548640"/>
          </a:xfrm>
          <a:prstGeom prst="rect">
            <a:avLst/>
          </a:prstGeom>
          <a:noFill/>
          <a:ln/>
        </p:spPr>
        <p:txBody>
          <a:bodyPr wrap="square" lIns="0" tIns="0" rIns="0" bIns="0" rtlCol="0" anchor="ctr"/>
          <a:lstStyle/>
          <a:p>
            <a:pPr marL="0" indent="0">
              <a:buNone/>
            </a:pPr>
            <a:r>
              <a:rPr lang="en-US" sz="1050" dirty="0">
                <a:solidFill>
                  <a:srgbClr val="555555"/>
                </a:solidFill>
                <a:latin typeface="Calibri" pitchFamily="34" charset="0"/>
                <a:ea typeface="Calibri" pitchFamily="34" charset="-122"/>
                <a:cs typeface="Calibri" pitchFamily="34" charset="-120"/>
              </a:rPr>
              <a:t>Thanks,</a:t>
            </a:r>
            <a:endParaRPr lang="en-US" sz="1050" dirty="0"/>
          </a:p>
          <a:p>
            <a:pPr marL="0" indent="0">
              <a:buNone/>
            </a:pPr>
            <a:r>
              <a:rPr lang="en-US" sz="1050" dirty="0">
                <a:solidFill>
                  <a:srgbClr val="555555"/>
                </a:solidFill>
                <a:latin typeface="Calibri" pitchFamily="34" charset="0"/>
                <a:ea typeface="Calibri" pitchFamily="34" charset="-122"/>
                <a:cs typeface="Calibri" pitchFamily="34" charset="-120"/>
              </a:rPr>
              <a:t>HR Payroll Team</a:t>
            </a:r>
            <a:endParaRPr lang="en-US" sz="1050" dirty="0"/>
          </a:p>
        </p:txBody>
      </p:sp>
      <p:sp>
        <p:nvSpPr>
          <p:cNvPr id="16" name="Text 14"/>
          <p:cNvSpPr/>
          <p:nvPr/>
        </p:nvSpPr>
        <p:spPr>
          <a:xfrm>
            <a:off x="548640" y="6172200"/>
            <a:ext cx="6217920" cy="274320"/>
          </a:xfrm>
          <a:prstGeom prst="rect">
            <a:avLst/>
          </a:prstGeom>
          <a:noFill/>
          <a:ln/>
        </p:spPr>
        <p:txBody>
          <a:bodyPr wrap="square" lIns="0" tIns="0" rIns="0" bIns="0" rtlCol="0" anchor="ctr"/>
          <a:lstStyle/>
          <a:p>
            <a:pPr marL="0" indent="0">
              <a:buNone/>
            </a:pPr>
            <a:r>
              <a:rPr lang="en-US" sz="1050" i="1" dirty="0">
                <a:solidFill>
                  <a:srgbClr val="9FB3C8"/>
                </a:solidFill>
                <a:latin typeface="Calibri" pitchFamily="34" charset="0"/>
                <a:ea typeface="Calibri" pitchFamily="34" charset="-122"/>
                <a:cs typeface="Calibri" pitchFamily="34" charset="-120"/>
              </a:rPr>
              <a:t>Challenge: find at least 5 red flags in this email before we reveal the answers.</a:t>
            </a:r>
            <a:endParaRPr lang="en-US" sz="1050" dirty="0"/>
          </a:p>
        </p:txBody>
      </p:sp>
      <p:sp>
        <p:nvSpPr>
          <p:cNvPr id="17" name="Shape 15"/>
          <p:cNvSpPr/>
          <p:nvPr/>
        </p:nvSpPr>
        <p:spPr>
          <a:xfrm>
            <a:off x="6995160" y="1691640"/>
            <a:ext cx="4617720" cy="4343400"/>
          </a:xfrm>
          <a:prstGeom prst="roundRect">
            <a:avLst>
              <a:gd name="adj" fmla="val 1684"/>
            </a:avLst>
          </a:prstGeom>
          <a:solidFill>
            <a:srgbClr val="10233F"/>
          </a:solidFill>
          <a:ln w="9525">
            <a:solidFill>
              <a:srgbClr val="1D3A63"/>
            </a:solidFill>
            <a:prstDash val="solid"/>
          </a:ln>
          <a:effectLst>
            <a:outerShdw blurRad="76200" dist="38100" dir="5400000" algn="bl" rotWithShape="0">
              <a:srgbClr val="000000">
                <a:alpha val="35000"/>
              </a:srgbClr>
            </a:outerShdw>
          </a:effectLst>
        </p:spPr>
      </p:sp>
      <p:sp>
        <p:nvSpPr>
          <p:cNvPr id="18" name="Text 16"/>
          <p:cNvSpPr/>
          <p:nvPr/>
        </p:nvSpPr>
        <p:spPr>
          <a:xfrm>
            <a:off x="7269480" y="1828800"/>
            <a:ext cx="4114800" cy="320040"/>
          </a:xfrm>
          <a:prstGeom prst="rect">
            <a:avLst/>
          </a:prstGeom>
          <a:noFill/>
          <a:ln/>
        </p:spPr>
        <p:txBody>
          <a:bodyPr wrap="square" lIns="0" tIns="0" rIns="0" bIns="0" rtlCol="0" anchor="ctr"/>
          <a:lstStyle/>
          <a:p>
            <a:pPr marL="0" indent="0">
              <a:buNone/>
            </a:pPr>
            <a:r>
              <a:rPr lang="en-US" sz="1500" b="1" dirty="0">
                <a:solidFill>
                  <a:srgbClr val="22D3EE"/>
                </a:solidFill>
                <a:latin typeface="Arial" pitchFamily="34" charset="0"/>
                <a:ea typeface="Arial" pitchFamily="34" charset="-122"/>
                <a:cs typeface="Arial" pitchFamily="34" charset="-120"/>
              </a:rPr>
              <a:t>Answer Key</a:t>
            </a:r>
            <a:endParaRPr lang="en-US" sz="1500" dirty="0"/>
          </a:p>
        </p:txBody>
      </p:sp>
      <p:sp>
        <p:nvSpPr>
          <p:cNvPr id="19" name="Text 17"/>
          <p:cNvSpPr/>
          <p:nvPr/>
        </p:nvSpPr>
        <p:spPr>
          <a:xfrm>
            <a:off x="7269480" y="2240280"/>
            <a:ext cx="4069080" cy="3566160"/>
          </a:xfrm>
          <a:prstGeom prst="rect">
            <a:avLst/>
          </a:prstGeom>
          <a:noFill/>
          <a:ln/>
        </p:spPr>
        <p:txBody>
          <a:bodyPr wrap="square" lIns="0" tIns="0" rIns="0" bIns="0" rtlCol="0" anchor="t"/>
          <a:lstStyle/>
          <a:p>
            <a:pPr marL="228600" indent="-228600">
              <a:lnSpc>
                <a:spcPts val="3000"/>
              </a:lnSpc>
              <a:spcAft>
                <a:spcPts val="1200"/>
              </a:spcAft>
              <a:buSzPct val="100000"/>
              <a:buChar char="●"/>
            </a:pPr>
            <a:r>
              <a:rPr lang="en-US" sz="1250" dirty="0">
                <a:solidFill>
                  <a:srgbClr val="FFFFFF"/>
                </a:solidFill>
                <a:latin typeface="Calibri" pitchFamily="34" charset="0"/>
                <a:ea typeface="Calibri" pitchFamily="34" charset="-122"/>
                <a:cs typeface="Calibri" pitchFamily="34" charset="-120"/>
              </a:rPr>
              <a:t>Sender domain "company-hronline.co" isn't the real company domain</a:t>
            </a:r>
            <a:endParaRPr lang="en-US" sz="1250" dirty="0"/>
          </a:p>
          <a:p>
            <a:pPr marL="228600" indent="-228600">
              <a:lnSpc>
                <a:spcPts val="3000"/>
              </a:lnSpc>
              <a:spcAft>
                <a:spcPts val="1200"/>
              </a:spcAft>
              <a:buSzPct val="100000"/>
              <a:buChar char="●"/>
            </a:pPr>
            <a:r>
              <a:rPr lang="en-US" sz="1250" dirty="0">
                <a:solidFill>
                  <a:srgbClr val="FFFFFF"/>
                </a:solidFill>
                <a:latin typeface="Calibri" pitchFamily="34" charset="0"/>
                <a:ea typeface="Calibri" pitchFamily="34" charset="-122"/>
                <a:cs typeface="Calibri" pitchFamily="34" charset="-120"/>
              </a:rPr>
              <a:t>Creates urgency with a 24-hour deadline</a:t>
            </a:r>
            <a:endParaRPr lang="en-US" sz="1250" dirty="0"/>
          </a:p>
          <a:p>
            <a:pPr marL="228600" indent="-228600">
              <a:lnSpc>
                <a:spcPts val="3000"/>
              </a:lnSpc>
              <a:spcAft>
                <a:spcPts val="1200"/>
              </a:spcAft>
              <a:buSzPct val="100000"/>
              <a:buChar char="●"/>
            </a:pPr>
            <a:r>
              <a:rPr lang="en-US" sz="1250" dirty="0">
                <a:solidFill>
                  <a:srgbClr val="FFFFFF"/>
                </a:solidFill>
                <a:latin typeface="Calibri" pitchFamily="34" charset="0"/>
                <a:ea typeface="Calibri" pitchFamily="34" charset="-122"/>
                <a:cs typeface="Calibri" pitchFamily="34" charset="-120"/>
              </a:rPr>
              <a:t>Asks you to "update banking details" over email</a:t>
            </a:r>
            <a:endParaRPr lang="en-US" sz="1250" dirty="0"/>
          </a:p>
          <a:p>
            <a:pPr marL="228600" indent="-228600">
              <a:lnSpc>
                <a:spcPts val="3000"/>
              </a:lnSpc>
              <a:spcAft>
                <a:spcPts val="1200"/>
              </a:spcAft>
              <a:buSzPct val="100000"/>
              <a:buChar char="●"/>
            </a:pPr>
            <a:r>
              <a:rPr lang="en-US" sz="1250" dirty="0">
                <a:solidFill>
                  <a:srgbClr val="FFFFFF"/>
                </a:solidFill>
                <a:latin typeface="Calibri" pitchFamily="34" charset="0"/>
                <a:ea typeface="Calibri" pitchFamily="34" charset="-122"/>
                <a:cs typeface="Calibri" pitchFamily="34" charset="-120"/>
              </a:rPr>
              <a:t>Generic greeting instead of your name</a:t>
            </a:r>
            <a:endParaRPr lang="en-US" sz="1250" dirty="0"/>
          </a:p>
          <a:p>
            <a:pPr marL="228600" indent="-228600">
              <a:lnSpc>
                <a:spcPts val="3000"/>
              </a:lnSpc>
              <a:spcAft>
                <a:spcPts val="1200"/>
              </a:spcAft>
              <a:buSzPct val="100000"/>
              <a:buChar char="●"/>
            </a:pPr>
            <a:r>
              <a:rPr lang="en-US" sz="1250" dirty="0">
                <a:solidFill>
                  <a:srgbClr val="FFFFFF"/>
                </a:solidFill>
                <a:latin typeface="Calibri" pitchFamily="34" charset="0"/>
                <a:ea typeface="Calibri" pitchFamily="34" charset="-122"/>
                <a:cs typeface="Calibri" pitchFamily="34" charset="-120"/>
              </a:rPr>
              <a:t>Button hides the real destination link</a:t>
            </a:r>
            <a:endParaRPr lang="en-US" sz="1250" dirty="0"/>
          </a:p>
        </p:txBody>
      </p:sp>
      <p:sp>
        <p:nvSpPr>
          <p:cNvPr id="20" name="Text 18"/>
          <p:cNvSpPr/>
          <p:nvPr/>
        </p:nvSpPr>
        <p:spPr>
          <a:xfrm>
            <a:off x="11155680" y="6473952"/>
            <a:ext cx="822960" cy="274320"/>
          </a:xfrm>
          <a:prstGeom prst="rect">
            <a:avLst/>
          </a:prstGeom>
          <a:noFill/>
          <a:ln/>
        </p:spPr>
        <p:txBody>
          <a:bodyPr wrap="square" lIns="0" tIns="0" rIns="0" bIns="0" rtlCol="0" anchor="ctr"/>
          <a:lstStyle/>
          <a:p>
            <a:pPr marL="0" indent="0" algn="r">
              <a:buNone/>
            </a:pPr>
            <a:r>
              <a:rPr lang="en-US" sz="900" dirty="0">
                <a:solidFill>
                  <a:srgbClr val="9FB3C8"/>
                </a:solidFill>
                <a:latin typeface="Calibri" pitchFamily="34" charset="0"/>
                <a:ea typeface="Calibri" pitchFamily="34" charset="-122"/>
                <a:cs typeface="Calibri" pitchFamily="34" charset="-120"/>
              </a:rPr>
              <a:t>13 / 16</a:t>
            </a:r>
            <a:endParaRPr lang="en-US" sz="900" dirty="0"/>
          </a:p>
        </p:txBody>
      </p:sp>
      <p:sp>
        <p:nvSpPr>
          <p:cNvPr id="21" name="Text 19"/>
          <p:cNvSpPr/>
          <p:nvPr/>
        </p:nvSpPr>
        <p:spPr>
          <a:xfrm>
            <a:off x="548640" y="6473952"/>
            <a:ext cx="5486400" cy="274320"/>
          </a:xfrm>
          <a:prstGeom prst="rect">
            <a:avLst/>
          </a:prstGeom>
          <a:noFill/>
          <a:ln/>
        </p:spPr>
        <p:txBody>
          <a:bodyPr wrap="square" lIns="0" tIns="0" rIns="0" bIns="0" rtlCol="0" anchor="ctr"/>
          <a:lstStyle/>
          <a:p>
            <a:pPr marL="0" indent="0">
              <a:buNone/>
            </a:pPr>
            <a:r>
              <a:rPr lang="en-US" sz="900" kern="0" spc="100" dirty="0">
                <a:solidFill>
                  <a:srgbClr val="9FB3C8"/>
                </a:solidFill>
                <a:latin typeface="Calibri" pitchFamily="34" charset="0"/>
                <a:ea typeface="Calibri" pitchFamily="34" charset="-122"/>
                <a:cs typeface="Calibri" pitchFamily="34" charset="-120"/>
              </a:rPr>
              <a:t>PHISHING AWARENESS TRAINING</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4">
    <p:bg>
      <p:bgPr>
        <a:solidFill>
          <a:srgbClr val="0A1628"/>
        </a:solidFill>
        <a:effectLst/>
      </p:bgPr>
    </p:bg>
    <p:spTree>
      <p:nvGrpSpPr>
        <p:cNvPr id="1" name=""/>
        <p:cNvGrpSpPr/>
        <p:nvPr/>
      </p:nvGrpSpPr>
      <p:grpSpPr>
        <a:xfrm>
          <a:off x="0" y="0"/>
          <a:ext cx="0" cy="0"/>
          <a:chOff x="0" y="0"/>
          <a:chExt cx="0" cy="0"/>
        </a:xfrm>
      </p:grpSpPr>
      <p:sp>
        <p:nvSpPr>
          <p:cNvPr id="2" name="Text 0"/>
          <p:cNvSpPr/>
          <p:nvPr/>
        </p:nvSpPr>
        <p:spPr>
          <a:xfrm>
            <a:off x="548640" y="320040"/>
            <a:ext cx="7315200" cy="320040"/>
          </a:xfrm>
          <a:prstGeom prst="rect">
            <a:avLst/>
          </a:prstGeom>
          <a:noFill/>
          <a:ln/>
        </p:spPr>
        <p:txBody>
          <a:bodyPr wrap="square" lIns="0" tIns="0" rIns="0" bIns="0" rtlCol="0" anchor="ctr"/>
          <a:lstStyle/>
          <a:p>
            <a:pPr marL="0" indent="0">
              <a:buNone/>
            </a:pPr>
            <a:r>
              <a:rPr lang="en-US" sz="1200" b="1" kern="0" spc="200" dirty="0">
                <a:solidFill>
                  <a:srgbClr val="22D3EE"/>
                </a:solidFill>
                <a:latin typeface="Arial" pitchFamily="34" charset="0"/>
                <a:ea typeface="Arial" pitchFamily="34" charset="-122"/>
                <a:cs typeface="Arial" pitchFamily="34" charset="-120"/>
              </a:rPr>
              <a:t>QUICK CHECK</a:t>
            </a:r>
            <a:endParaRPr lang="en-US" sz="1200" dirty="0"/>
          </a:p>
        </p:txBody>
      </p:sp>
      <p:sp>
        <p:nvSpPr>
          <p:cNvPr id="3" name="Text 1"/>
          <p:cNvSpPr/>
          <p:nvPr/>
        </p:nvSpPr>
        <p:spPr>
          <a:xfrm>
            <a:off x="548640" y="621792"/>
            <a:ext cx="10789920" cy="685800"/>
          </a:xfrm>
          <a:prstGeom prst="rect">
            <a:avLst/>
          </a:prstGeom>
          <a:noFill/>
          <a:ln/>
        </p:spPr>
        <p:txBody>
          <a:bodyPr wrap="square" lIns="0" tIns="0" rIns="0" bIns="0" rtlCol="0" anchor="ctr"/>
          <a:lstStyle/>
          <a:p>
            <a:pPr marL="0" indent="0">
              <a:buNone/>
            </a:pPr>
            <a:r>
              <a:rPr lang="en-US" sz="3200" b="1" dirty="0">
                <a:solidFill>
                  <a:srgbClr val="FFFFFF"/>
                </a:solidFill>
                <a:latin typeface="Arial" pitchFamily="34" charset="0"/>
                <a:ea typeface="Arial" pitchFamily="34" charset="-122"/>
                <a:cs typeface="Arial" pitchFamily="34" charset="-120"/>
              </a:rPr>
              <a:t>Interactive Quiz</a:t>
            </a:r>
            <a:endParaRPr lang="en-US" sz="3200" dirty="0"/>
          </a:p>
        </p:txBody>
      </p:sp>
      <p:sp>
        <p:nvSpPr>
          <p:cNvPr id="4" name="Shape 2"/>
          <p:cNvSpPr/>
          <p:nvPr/>
        </p:nvSpPr>
        <p:spPr>
          <a:xfrm>
            <a:off x="548640" y="1783080"/>
            <a:ext cx="11064240" cy="777240"/>
          </a:xfrm>
          <a:prstGeom prst="roundRect">
            <a:avLst>
              <a:gd name="adj" fmla="val 9412"/>
            </a:avLst>
          </a:prstGeom>
          <a:solidFill>
            <a:srgbClr val="10233F"/>
          </a:solidFill>
          <a:ln w="9525">
            <a:solidFill>
              <a:srgbClr val="1D3A63"/>
            </a:solidFill>
            <a:prstDash val="solid"/>
          </a:ln>
          <a:effectLst>
            <a:outerShdw blurRad="76200" dist="38100" dir="5400000" algn="bl" rotWithShape="0">
              <a:srgbClr val="000000">
                <a:alpha val="35000"/>
              </a:srgbClr>
            </a:outerShdw>
          </a:effectLst>
        </p:spPr>
      </p:sp>
      <p:sp>
        <p:nvSpPr>
          <p:cNvPr id="5" name="Shape 3"/>
          <p:cNvSpPr/>
          <p:nvPr/>
        </p:nvSpPr>
        <p:spPr>
          <a:xfrm>
            <a:off x="731520" y="1984248"/>
            <a:ext cx="384048" cy="384048"/>
          </a:xfrm>
          <a:prstGeom prst="ellipse">
            <a:avLst/>
          </a:prstGeom>
          <a:solidFill>
            <a:srgbClr val="132A4C"/>
          </a:solidFill>
          <a:ln w="12700">
            <a:solidFill>
              <a:srgbClr val="22D3EE"/>
            </a:solidFill>
            <a:prstDash val="solid"/>
          </a:ln>
        </p:spPr>
      </p:sp>
      <p:sp>
        <p:nvSpPr>
          <p:cNvPr id="6" name="Text 4"/>
          <p:cNvSpPr/>
          <p:nvPr/>
        </p:nvSpPr>
        <p:spPr>
          <a:xfrm>
            <a:off x="731520" y="1984248"/>
            <a:ext cx="384048" cy="384048"/>
          </a:xfrm>
          <a:prstGeom prst="rect">
            <a:avLst/>
          </a:prstGeom>
          <a:noFill/>
          <a:ln/>
        </p:spPr>
        <p:txBody>
          <a:bodyPr wrap="square" lIns="0" tIns="0" rIns="0" bIns="0" rtlCol="0" anchor="ctr"/>
          <a:lstStyle/>
          <a:p>
            <a:pPr marL="0" indent="0" algn="ctr">
              <a:buNone/>
            </a:pPr>
            <a:r>
              <a:rPr lang="en-US" sz="1300" b="1" dirty="0">
                <a:solidFill>
                  <a:srgbClr val="22D3EE"/>
                </a:solidFill>
                <a:latin typeface="Arial" pitchFamily="34" charset="0"/>
                <a:ea typeface="Arial" pitchFamily="34" charset="-122"/>
                <a:cs typeface="Arial" pitchFamily="34" charset="-120"/>
              </a:rPr>
              <a:t>1</a:t>
            </a:r>
            <a:endParaRPr lang="en-US" sz="1300" dirty="0"/>
          </a:p>
        </p:txBody>
      </p:sp>
      <p:sp>
        <p:nvSpPr>
          <p:cNvPr id="7" name="Text 5"/>
          <p:cNvSpPr/>
          <p:nvPr/>
        </p:nvSpPr>
        <p:spPr>
          <a:xfrm>
            <a:off x="1280160" y="1847088"/>
            <a:ext cx="5120640" cy="658368"/>
          </a:xfrm>
          <a:prstGeom prst="rect">
            <a:avLst/>
          </a:prstGeom>
          <a:noFill/>
          <a:ln/>
        </p:spPr>
        <p:txBody>
          <a:bodyPr wrap="square" lIns="0" tIns="0" rIns="0" bIns="0" rtlCol="0" anchor="ctr"/>
          <a:lstStyle/>
          <a:p>
            <a:pPr marL="0" indent="0">
              <a:buNone/>
            </a:pPr>
            <a:r>
              <a:rPr lang="en-US" sz="1150" dirty="0">
                <a:solidFill>
                  <a:srgbClr val="FFFFFF"/>
                </a:solidFill>
                <a:latin typeface="Calibri" pitchFamily="34" charset="0"/>
                <a:ea typeface="Calibri" pitchFamily="34" charset="-122"/>
                <a:cs typeface="Calibri" pitchFamily="34" charset="-120"/>
              </a:rPr>
              <a:t>A coworker emails asking you to buy gift cards urgently. Best move?</a:t>
            </a:r>
            <a:endParaRPr lang="en-US" sz="1150" dirty="0"/>
          </a:p>
        </p:txBody>
      </p:sp>
      <p:sp>
        <p:nvSpPr>
          <p:cNvPr id="8" name="Text 6"/>
          <p:cNvSpPr/>
          <p:nvPr/>
        </p:nvSpPr>
        <p:spPr>
          <a:xfrm>
            <a:off x="6537960" y="1837944"/>
            <a:ext cx="4892040" cy="676656"/>
          </a:xfrm>
          <a:prstGeom prst="rect">
            <a:avLst/>
          </a:prstGeom>
          <a:noFill/>
          <a:ln/>
        </p:spPr>
        <p:txBody>
          <a:bodyPr wrap="square" lIns="0" tIns="0" rIns="0" bIns="0" rtlCol="0" anchor="ctr"/>
          <a:lstStyle/>
          <a:p>
            <a:pPr marL="0" indent="0">
              <a:buNone/>
            </a:pPr>
            <a:r>
              <a:rPr lang="en-US" sz="1000" b="1" dirty="0">
                <a:solidFill>
                  <a:srgbClr val="22D3EE"/>
                </a:solidFill>
                <a:latin typeface="Calibri" pitchFamily="34" charset="0"/>
                <a:ea typeface="Calibri" pitchFamily="34" charset="-122"/>
                <a:cs typeface="Calibri" pitchFamily="34" charset="-120"/>
              </a:rPr>
              <a:t>Answer: Verify by phone before doing anything. </a:t>
            </a:r>
            <a:r>
              <a:rPr lang="en-US" sz="1000" dirty="0">
                <a:solidFill>
                  <a:srgbClr val="9FB3C8"/>
                </a:solidFill>
                <a:latin typeface="Calibri" pitchFamily="34" charset="0"/>
                <a:ea typeface="Calibri" pitchFamily="34" charset="-122"/>
                <a:cs typeface="Calibri" pitchFamily="34" charset="-120"/>
              </a:rPr>
              <a:t>Urgent, unusual requests should always be confirmed another way.</a:t>
            </a:r>
            <a:endParaRPr lang="en-US" sz="1000" dirty="0"/>
          </a:p>
        </p:txBody>
      </p:sp>
      <p:sp>
        <p:nvSpPr>
          <p:cNvPr id="9" name="Shape 7"/>
          <p:cNvSpPr/>
          <p:nvPr/>
        </p:nvSpPr>
        <p:spPr>
          <a:xfrm>
            <a:off x="548640" y="2679192"/>
            <a:ext cx="11064240" cy="777240"/>
          </a:xfrm>
          <a:prstGeom prst="roundRect">
            <a:avLst>
              <a:gd name="adj" fmla="val 9412"/>
            </a:avLst>
          </a:prstGeom>
          <a:solidFill>
            <a:srgbClr val="10233F"/>
          </a:solidFill>
          <a:ln w="9525">
            <a:solidFill>
              <a:srgbClr val="1D3A63"/>
            </a:solidFill>
            <a:prstDash val="solid"/>
          </a:ln>
          <a:effectLst>
            <a:outerShdw blurRad="76200" dist="38100" dir="5400000" algn="bl" rotWithShape="0">
              <a:srgbClr val="000000">
                <a:alpha val="35000"/>
              </a:srgbClr>
            </a:outerShdw>
          </a:effectLst>
        </p:spPr>
      </p:sp>
      <p:sp>
        <p:nvSpPr>
          <p:cNvPr id="10" name="Shape 8"/>
          <p:cNvSpPr/>
          <p:nvPr/>
        </p:nvSpPr>
        <p:spPr>
          <a:xfrm>
            <a:off x="731520" y="2880360"/>
            <a:ext cx="384048" cy="384048"/>
          </a:xfrm>
          <a:prstGeom prst="ellipse">
            <a:avLst/>
          </a:prstGeom>
          <a:solidFill>
            <a:srgbClr val="132A4C"/>
          </a:solidFill>
          <a:ln w="12700">
            <a:solidFill>
              <a:srgbClr val="22D3EE"/>
            </a:solidFill>
            <a:prstDash val="solid"/>
          </a:ln>
        </p:spPr>
      </p:sp>
      <p:sp>
        <p:nvSpPr>
          <p:cNvPr id="11" name="Text 9"/>
          <p:cNvSpPr/>
          <p:nvPr/>
        </p:nvSpPr>
        <p:spPr>
          <a:xfrm>
            <a:off x="731520" y="2880360"/>
            <a:ext cx="384048" cy="384048"/>
          </a:xfrm>
          <a:prstGeom prst="rect">
            <a:avLst/>
          </a:prstGeom>
          <a:noFill/>
          <a:ln/>
        </p:spPr>
        <p:txBody>
          <a:bodyPr wrap="square" lIns="0" tIns="0" rIns="0" bIns="0" rtlCol="0" anchor="ctr"/>
          <a:lstStyle/>
          <a:p>
            <a:pPr marL="0" indent="0" algn="ctr">
              <a:buNone/>
            </a:pPr>
            <a:r>
              <a:rPr lang="en-US" sz="1300" b="1" dirty="0">
                <a:solidFill>
                  <a:srgbClr val="22D3EE"/>
                </a:solidFill>
                <a:latin typeface="Arial" pitchFamily="34" charset="0"/>
                <a:ea typeface="Arial" pitchFamily="34" charset="-122"/>
                <a:cs typeface="Arial" pitchFamily="34" charset="-120"/>
              </a:rPr>
              <a:t>2</a:t>
            </a:r>
            <a:endParaRPr lang="en-US" sz="1300" dirty="0"/>
          </a:p>
        </p:txBody>
      </p:sp>
      <p:sp>
        <p:nvSpPr>
          <p:cNvPr id="12" name="Text 10"/>
          <p:cNvSpPr/>
          <p:nvPr/>
        </p:nvSpPr>
        <p:spPr>
          <a:xfrm>
            <a:off x="1280160" y="2743200"/>
            <a:ext cx="5120640" cy="658368"/>
          </a:xfrm>
          <a:prstGeom prst="rect">
            <a:avLst/>
          </a:prstGeom>
          <a:noFill/>
          <a:ln/>
        </p:spPr>
        <p:txBody>
          <a:bodyPr wrap="square" lIns="0" tIns="0" rIns="0" bIns="0" rtlCol="0" anchor="ctr"/>
          <a:lstStyle/>
          <a:p>
            <a:pPr marL="0" indent="0">
              <a:buNone/>
            </a:pPr>
            <a:r>
              <a:rPr lang="en-US" sz="1150" dirty="0">
                <a:solidFill>
                  <a:srgbClr val="FFFFFF"/>
                </a:solidFill>
                <a:latin typeface="Calibri" pitchFamily="34" charset="0"/>
                <a:ea typeface="Calibri" pitchFamily="34" charset="-122"/>
                <a:cs typeface="Calibri" pitchFamily="34" charset="-120"/>
              </a:rPr>
              <a:t>You get an email with a link to "confirm your password." You should:</a:t>
            </a:r>
            <a:endParaRPr lang="en-US" sz="1150" dirty="0"/>
          </a:p>
        </p:txBody>
      </p:sp>
      <p:sp>
        <p:nvSpPr>
          <p:cNvPr id="13" name="Text 11"/>
          <p:cNvSpPr/>
          <p:nvPr/>
        </p:nvSpPr>
        <p:spPr>
          <a:xfrm>
            <a:off x="6537960" y="2734056"/>
            <a:ext cx="4892040" cy="676656"/>
          </a:xfrm>
          <a:prstGeom prst="rect">
            <a:avLst/>
          </a:prstGeom>
          <a:noFill/>
          <a:ln/>
        </p:spPr>
        <p:txBody>
          <a:bodyPr wrap="square" lIns="0" tIns="0" rIns="0" bIns="0" rtlCol="0" anchor="ctr"/>
          <a:lstStyle/>
          <a:p>
            <a:pPr marL="0" indent="0">
              <a:buNone/>
            </a:pPr>
            <a:r>
              <a:rPr lang="en-US" sz="1000" b="1" dirty="0">
                <a:solidFill>
                  <a:srgbClr val="22D3EE"/>
                </a:solidFill>
                <a:latin typeface="Calibri" pitchFamily="34" charset="0"/>
                <a:ea typeface="Calibri" pitchFamily="34" charset="-122"/>
                <a:cs typeface="Calibri" pitchFamily="34" charset="-120"/>
              </a:rPr>
              <a:t>Answer: Not click — go to the site directly. </a:t>
            </a:r>
            <a:r>
              <a:rPr lang="en-US" sz="1000" dirty="0">
                <a:solidFill>
                  <a:srgbClr val="9FB3C8"/>
                </a:solidFill>
                <a:latin typeface="Calibri" pitchFamily="34" charset="0"/>
                <a:ea typeface="Calibri" pitchFamily="34" charset="-122"/>
                <a:cs typeface="Calibri" pitchFamily="34" charset="-120"/>
              </a:rPr>
              <a:t>Legitimate companies rarely ask you to confirm passwords by email.</a:t>
            </a:r>
            <a:endParaRPr lang="en-US" sz="1000" dirty="0"/>
          </a:p>
        </p:txBody>
      </p:sp>
      <p:sp>
        <p:nvSpPr>
          <p:cNvPr id="14" name="Shape 12"/>
          <p:cNvSpPr/>
          <p:nvPr/>
        </p:nvSpPr>
        <p:spPr>
          <a:xfrm>
            <a:off x="548640" y="3575304"/>
            <a:ext cx="11064240" cy="777240"/>
          </a:xfrm>
          <a:prstGeom prst="roundRect">
            <a:avLst>
              <a:gd name="adj" fmla="val 9412"/>
            </a:avLst>
          </a:prstGeom>
          <a:solidFill>
            <a:srgbClr val="10233F"/>
          </a:solidFill>
          <a:ln w="9525">
            <a:solidFill>
              <a:srgbClr val="1D3A63"/>
            </a:solidFill>
            <a:prstDash val="solid"/>
          </a:ln>
          <a:effectLst>
            <a:outerShdw blurRad="76200" dist="38100" dir="5400000" algn="bl" rotWithShape="0">
              <a:srgbClr val="000000">
                <a:alpha val="35000"/>
              </a:srgbClr>
            </a:outerShdw>
          </a:effectLst>
        </p:spPr>
      </p:sp>
      <p:sp>
        <p:nvSpPr>
          <p:cNvPr id="15" name="Shape 13"/>
          <p:cNvSpPr/>
          <p:nvPr/>
        </p:nvSpPr>
        <p:spPr>
          <a:xfrm>
            <a:off x="731520" y="3776472"/>
            <a:ext cx="384048" cy="384048"/>
          </a:xfrm>
          <a:prstGeom prst="ellipse">
            <a:avLst/>
          </a:prstGeom>
          <a:solidFill>
            <a:srgbClr val="132A4C"/>
          </a:solidFill>
          <a:ln w="12700">
            <a:solidFill>
              <a:srgbClr val="22D3EE"/>
            </a:solidFill>
            <a:prstDash val="solid"/>
          </a:ln>
        </p:spPr>
      </p:sp>
      <p:sp>
        <p:nvSpPr>
          <p:cNvPr id="16" name="Text 14"/>
          <p:cNvSpPr/>
          <p:nvPr/>
        </p:nvSpPr>
        <p:spPr>
          <a:xfrm>
            <a:off x="731520" y="3776472"/>
            <a:ext cx="384048" cy="384048"/>
          </a:xfrm>
          <a:prstGeom prst="rect">
            <a:avLst/>
          </a:prstGeom>
          <a:noFill/>
          <a:ln/>
        </p:spPr>
        <p:txBody>
          <a:bodyPr wrap="square" lIns="0" tIns="0" rIns="0" bIns="0" rtlCol="0" anchor="ctr"/>
          <a:lstStyle/>
          <a:p>
            <a:pPr marL="0" indent="0" algn="ctr">
              <a:buNone/>
            </a:pPr>
            <a:r>
              <a:rPr lang="en-US" sz="1300" b="1" dirty="0">
                <a:solidFill>
                  <a:srgbClr val="22D3EE"/>
                </a:solidFill>
                <a:latin typeface="Arial" pitchFamily="34" charset="0"/>
                <a:ea typeface="Arial" pitchFamily="34" charset="-122"/>
                <a:cs typeface="Arial" pitchFamily="34" charset="-120"/>
              </a:rPr>
              <a:t>3</a:t>
            </a:r>
            <a:endParaRPr lang="en-US" sz="1300" dirty="0"/>
          </a:p>
        </p:txBody>
      </p:sp>
      <p:sp>
        <p:nvSpPr>
          <p:cNvPr id="17" name="Text 15"/>
          <p:cNvSpPr/>
          <p:nvPr/>
        </p:nvSpPr>
        <p:spPr>
          <a:xfrm>
            <a:off x="1280160" y="3639312"/>
            <a:ext cx="5120640" cy="658368"/>
          </a:xfrm>
          <a:prstGeom prst="rect">
            <a:avLst/>
          </a:prstGeom>
          <a:noFill/>
          <a:ln/>
        </p:spPr>
        <p:txBody>
          <a:bodyPr wrap="square" lIns="0" tIns="0" rIns="0" bIns="0" rtlCol="0" anchor="ctr"/>
          <a:lstStyle/>
          <a:p>
            <a:pPr marL="0" indent="0">
              <a:buNone/>
            </a:pPr>
            <a:r>
              <a:rPr lang="en-US" sz="1150" dirty="0">
                <a:solidFill>
                  <a:srgbClr val="FFFFFF"/>
                </a:solidFill>
                <a:latin typeface="Calibri" pitchFamily="34" charset="0"/>
                <a:ea typeface="Calibri" pitchFamily="34" charset="-122"/>
                <a:cs typeface="Calibri" pitchFamily="34" charset="-120"/>
              </a:rPr>
              <a:t>A padlock icon in the browser means the site is:</a:t>
            </a:r>
            <a:endParaRPr lang="en-US" sz="1150" dirty="0"/>
          </a:p>
        </p:txBody>
      </p:sp>
      <p:sp>
        <p:nvSpPr>
          <p:cNvPr id="18" name="Text 16"/>
          <p:cNvSpPr/>
          <p:nvPr/>
        </p:nvSpPr>
        <p:spPr>
          <a:xfrm>
            <a:off x="6537960" y="3630168"/>
            <a:ext cx="4892040" cy="676656"/>
          </a:xfrm>
          <a:prstGeom prst="rect">
            <a:avLst/>
          </a:prstGeom>
          <a:noFill/>
          <a:ln/>
        </p:spPr>
        <p:txBody>
          <a:bodyPr wrap="square" lIns="0" tIns="0" rIns="0" bIns="0" rtlCol="0" anchor="ctr"/>
          <a:lstStyle/>
          <a:p>
            <a:pPr marL="0" indent="0">
              <a:buNone/>
            </a:pPr>
            <a:r>
              <a:rPr lang="en-US" sz="1000" b="1" dirty="0">
                <a:solidFill>
                  <a:srgbClr val="22D3EE"/>
                </a:solidFill>
                <a:latin typeface="Calibri" pitchFamily="34" charset="0"/>
                <a:ea typeface="Calibri" pitchFamily="34" charset="-122"/>
                <a:cs typeface="Calibri" pitchFamily="34" charset="-120"/>
              </a:rPr>
              <a:t>Answer: Encrypted, not necessarily legitimate. </a:t>
            </a:r>
            <a:r>
              <a:rPr lang="en-US" sz="1000" dirty="0">
                <a:solidFill>
                  <a:srgbClr val="9FB3C8"/>
                </a:solidFill>
                <a:latin typeface="Calibri" pitchFamily="34" charset="0"/>
                <a:ea typeface="Calibri" pitchFamily="34" charset="-122"/>
                <a:cs typeface="Calibri" pitchFamily="34" charset="-120"/>
              </a:rPr>
              <a:t>HTTPS protects the connection, not the site's intentions.</a:t>
            </a:r>
            <a:endParaRPr lang="en-US" sz="1000" dirty="0"/>
          </a:p>
        </p:txBody>
      </p:sp>
      <p:sp>
        <p:nvSpPr>
          <p:cNvPr id="19" name="Shape 17"/>
          <p:cNvSpPr/>
          <p:nvPr/>
        </p:nvSpPr>
        <p:spPr>
          <a:xfrm>
            <a:off x="548640" y="4471416"/>
            <a:ext cx="11064240" cy="777240"/>
          </a:xfrm>
          <a:prstGeom prst="roundRect">
            <a:avLst>
              <a:gd name="adj" fmla="val 9412"/>
            </a:avLst>
          </a:prstGeom>
          <a:solidFill>
            <a:srgbClr val="10233F"/>
          </a:solidFill>
          <a:ln w="9525">
            <a:solidFill>
              <a:srgbClr val="1D3A63"/>
            </a:solidFill>
            <a:prstDash val="solid"/>
          </a:ln>
          <a:effectLst>
            <a:outerShdw blurRad="76200" dist="38100" dir="5400000" algn="bl" rotWithShape="0">
              <a:srgbClr val="000000">
                <a:alpha val="35000"/>
              </a:srgbClr>
            </a:outerShdw>
          </a:effectLst>
        </p:spPr>
      </p:sp>
      <p:sp>
        <p:nvSpPr>
          <p:cNvPr id="20" name="Shape 18"/>
          <p:cNvSpPr/>
          <p:nvPr/>
        </p:nvSpPr>
        <p:spPr>
          <a:xfrm>
            <a:off x="731520" y="4672584"/>
            <a:ext cx="384048" cy="384048"/>
          </a:xfrm>
          <a:prstGeom prst="ellipse">
            <a:avLst/>
          </a:prstGeom>
          <a:solidFill>
            <a:srgbClr val="132A4C"/>
          </a:solidFill>
          <a:ln w="12700">
            <a:solidFill>
              <a:srgbClr val="22D3EE"/>
            </a:solidFill>
            <a:prstDash val="solid"/>
          </a:ln>
        </p:spPr>
      </p:sp>
      <p:sp>
        <p:nvSpPr>
          <p:cNvPr id="21" name="Text 19"/>
          <p:cNvSpPr/>
          <p:nvPr/>
        </p:nvSpPr>
        <p:spPr>
          <a:xfrm>
            <a:off x="731520" y="4672584"/>
            <a:ext cx="384048" cy="384048"/>
          </a:xfrm>
          <a:prstGeom prst="rect">
            <a:avLst/>
          </a:prstGeom>
          <a:noFill/>
          <a:ln/>
        </p:spPr>
        <p:txBody>
          <a:bodyPr wrap="square" lIns="0" tIns="0" rIns="0" bIns="0" rtlCol="0" anchor="ctr"/>
          <a:lstStyle/>
          <a:p>
            <a:pPr marL="0" indent="0" algn="ctr">
              <a:buNone/>
            </a:pPr>
            <a:r>
              <a:rPr lang="en-US" sz="1300" b="1" dirty="0">
                <a:solidFill>
                  <a:srgbClr val="22D3EE"/>
                </a:solidFill>
                <a:latin typeface="Arial" pitchFamily="34" charset="0"/>
                <a:ea typeface="Arial" pitchFamily="34" charset="-122"/>
                <a:cs typeface="Arial" pitchFamily="34" charset="-120"/>
              </a:rPr>
              <a:t>4</a:t>
            </a:r>
            <a:endParaRPr lang="en-US" sz="1300" dirty="0"/>
          </a:p>
        </p:txBody>
      </p:sp>
      <p:sp>
        <p:nvSpPr>
          <p:cNvPr id="22" name="Text 20"/>
          <p:cNvSpPr/>
          <p:nvPr/>
        </p:nvSpPr>
        <p:spPr>
          <a:xfrm>
            <a:off x="1280160" y="4535424"/>
            <a:ext cx="5120640" cy="658368"/>
          </a:xfrm>
          <a:prstGeom prst="rect">
            <a:avLst/>
          </a:prstGeom>
          <a:noFill/>
          <a:ln/>
        </p:spPr>
        <p:txBody>
          <a:bodyPr wrap="square" lIns="0" tIns="0" rIns="0" bIns="0" rtlCol="0" anchor="ctr"/>
          <a:lstStyle/>
          <a:p>
            <a:pPr marL="0" indent="0">
              <a:buNone/>
            </a:pPr>
            <a:r>
              <a:rPr lang="en-US" sz="1150" dirty="0">
                <a:solidFill>
                  <a:srgbClr val="FFFFFF"/>
                </a:solidFill>
                <a:latin typeface="Calibri" pitchFamily="34" charset="0"/>
                <a:ea typeface="Calibri" pitchFamily="34" charset="-122"/>
                <a:cs typeface="Calibri" pitchFamily="34" charset="-120"/>
              </a:rPr>
              <a:t>You accidentally clicked a suspicious link. First step?</a:t>
            </a:r>
            <a:endParaRPr lang="en-US" sz="1150" dirty="0"/>
          </a:p>
        </p:txBody>
      </p:sp>
      <p:sp>
        <p:nvSpPr>
          <p:cNvPr id="23" name="Text 21"/>
          <p:cNvSpPr/>
          <p:nvPr/>
        </p:nvSpPr>
        <p:spPr>
          <a:xfrm>
            <a:off x="6537960" y="4526280"/>
            <a:ext cx="4892040" cy="676656"/>
          </a:xfrm>
          <a:prstGeom prst="rect">
            <a:avLst/>
          </a:prstGeom>
          <a:noFill/>
          <a:ln/>
        </p:spPr>
        <p:txBody>
          <a:bodyPr wrap="square" lIns="0" tIns="0" rIns="0" bIns="0" rtlCol="0" anchor="ctr"/>
          <a:lstStyle/>
          <a:p>
            <a:pPr marL="0" indent="0">
              <a:buNone/>
            </a:pPr>
            <a:r>
              <a:rPr lang="en-US" sz="1000" b="1" dirty="0">
                <a:solidFill>
                  <a:srgbClr val="22D3EE"/>
                </a:solidFill>
                <a:latin typeface="Calibri" pitchFamily="34" charset="0"/>
                <a:ea typeface="Calibri" pitchFamily="34" charset="-122"/>
                <a:cs typeface="Calibri" pitchFamily="34" charset="-120"/>
              </a:rPr>
              <a:t>Answer: Disconnect from the network. </a:t>
            </a:r>
            <a:r>
              <a:rPr lang="en-US" sz="1000" dirty="0">
                <a:solidFill>
                  <a:srgbClr val="9FB3C8"/>
                </a:solidFill>
                <a:latin typeface="Calibri" pitchFamily="34" charset="0"/>
                <a:ea typeface="Calibri" pitchFamily="34" charset="-122"/>
                <a:cs typeface="Calibri" pitchFamily="34" charset="-120"/>
              </a:rPr>
              <a:t>Cutting off access limits any damage while you report it.</a:t>
            </a:r>
            <a:endParaRPr lang="en-US" sz="1000" dirty="0"/>
          </a:p>
        </p:txBody>
      </p:sp>
      <p:sp>
        <p:nvSpPr>
          <p:cNvPr id="24" name="Shape 22"/>
          <p:cNvSpPr/>
          <p:nvPr/>
        </p:nvSpPr>
        <p:spPr>
          <a:xfrm>
            <a:off x="548640" y="5367528"/>
            <a:ext cx="11064240" cy="777240"/>
          </a:xfrm>
          <a:prstGeom prst="roundRect">
            <a:avLst>
              <a:gd name="adj" fmla="val 9412"/>
            </a:avLst>
          </a:prstGeom>
          <a:solidFill>
            <a:srgbClr val="10233F"/>
          </a:solidFill>
          <a:ln w="9525">
            <a:solidFill>
              <a:srgbClr val="1D3A63"/>
            </a:solidFill>
            <a:prstDash val="solid"/>
          </a:ln>
          <a:effectLst>
            <a:outerShdw blurRad="76200" dist="38100" dir="5400000" algn="bl" rotWithShape="0">
              <a:srgbClr val="000000">
                <a:alpha val="35000"/>
              </a:srgbClr>
            </a:outerShdw>
          </a:effectLst>
        </p:spPr>
      </p:sp>
      <p:sp>
        <p:nvSpPr>
          <p:cNvPr id="25" name="Shape 23"/>
          <p:cNvSpPr/>
          <p:nvPr/>
        </p:nvSpPr>
        <p:spPr>
          <a:xfrm>
            <a:off x="731520" y="5568696"/>
            <a:ext cx="384048" cy="384048"/>
          </a:xfrm>
          <a:prstGeom prst="ellipse">
            <a:avLst/>
          </a:prstGeom>
          <a:solidFill>
            <a:srgbClr val="132A4C"/>
          </a:solidFill>
          <a:ln w="12700">
            <a:solidFill>
              <a:srgbClr val="22D3EE"/>
            </a:solidFill>
            <a:prstDash val="solid"/>
          </a:ln>
        </p:spPr>
      </p:sp>
      <p:sp>
        <p:nvSpPr>
          <p:cNvPr id="26" name="Text 24"/>
          <p:cNvSpPr/>
          <p:nvPr/>
        </p:nvSpPr>
        <p:spPr>
          <a:xfrm>
            <a:off x="731520" y="5568696"/>
            <a:ext cx="384048" cy="384048"/>
          </a:xfrm>
          <a:prstGeom prst="rect">
            <a:avLst/>
          </a:prstGeom>
          <a:noFill/>
          <a:ln/>
        </p:spPr>
        <p:txBody>
          <a:bodyPr wrap="square" lIns="0" tIns="0" rIns="0" bIns="0" rtlCol="0" anchor="ctr"/>
          <a:lstStyle/>
          <a:p>
            <a:pPr marL="0" indent="0" algn="ctr">
              <a:buNone/>
            </a:pPr>
            <a:r>
              <a:rPr lang="en-US" sz="1300" b="1" dirty="0">
                <a:solidFill>
                  <a:srgbClr val="22D3EE"/>
                </a:solidFill>
                <a:latin typeface="Arial" pitchFamily="34" charset="0"/>
                <a:ea typeface="Arial" pitchFamily="34" charset="-122"/>
                <a:cs typeface="Arial" pitchFamily="34" charset="-120"/>
              </a:rPr>
              <a:t>5</a:t>
            </a:r>
            <a:endParaRPr lang="en-US" sz="1300" dirty="0"/>
          </a:p>
        </p:txBody>
      </p:sp>
      <p:sp>
        <p:nvSpPr>
          <p:cNvPr id="27" name="Text 25"/>
          <p:cNvSpPr/>
          <p:nvPr/>
        </p:nvSpPr>
        <p:spPr>
          <a:xfrm>
            <a:off x="1280160" y="5431536"/>
            <a:ext cx="5120640" cy="658368"/>
          </a:xfrm>
          <a:prstGeom prst="rect">
            <a:avLst/>
          </a:prstGeom>
          <a:noFill/>
          <a:ln/>
        </p:spPr>
        <p:txBody>
          <a:bodyPr wrap="square" lIns="0" tIns="0" rIns="0" bIns="0" rtlCol="0" anchor="ctr"/>
          <a:lstStyle/>
          <a:p>
            <a:pPr marL="0" indent="0">
              <a:buNone/>
            </a:pPr>
            <a:r>
              <a:rPr lang="en-US" sz="1150" dirty="0">
                <a:solidFill>
                  <a:srgbClr val="FFFFFF"/>
                </a:solidFill>
                <a:latin typeface="Calibri" pitchFamily="34" charset="0"/>
                <a:ea typeface="Calibri" pitchFamily="34" charset="-122"/>
                <a:cs typeface="Calibri" pitchFamily="34" charset="-120"/>
              </a:rPr>
              <a:t>Which detail is the most reliable way to check a sender?</a:t>
            </a:r>
            <a:endParaRPr lang="en-US" sz="1150" dirty="0"/>
          </a:p>
        </p:txBody>
      </p:sp>
      <p:sp>
        <p:nvSpPr>
          <p:cNvPr id="28" name="Text 26"/>
          <p:cNvSpPr/>
          <p:nvPr/>
        </p:nvSpPr>
        <p:spPr>
          <a:xfrm>
            <a:off x="6537960" y="5422392"/>
            <a:ext cx="4892040" cy="676656"/>
          </a:xfrm>
          <a:prstGeom prst="rect">
            <a:avLst/>
          </a:prstGeom>
          <a:noFill/>
          <a:ln/>
        </p:spPr>
        <p:txBody>
          <a:bodyPr wrap="square" lIns="0" tIns="0" rIns="0" bIns="0" rtlCol="0" anchor="ctr"/>
          <a:lstStyle/>
          <a:p>
            <a:pPr marL="0" indent="0">
              <a:buNone/>
            </a:pPr>
            <a:r>
              <a:rPr lang="en-US" sz="1000" b="1" dirty="0">
                <a:solidFill>
                  <a:srgbClr val="22D3EE"/>
                </a:solidFill>
                <a:latin typeface="Calibri" pitchFamily="34" charset="0"/>
                <a:ea typeface="Calibri" pitchFamily="34" charset="-122"/>
                <a:cs typeface="Calibri" pitchFamily="34" charset="-120"/>
              </a:rPr>
              <a:t>Answer: The full email address, not the display name. </a:t>
            </a:r>
            <a:r>
              <a:rPr lang="en-US" sz="1000" dirty="0">
                <a:solidFill>
                  <a:srgbClr val="9FB3C8"/>
                </a:solidFill>
                <a:latin typeface="Calibri" pitchFamily="34" charset="0"/>
                <a:ea typeface="Calibri" pitchFamily="34" charset="-122"/>
                <a:cs typeface="Calibri" pitchFamily="34" charset="-120"/>
              </a:rPr>
              <a:t>Display names are easy to fake; the address is harder to spoof.</a:t>
            </a:r>
            <a:endParaRPr lang="en-US" sz="1000" dirty="0"/>
          </a:p>
        </p:txBody>
      </p:sp>
      <p:sp>
        <p:nvSpPr>
          <p:cNvPr id="29" name="Text 27"/>
          <p:cNvSpPr/>
          <p:nvPr/>
        </p:nvSpPr>
        <p:spPr>
          <a:xfrm>
            <a:off x="11155680" y="6473952"/>
            <a:ext cx="822960" cy="274320"/>
          </a:xfrm>
          <a:prstGeom prst="rect">
            <a:avLst/>
          </a:prstGeom>
          <a:noFill/>
          <a:ln/>
        </p:spPr>
        <p:txBody>
          <a:bodyPr wrap="square" lIns="0" tIns="0" rIns="0" bIns="0" rtlCol="0" anchor="ctr"/>
          <a:lstStyle/>
          <a:p>
            <a:pPr marL="0" indent="0" algn="r">
              <a:buNone/>
            </a:pPr>
            <a:r>
              <a:rPr lang="en-US" sz="900" dirty="0">
                <a:solidFill>
                  <a:srgbClr val="9FB3C8"/>
                </a:solidFill>
                <a:latin typeface="Calibri" pitchFamily="34" charset="0"/>
                <a:ea typeface="Calibri" pitchFamily="34" charset="-122"/>
                <a:cs typeface="Calibri" pitchFamily="34" charset="-120"/>
              </a:rPr>
              <a:t>14 / 16</a:t>
            </a:r>
            <a:endParaRPr lang="en-US" sz="900" dirty="0"/>
          </a:p>
        </p:txBody>
      </p:sp>
      <p:sp>
        <p:nvSpPr>
          <p:cNvPr id="30" name="Text 28"/>
          <p:cNvSpPr/>
          <p:nvPr/>
        </p:nvSpPr>
        <p:spPr>
          <a:xfrm>
            <a:off x="548640" y="6473952"/>
            <a:ext cx="5486400" cy="274320"/>
          </a:xfrm>
          <a:prstGeom prst="rect">
            <a:avLst/>
          </a:prstGeom>
          <a:noFill/>
          <a:ln/>
        </p:spPr>
        <p:txBody>
          <a:bodyPr wrap="square" lIns="0" tIns="0" rIns="0" bIns="0" rtlCol="0" anchor="ctr"/>
          <a:lstStyle/>
          <a:p>
            <a:pPr marL="0" indent="0">
              <a:buNone/>
            </a:pPr>
            <a:r>
              <a:rPr lang="en-US" sz="900" kern="0" spc="100" dirty="0">
                <a:solidFill>
                  <a:srgbClr val="9FB3C8"/>
                </a:solidFill>
                <a:latin typeface="Calibri" pitchFamily="34" charset="0"/>
                <a:ea typeface="Calibri" pitchFamily="34" charset="-122"/>
                <a:cs typeface="Calibri" pitchFamily="34" charset="-120"/>
              </a:rPr>
              <a:t>PHISHING AWARENESS TRAINING</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5">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457200" y="457200"/>
            <a:ext cx="18288" cy="18288"/>
          </a:xfrm>
          <a:prstGeom prst="ellipse">
            <a:avLst/>
          </a:prstGeom>
          <a:solidFill>
            <a:srgbClr val="22D3EE">
              <a:alpha val="12000"/>
            </a:srgbClr>
          </a:solidFill>
          <a:ln/>
        </p:spPr>
      </p:sp>
      <p:sp>
        <p:nvSpPr>
          <p:cNvPr id="3" name="Shape 1"/>
          <p:cNvSpPr/>
          <p:nvPr/>
        </p:nvSpPr>
        <p:spPr>
          <a:xfrm>
            <a:off x="1234440" y="457200"/>
            <a:ext cx="18288" cy="18288"/>
          </a:xfrm>
          <a:prstGeom prst="ellipse">
            <a:avLst/>
          </a:prstGeom>
          <a:solidFill>
            <a:srgbClr val="22D3EE">
              <a:alpha val="12000"/>
            </a:srgbClr>
          </a:solidFill>
          <a:ln/>
        </p:spPr>
      </p:sp>
      <p:sp>
        <p:nvSpPr>
          <p:cNvPr id="4" name="Shape 2"/>
          <p:cNvSpPr/>
          <p:nvPr/>
        </p:nvSpPr>
        <p:spPr>
          <a:xfrm>
            <a:off x="2011680" y="457200"/>
            <a:ext cx="18288" cy="18288"/>
          </a:xfrm>
          <a:prstGeom prst="ellipse">
            <a:avLst/>
          </a:prstGeom>
          <a:solidFill>
            <a:srgbClr val="22D3EE">
              <a:alpha val="12000"/>
            </a:srgbClr>
          </a:solidFill>
          <a:ln/>
        </p:spPr>
      </p:sp>
      <p:sp>
        <p:nvSpPr>
          <p:cNvPr id="5" name="Shape 3"/>
          <p:cNvSpPr/>
          <p:nvPr/>
        </p:nvSpPr>
        <p:spPr>
          <a:xfrm>
            <a:off x="2788920" y="457200"/>
            <a:ext cx="18288" cy="18288"/>
          </a:xfrm>
          <a:prstGeom prst="ellipse">
            <a:avLst/>
          </a:prstGeom>
          <a:solidFill>
            <a:srgbClr val="22D3EE">
              <a:alpha val="12000"/>
            </a:srgbClr>
          </a:solidFill>
          <a:ln/>
        </p:spPr>
      </p:sp>
      <p:sp>
        <p:nvSpPr>
          <p:cNvPr id="6" name="Shape 4"/>
          <p:cNvSpPr/>
          <p:nvPr/>
        </p:nvSpPr>
        <p:spPr>
          <a:xfrm>
            <a:off x="3566160" y="457200"/>
            <a:ext cx="18288" cy="18288"/>
          </a:xfrm>
          <a:prstGeom prst="ellipse">
            <a:avLst/>
          </a:prstGeom>
          <a:solidFill>
            <a:srgbClr val="22D3EE">
              <a:alpha val="12000"/>
            </a:srgbClr>
          </a:solidFill>
          <a:ln/>
        </p:spPr>
      </p:sp>
      <p:sp>
        <p:nvSpPr>
          <p:cNvPr id="7" name="Shape 5"/>
          <p:cNvSpPr/>
          <p:nvPr/>
        </p:nvSpPr>
        <p:spPr>
          <a:xfrm>
            <a:off x="4343400" y="457200"/>
            <a:ext cx="18288" cy="18288"/>
          </a:xfrm>
          <a:prstGeom prst="ellipse">
            <a:avLst/>
          </a:prstGeom>
          <a:solidFill>
            <a:srgbClr val="22D3EE">
              <a:alpha val="12000"/>
            </a:srgbClr>
          </a:solidFill>
          <a:ln/>
        </p:spPr>
      </p:sp>
      <p:sp>
        <p:nvSpPr>
          <p:cNvPr id="8" name="Shape 6"/>
          <p:cNvSpPr/>
          <p:nvPr/>
        </p:nvSpPr>
        <p:spPr>
          <a:xfrm>
            <a:off x="5120640" y="457200"/>
            <a:ext cx="18288" cy="18288"/>
          </a:xfrm>
          <a:prstGeom prst="ellipse">
            <a:avLst/>
          </a:prstGeom>
          <a:solidFill>
            <a:srgbClr val="22D3EE">
              <a:alpha val="12000"/>
            </a:srgbClr>
          </a:solidFill>
          <a:ln/>
        </p:spPr>
      </p:sp>
      <p:sp>
        <p:nvSpPr>
          <p:cNvPr id="9" name="Shape 7"/>
          <p:cNvSpPr/>
          <p:nvPr/>
        </p:nvSpPr>
        <p:spPr>
          <a:xfrm>
            <a:off x="5897880" y="457200"/>
            <a:ext cx="18288" cy="18288"/>
          </a:xfrm>
          <a:prstGeom prst="ellipse">
            <a:avLst/>
          </a:prstGeom>
          <a:solidFill>
            <a:srgbClr val="22D3EE">
              <a:alpha val="12000"/>
            </a:srgbClr>
          </a:solidFill>
          <a:ln/>
        </p:spPr>
      </p:sp>
      <p:sp>
        <p:nvSpPr>
          <p:cNvPr id="10" name="Shape 8"/>
          <p:cNvSpPr/>
          <p:nvPr/>
        </p:nvSpPr>
        <p:spPr>
          <a:xfrm>
            <a:off x="6675120" y="457200"/>
            <a:ext cx="18288" cy="18288"/>
          </a:xfrm>
          <a:prstGeom prst="ellipse">
            <a:avLst/>
          </a:prstGeom>
          <a:solidFill>
            <a:srgbClr val="22D3EE">
              <a:alpha val="12000"/>
            </a:srgbClr>
          </a:solidFill>
          <a:ln/>
        </p:spPr>
      </p:sp>
      <p:sp>
        <p:nvSpPr>
          <p:cNvPr id="11" name="Shape 9"/>
          <p:cNvSpPr/>
          <p:nvPr/>
        </p:nvSpPr>
        <p:spPr>
          <a:xfrm>
            <a:off x="7452360" y="457200"/>
            <a:ext cx="18288" cy="18288"/>
          </a:xfrm>
          <a:prstGeom prst="ellipse">
            <a:avLst/>
          </a:prstGeom>
          <a:solidFill>
            <a:srgbClr val="22D3EE">
              <a:alpha val="12000"/>
            </a:srgbClr>
          </a:solidFill>
          <a:ln/>
        </p:spPr>
      </p:sp>
      <p:sp>
        <p:nvSpPr>
          <p:cNvPr id="12" name="Shape 10"/>
          <p:cNvSpPr/>
          <p:nvPr/>
        </p:nvSpPr>
        <p:spPr>
          <a:xfrm>
            <a:off x="8229600" y="457200"/>
            <a:ext cx="18288" cy="18288"/>
          </a:xfrm>
          <a:prstGeom prst="ellipse">
            <a:avLst/>
          </a:prstGeom>
          <a:solidFill>
            <a:srgbClr val="22D3EE">
              <a:alpha val="12000"/>
            </a:srgbClr>
          </a:solidFill>
          <a:ln/>
        </p:spPr>
      </p:sp>
      <p:sp>
        <p:nvSpPr>
          <p:cNvPr id="13" name="Shape 11"/>
          <p:cNvSpPr/>
          <p:nvPr/>
        </p:nvSpPr>
        <p:spPr>
          <a:xfrm>
            <a:off x="9006840" y="457200"/>
            <a:ext cx="18288" cy="18288"/>
          </a:xfrm>
          <a:prstGeom prst="ellipse">
            <a:avLst/>
          </a:prstGeom>
          <a:solidFill>
            <a:srgbClr val="22D3EE">
              <a:alpha val="12000"/>
            </a:srgbClr>
          </a:solidFill>
          <a:ln/>
        </p:spPr>
      </p:sp>
      <p:sp>
        <p:nvSpPr>
          <p:cNvPr id="14" name="Shape 12"/>
          <p:cNvSpPr/>
          <p:nvPr/>
        </p:nvSpPr>
        <p:spPr>
          <a:xfrm>
            <a:off x="9784080" y="457200"/>
            <a:ext cx="18288" cy="18288"/>
          </a:xfrm>
          <a:prstGeom prst="ellipse">
            <a:avLst/>
          </a:prstGeom>
          <a:solidFill>
            <a:srgbClr val="22D3EE">
              <a:alpha val="12000"/>
            </a:srgbClr>
          </a:solidFill>
          <a:ln/>
        </p:spPr>
      </p:sp>
      <p:sp>
        <p:nvSpPr>
          <p:cNvPr id="15" name="Shape 13"/>
          <p:cNvSpPr/>
          <p:nvPr/>
        </p:nvSpPr>
        <p:spPr>
          <a:xfrm>
            <a:off x="10561320" y="457200"/>
            <a:ext cx="18288" cy="18288"/>
          </a:xfrm>
          <a:prstGeom prst="ellipse">
            <a:avLst/>
          </a:prstGeom>
          <a:solidFill>
            <a:srgbClr val="22D3EE">
              <a:alpha val="12000"/>
            </a:srgbClr>
          </a:solidFill>
          <a:ln/>
        </p:spPr>
      </p:sp>
      <p:sp>
        <p:nvSpPr>
          <p:cNvPr id="16" name="Shape 14"/>
          <p:cNvSpPr/>
          <p:nvPr/>
        </p:nvSpPr>
        <p:spPr>
          <a:xfrm>
            <a:off x="11338560" y="457200"/>
            <a:ext cx="18288" cy="18288"/>
          </a:xfrm>
          <a:prstGeom prst="ellipse">
            <a:avLst/>
          </a:prstGeom>
          <a:solidFill>
            <a:srgbClr val="22D3EE">
              <a:alpha val="12000"/>
            </a:srgbClr>
          </a:solidFill>
          <a:ln/>
        </p:spPr>
      </p:sp>
      <p:sp>
        <p:nvSpPr>
          <p:cNvPr id="17" name="Shape 15"/>
          <p:cNvSpPr/>
          <p:nvPr/>
        </p:nvSpPr>
        <p:spPr>
          <a:xfrm>
            <a:off x="457200" y="1234440"/>
            <a:ext cx="18288" cy="18288"/>
          </a:xfrm>
          <a:prstGeom prst="ellipse">
            <a:avLst/>
          </a:prstGeom>
          <a:solidFill>
            <a:srgbClr val="22D3EE">
              <a:alpha val="12000"/>
            </a:srgbClr>
          </a:solidFill>
          <a:ln/>
        </p:spPr>
      </p:sp>
      <p:sp>
        <p:nvSpPr>
          <p:cNvPr id="18" name="Shape 16"/>
          <p:cNvSpPr/>
          <p:nvPr/>
        </p:nvSpPr>
        <p:spPr>
          <a:xfrm>
            <a:off x="1234440" y="1234440"/>
            <a:ext cx="18288" cy="18288"/>
          </a:xfrm>
          <a:prstGeom prst="ellipse">
            <a:avLst/>
          </a:prstGeom>
          <a:solidFill>
            <a:srgbClr val="22D3EE">
              <a:alpha val="12000"/>
            </a:srgbClr>
          </a:solidFill>
          <a:ln/>
        </p:spPr>
      </p:sp>
      <p:sp>
        <p:nvSpPr>
          <p:cNvPr id="19" name="Shape 17"/>
          <p:cNvSpPr/>
          <p:nvPr/>
        </p:nvSpPr>
        <p:spPr>
          <a:xfrm>
            <a:off x="2011680" y="1234440"/>
            <a:ext cx="18288" cy="18288"/>
          </a:xfrm>
          <a:prstGeom prst="ellipse">
            <a:avLst/>
          </a:prstGeom>
          <a:solidFill>
            <a:srgbClr val="22D3EE">
              <a:alpha val="12000"/>
            </a:srgbClr>
          </a:solidFill>
          <a:ln/>
        </p:spPr>
      </p:sp>
      <p:sp>
        <p:nvSpPr>
          <p:cNvPr id="20" name="Shape 18"/>
          <p:cNvSpPr/>
          <p:nvPr/>
        </p:nvSpPr>
        <p:spPr>
          <a:xfrm>
            <a:off x="2788920" y="1234440"/>
            <a:ext cx="18288" cy="18288"/>
          </a:xfrm>
          <a:prstGeom prst="ellipse">
            <a:avLst/>
          </a:prstGeom>
          <a:solidFill>
            <a:srgbClr val="22D3EE">
              <a:alpha val="12000"/>
            </a:srgbClr>
          </a:solidFill>
          <a:ln/>
        </p:spPr>
      </p:sp>
      <p:sp>
        <p:nvSpPr>
          <p:cNvPr id="21" name="Shape 19"/>
          <p:cNvSpPr/>
          <p:nvPr/>
        </p:nvSpPr>
        <p:spPr>
          <a:xfrm>
            <a:off x="3566160" y="1234440"/>
            <a:ext cx="18288" cy="18288"/>
          </a:xfrm>
          <a:prstGeom prst="ellipse">
            <a:avLst/>
          </a:prstGeom>
          <a:solidFill>
            <a:srgbClr val="22D3EE">
              <a:alpha val="12000"/>
            </a:srgbClr>
          </a:solidFill>
          <a:ln/>
        </p:spPr>
      </p:sp>
      <p:sp>
        <p:nvSpPr>
          <p:cNvPr id="22" name="Shape 20"/>
          <p:cNvSpPr/>
          <p:nvPr/>
        </p:nvSpPr>
        <p:spPr>
          <a:xfrm>
            <a:off x="4343400" y="1234440"/>
            <a:ext cx="18288" cy="18288"/>
          </a:xfrm>
          <a:prstGeom prst="ellipse">
            <a:avLst/>
          </a:prstGeom>
          <a:solidFill>
            <a:srgbClr val="22D3EE">
              <a:alpha val="12000"/>
            </a:srgbClr>
          </a:solidFill>
          <a:ln/>
        </p:spPr>
      </p:sp>
      <p:sp>
        <p:nvSpPr>
          <p:cNvPr id="23" name="Shape 21"/>
          <p:cNvSpPr/>
          <p:nvPr/>
        </p:nvSpPr>
        <p:spPr>
          <a:xfrm>
            <a:off x="5120640" y="1234440"/>
            <a:ext cx="18288" cy="18288"/>
          </a:xfrm>
          <a:prstGeom prst="ellipse">
            <a:avLst/>
          </a:prstGeom>
          <a:solidFill>
            <a:srgbClr val="22D3EE">
              <a:alpha val="12000"/>
            </a:srgbClr>
          </a:solidFill>
          <a:ln/>
        </p:spPr>
      </p:sp>
      <p:sp>
        <p:nvSpPr>
          <p:cNvPr id="24" name="Shape 22"/>
          <p:cNvSpPr/>
          <p:nvPr/>
        </p:nvSpPr>
        <p:spPr>
          <a:xfrm>
            <a:off x="5897880" y="1234440"/>
            <a:ext cx="18288" cy="18288"/>
          </a:xfrm>
          <a:prstGeom prst="ellipse">
            <a:avLst/>
          </a:prstGeom>
          <a:solidFill>
            <a:srgbClr val="22D3EE">
              <a:alpha val="12000"/>
            </a:srgbClr>
          </a:solidFill>
          <a:ln/>
        </p:spPr>
      </p:sp>
      <p:sp>
        <p:nvSpPr>
          <p:cNvPr id="25" name="Shape 23"/>
          <p:cNvSpPr/>
          <p:nvPr/>
        </p:nvSpPr>
        <p:spPr>
          <a:xfrm>
            <a:off x="6675120" y="1234440"/>
            <a:ext cx="18288" cy="18288"/>
          </a:xfrm>
          <a:prstGeom prst="ellipse">
            <a:avLst/>
          </a:prstGeom>
          <a:solidFill>
            <a:srgbClr val="22D3EE">
              <a:alpha val="12000"/>
            </a:srgbClr>
          </a:solidFill>
          <a:ln/>
        </p:spPr>
      </p:sp>
      <p:sp>
        <p:nvSpPr>
          <p:cNvPr id="26" name="Shape 24"/>
          <p:cNvSpPr/>
          <p:nvPr/>
        </p:nvSpPr>
        <p:spPr>
          <a:xfrm>
            <a:off x="7452360" y="1234440"/>
            <a:ext cx="18288" cy="18288"/>
          </a:xfrm>
          <a:prstGeom prst="ellipse">
            <a:avLst/>
          </a:prstGeom>
          <a:solidFill>
            <a:srgbClr val="22D3EE">
              <a:alpha val="12000"/>
            </a:srgbClr>
          </a:solidFill>
          <a:ln/>
        </p:spPr>
      </p:sp>
      <p:sp>
        <p:nvSpPr>
          <p:cNvPr id="27" name="Shape 25"/>
          <p:cNvSpPr/>
          <p:nvPr/>
        </p:nvSpPr>
        <p:spPr>
          <a:xfrm>
            <a:off x="8229600" y="1234440"/>
            <a:ext cx="18288" cy="18288"/>
          </a:xfrm>
          <a:prstGeom prst="ellipse">
            <a:avLst/>
          </a:prstGeom>
          <a:solidFill>
            <a:srgbClr val="22D3EE">
              <a:alpha val="12000"/>
            </a:srgbClr>
          </a:solidFill>
          <a:ln/>
        </p:spPr>
      </p:sp>
      <p:sp>
        <p:nvSpPr>
          <p:cNvPr id="28" name="Shape 26"/>
          <p:cNvSpPr/>
          <p:nvPr/>
        </p:nvSpPr>
        <p:spPr>
          <a:xfrm>
            <a:off x="9006840" y="1234440"/>
            <a:ext cx="18288" cy="18288"/>
          </a:xfrm>
          <a:prstGeom prst="ellipse">
            <a:avLst/>
          </a:prstGeom>
          <a:solidFill>
            <a:srgbClr val="22D3EE">
              <a:alpha val="12000"/>
            </a:srgbClr>
          </a:solidFill>
          <a:ln/>
        </p:spPr>
      </p:sp>
      <p:sp>
        <p:nvSpPr>
          <p:cNvPr id="29" name="Shape 27"/>
          <p:cNvSpPr/>
          <p:nvPr/>
        </p:nvSpPr>
        <p:spPr>
          <a:xfrm>
            <a:off x="9784080" y="1234440"/>
            <a:ext cx="18288" cy="18288"/>
          </a:xfrm>
          <a:prstGeom prst="ellipse">
            <a:avLst/>
          </a:prstGeom>
          <a:solidFill>
            <a:srgbClr val="22D3EE">
              <a:alpha val="12000"/>
            </a:srgbClr>
          </a:solidFill>
          <a:ln/>
        </p:spPr>
      </p:sp>
      <p:sp>
        <p:nvSpPr>
          <p:cNvPr id="30" name="Shape 28"/>
          <p:cNvSpPr/>
          <p:nvPr/>
        </p:nvSpPr>
        <p:spPr>
          <a:xfrm>
            <a:off x="10561320" y="1234440"/>
            <a:ext cx="18288" cy="18288"/>
          </a:xfrm>
          <a:prstGeom prst="ellipse">
            <a:avLst/>
          </a:prstGeom>
          <a:solidFill>
            <a:srgbClr val="22D3EE">
              <a:alpha val="12000"/>
            </a:srgbClr>
          </a:solidFill>
          <a:ln/>
        </p:spPr>
      </p:sp>
      <p:sp>
        <p:nvSpPr>
          <p:cNvPr id="31" name="Shape 29"/>
          <p:cNvSpPr/>
          <p:nvPr/>
        </p:nvSpPr>
        <p:spPr>
          <a:xfrm>
            <a:off x="11338560" y="1234440"/>
            <a:ext cx="18288" cy="18288"/>
          </a:xfrm>
          <a:prstGeom prst="ellipse">
            <a:avLst/>
          </a:prstGeom>
          <a:solidFill>
            <a:srgbClr val="22D3EE">
              <a:alpha val="12000"/>
            </a:srgbClr>
          </a:solidFill>
          <a:ln/>
        </p:spPr>
      </p:sp>
      <p:sp>
        <p:nvSpPr>
          <p:cNvPr id="32" name="Shape 30"/>
          <p:cNvSpPr/>
          <p:nvPr/>
        </p:nvSpPr>
        <p:spPr>
          <a:xfrm>
            <a:off x="457200" y="2011680"/>
            <a:ext cx="18288" cy="18288"/>
          </a:xfrm>
          <a:prstGeom prst="ellipse">
            <a:avLst/>
          </a:prstGeom>
          <a:solidFill>
            <a:srgbClr val="22D3EE">
              <a:alpha val="12000"/>
            </a:srgbClr>
          </a:solidFill>
          <a:ln/>
        </p:spPr>
      </p:sp>
      <p:sp>
        <p:nvSpPr>
          <p:cNvPr id="33" name="Shape 31"/>
          <p:cNvSpPr/>
          <p:nvPr/>
        </p:nvSpPr>
        <p:spPr>
          <a:xfrm>
            <a:off x="1234440" y="2011680"/>
            <a:ext cx="18288" cy="18288"/>
          </a:xfrm>
          <a:prstGeom prst="ellipse">
            <a:avLst/>
          </a:prstGeom>
          <a:solidFill>
            <a:srgbClr val="22D3EE">
              <a:alpha val="12000"/>
            </a:srgbClr>
          </a:solidFill>
          <a:ln/>
        </p:spPr>
      </p:sp>
      <p:sp>
        <p:nvSpPr>
          <p:cNvPr id="34" name="Shape 32"/>
          <p:cNvSpPr/>
          <p:nvPr/>
        </p:nvSpPr>
        <p:spPr>
          <a:xfrm>
            <a:off x="2011680" y="2011680"/>
            <a:ext cx="18288" cy="18288"/>
          </a:xfrm>
          <a:prstGeom prst="ellipse">
            <a:avLst/>
          </a:prstGeom>
          <a:solidFill>
            <a:srgbClr val="22D3EE">
              <a:alpha val="12000"/>
            </a:srgbClr>
          </a:solidFill>
          <a:ln/>
        </p:spPr>
      </p:sp>
      <p:sp>
        <p:nvSpPr>
          <p:cNvPr id="35" name="Shape 33"/>
          <p:cNvSpPr/>
          <p:nvPr/>
        </p:nvSpPr>
        <p:spPr>
          <a:xfrm>
            <a:off x="2788920" y="2011680"/>
            <a:ext cx="18288" cy="18288"/>
          </a:xfrm>
          <a:prstGeom prst="ellipse">
            <a:avLst/>
          </a:prstGeom>
          <a:solidFill>
            <a:srgbClr val="22D3EE">
              <a:alpha val="12000"/>
            </a:srgbClr>
          </a:solidFill>
          <a:ln/>
        </p:spPr>
      </p:sp>
      <p:sp>
        <p:nvSpPr>
          <p:cNvPr id="36" name="Shape 34"/>
          <p:cNvSpPr/>
          <p:nvPr/>
        </p:nvSpPr>
        <p:spPr>
          <a:xfrm>
            <a:off x="3566160" y="2011680"/>
            <a:ext cx="18288" cy="18288"/>
          </a:xfrm>
          <a:prstGeom prst="ellipse">
            <a:avLst/>
          </a:prstGeom>
          <a:solidFill>
            <a:srgbClr val="22D3EE">
              <a:alpha val="12000"/>
            </a:srgbClr>
          </a:solidFill>
          <a:ln/>
        </p:spPr>
      </p:sp>
      <p:sp>
        <p:nvSpPr>
          <p:cNvPr id="37" name="Shape 35"/>
          <p:cNvSpPr/>
          <p:nvPr/>
        </p:nvSpPr>
        <p:spPr>
          <a:xfrm>
            <a:off x="4343400" y="2011680"/>
            <a:ext cx="18288" cy="18288"/>
          </a:xfrm>
          <a:prstGeom prst="ellipse">
            <a:avLst/>
          </a:prstGeom>
          <a:solidFill>
            <a:srgbClr val="22D3EE">
              <a:alpha val="12000"/>
            </a:srgbClr>
          </a:solidFill>
          <a:ln/>
        </p:spPr>
      </p:sp>
      <p:sp>
        <p:nvSpPr>
          <p:cNvPr id="38" name="Shape 36"/>
          <p:cNvSpPr/>
          <p:nvPr/>
        </p:nvSpPr>
        <p:spPr>
          <a:xfrm>
            <a:off x="5120640" y="2011680"/>
            <a:ext cx="18288" cy="18288"/>
          </a:xfrm>
          <a:prstGeom prst="ellipse">
            <a:avLst/>
          </a:prstGeom>
          <a:solidFill>
            <a:srgbClr val="22D3EE">
              <a:alpha val="12000"/>
            </a:srgbClr>
          </a:solidFill>
          <a:ln/>
        </p:spPr>
      </p:sp>
      <p:sp>
        <p:nvSpPr>
          <p:cNvPr id="39" name="Shape 37"/>
          <p:cNvSpPr/>
          <p:nvPr/>
        </p:nvSpPr>
        <p:spPr>
          <a:xfrm>
            <a:off x="5897880" y="2011680"/>
            <a:ext cx="18288" cy="18288"/>
          </a:xfrm>
          <a:prstGeom prst="ellipse">
            <a:avLst/>
          </a:prstGeom>
          <a:solidFill>
            <a:srgbClr val="22D3EE">
              <a:alpha val="12000"/>
            </a:srgbClr>
          </a:solidFill>
          <a:ln/>
        </p:spPr>
      </p:sp>
      <p:sp>
        <p:nvSpPr>
          <p:cNvPr id="40" name="Shape 38"/>
          <p:cNvSpPr/>
          <p:nvPr/>
        </p:nvSpPr>
        <p:spPr>
          <a:xfrm>
            <a:off x="6675120" y="2011680"/>
            <a:ext cx="18288" cy="18288"/>
          </a:xfrm>
          <a:prstGeom prst="ellipse">
            <a:avLst/>
          </a:prstGeom>
          <a:solidFill>
            <a:srgbClr val="22D3EE">
              <a:alpha val="12000"/>
            </a:srgbClr>
          </a:solidFill>
          <a:ln/>
        </p:spPr>
      </p:sp>
      <p:sp>
        <p:nvSpPr>
          <p:cNvPr id="41" name="Shape 39"/>
          <p:cNvSpPr/>
          <p:nvPr/>
        </p:nvSpPr>
        <p:spPr>
          <a:xfrm>
            <a:off x="7452360" y="2011680"/>
            <a:ext cx="18288" cy="18288"/>
          </a:xfrm>
          <a:prstGeom prst="ellipse">
            <a:avLst/>
          </a:prstGeom>
          <a:solidFill>
            <a:srgbClr val="22D3EE">
              <a:alpha val="12000"/>
            </a:srgbClr>
          </a:solidFill>
          <a:ln/>
        </p:spPr>
      </p:sp>
      <p:sp>
        <p:nvSpPr>
          <p:cNvPr id="42" name="Shape 40"/>
          <p:cNvSpPr/>
          <p:nvPr/>
        </p:nvSpPr>
        <p:spPr>
          <a:xfrm>
            <a:off x="8229600" y="2011680"/>
            <a:ext cx="18288" cy="18288"/>
          </a:xfrm>
          <a:prstGeom prst="ellipse">
            <a:avLst/>
          </a:prstGeom>
          <a:solidFill>
            <a:srgbClr val="22D3EE">
              <a:alpha val="12000"/>
            </a:srgbClr>
          </a:solidFill>
          <a:ln/>
        </p:spPr>
      </p:sp>
      <p:sp>
        <p:nvSpPr>
          <p:cNvPr id="43" name="Shape 41"/>
          <p:cNvSpPr/>
          <p:nvPr/>
        </p:nvSpPr>
        <p:spPr>
          <a:xfrm>
            <a:off x="9006840" y="2011680"/>
            <a:ext cx="18288" cy="18288"/>
          </a:xfrm>
          <a:prstGeom prst="ellipse">
            <a:avLst/>
          </a:prstGeom>
          <a:solidFill>
            <a:srgbClr val="22D3EE">
              <a:alpha val="12000"/>
            </a:srgbClr>
          </a:solidFill>
          <a:ln/>
        </p:spPr>
      </p:sp>
      <p:sp>
        <p:nvSpPr>
          <p:cNvPr id="44" name="Shape 42"/>
          <p:cNvSpPr/>
          <p:nvPr/>
        </p:nvSpPr>
        <p:spPr>
          <a:xfrm>
            <a:off x="9784080" y="2011680"/>
            <a:ext cx="18288" cy="18288"/>
          </a:xfrm>
          <a:prstGeom prst="ellipse">
            <a:avLst/>
          </a:prstGeom>
          <a:solidFill>
            <a:srgbClr val="22D3EE">
              <a:alpha val="12000"/>
            </a:srgbClr>
          </a:solidFill>
          <a:ln/>
        </p:spPr>
      </p:sp>
      <p:sp>
        <p:nvSpPr>
          <p:cNvPr id="45" name="Shape 43"/>
          <p:cNvSpPr/>
          <p:nvPr/>
        </p:nvSpPr>
        <p:spPr>
          <a:xfrm>
            <a:off x="10561320" y="2011680"/>
            <a:ext cx="18288" cy="18288"/>
          </a:xfrm>
          <a:prstGeom prst="ellipse">
            <a:avLst/>
          </a:prstGeom>
          <a:solidFill>
            <a:srgbClr val="22D3EE">
              <a:alpha val="12000"/>
            </a:srgbClr>
          </a:solidFill>
          <a:ln/>
        </p:spPr>
      </p:sp>
      <p:sp>
        <p:nvSpPr>
          <p:cNvPr id="46" name="Shape 44"/>
          <p:cNvSpPr/>
          <p:nvPr/>
        </p:nvSpPr>
        <p:spPr>
          <a:xfrm>
            <a:off x="11338560" y="2011680"/>
            <a:ext cx="18288" cy="18288"/>
          </a:xfrm>
          <a:prstGeom prst="ellipse">
            <a:avLst/>
          </a:prstGeom>
          <a:solidFill>
            <a:srgbClr val="22D3EE">
              <a:alpha val="12000"/>
            </a:srgbClr>
          </a:solidFill>
          <a:ln/>
        </p:spPr>
      </p:sp>
      <p:sp>
        <p:nvSpPr>
          <p:cNvPr id="47" name="Shape 45"/>
          <p:cNvSpPr/>
          <p:nvPr/>
        </p:nvSpPr>
        <p:spPr>
          <a:xfrm>
            <a:off x="457200" y="2788920"/>
            <a:ext cx="18288" cy="18288"/>
          </a:xfrm>
          <a:prstGeom prst="ellipse">
            <a:avLst/>
          </a:prstGeom>
          <a:solidFill>
            <a:srgbClr val="22D3EE">
              <a:alpha val="12000"/>
            </a:srgbClr>
          </a:solidFill>
          <a:ln/>
        </p:spPr>
      </p:sp>
      <p:sp>
        <p:nvSpPr>
          <p:cNvPr id="48" name="Shape 46"/>
          <p:cNvSpPr/>
          <p:nvPr/>
        </p:nvSpPr>
        <p:spPr>
          <a:xfrm>
            <a:off x="1234440" y="2788920"/>
            <a:ext cx="18288" cy="18288"/>
          </a:xfrm>
          <a:prstGeom prst="ellipse">
            <a:avLst/>
          </a:prstGeom>
          <a:solidFill>
            <a:srgbClr val="22D3EE">
              <a:alpha val="12000"/>
            </a:srgbClr>
          </a:solidFill>
          <a:ln/>
        </p:spPr>
      </p:sp>
      <p:sp>
        <p:nvSpPr>
          <p:cNvPr id="49" name="Shape 47"/>
          <p:cNvSpPr/>
          <p:nvPr/>
        </p:nvSpPr>
        <p:spPr>
          <a:xfrm>
            <a:off x="2011680" y="2788920"/>
            <a:ext cx="18288" cy="18288"/>
          </a:xfrm>
          <a:prstGeom prst="ellipse">
            <a:avLst/>
          </a:prstGeom>
          <a:solidFill>
            <a:srgbClr val="22D3EE">
              <a:alpha val="12000"/>
            </a:srgbClr>
          </a:solidFill>
          <a:ln/>
        </p:spPr>
      </p:sp>
      <p:sp>
        <p:nvSpPr>
          <p:cNvPr id="50" name="Shape 48"/>
          <p:cNvSpPr/>
          <p:nvPr/>
        </p:nvSpPr>
        <p:spPr>
          <a:xfrm>
            <a:off x="2788920" y="2788920"/>
            <a:ext cx="18288" cy="18288"/>
          </a:xfrm>
          <a:prstGeom prst="ellipse">
            <a:avLst/>
          </a:prstGeom>
          <a:solidFill>
            <a:srgbClr val="22D3EE">
              <a:alpha val="12000"/>
            </a:srgbClr>
          </a:solidFill>
          <a:ln/>
        </p:spPr>
      </p:sp>
      <p:sp>
        <p:nvSpPr>
          <p:cNvPr id="51" name="Shape 49"/>
          <p:cNvSpPr/>
          <p:nvPr/>
        </p:nvSpPr>
        <p:spPr>
          <a:xfrm>
            <a:off x="3566160" y="2788920"/>
            <a:ext cx="18288" cy="18288"/>
          </a:xfrm>
          <a:prstGeom prst="ellipse">
            <a:avLst/>
          </a:prstGeom>
          <a:solidFill>
            <a:srgbClr val="22D3EE">
              <a:alpha val="12000"/>
            </a:srgbClr>
          </a:solidFill>
          <a:ln/>
        </p:spPr>
      </p:sp>
      <p:sp>
        <p:nvSpPr>
          <p:cNvPr id="52" name="Shape 50"/>
          <p:cNvSpPr/>
          <p:nvPr/>
        </p:nvSpPr>
        <p:spPr>
          <a:xfrm>
            <a:off x="4343400" y="2788920"/>
            <a:ext cx="18288" cy="18288"/>
          </a:xfrm>
          <a:prstGeom prst="ellipse">
            <a:avLst/>
          </a:prstGeom>
          <a:solidFill>
            <a:srgbClr val="22D3EE">
              <a:alpha val="12000"/>
            </a:srgbClr>
          </a:solidFill>
          <a:ln/>
        </p:spPr>
      </p:sp>
      <p:sp>
        <p:nvSpPr>
          <p:cNvPr id="53" name="Shape 51"/>
          <p:cNvSpPr/>
          <p:nvPr/>
        </p:nvSpPr>
        <p:spPr>
          <a:xfrm>
            <a:off x="5120640" y="2788920"/>
            <a:ext cx="18288" cy="18288"/>
          </a:xfrm>
          <a:prstGeom prst="ellipse">
            <a:avLst/>
          </a:prstGeom>
          <a:solidFill>
            <a:srgbClr val="22D3EE">
              <a:alpha val="12000"/>
            </a:srgbClr>
          </a:solidFill>
          <a:ln/>
        </p:spPr>
      </p:sp>
      <p:sp>
        <p:nvSpPr>
          <p:cNvPr id="54" name="Shape 52"/>
          <p:cNvSpPr/>
          <p:nvPr/>
        </p:nvSpPr>
        <p:spPr>
          <a:xfrm>
            <a:off x="5897880" y="2788920"/>
            <a:ext cx="18288" cy="18288"/>
          </a:xfrm>
          <a:prstGeom prst="ellipse">
            <a:avLst/>
          </a:prstGeom>
          <a:solidFill>
            <a:srgbClr val="22D3EE">
              <a:alpha val="12000"/>
            </a:srgbClr>
          </a:solidFill>
          <a:ln/>
        </p:spPr>
      </p:sp>
      <p:sp>
        <p:nvSpPr>
          <p:cNvPr id="55" name="Shape 53"/>
          <p:cNvSpPr/>
          <p:nvPr/>
        </p:nvSpPr>
        <p:spPr>
          <a:xfrm>
            <a:off x="6675120" y="2788920"/>
            <a:ext cx="18288" cy="18288"/>
          </a:xfrm>
          <a:prstGeom prst="ellipse">
            <a:avLst/>
          </a:prstGeom>
          <a:solidFill>
            <a:srgbClr val="22D3EE">
              <a:alpha val="12000"/>
            </a:srgbClr>
          </a:solidFill>
          <a:ln/>
        </p:spPr>
      </p:sp>
      <p:sp>
        <p:nvSpPr>
          <p:cNvPr id="56" name="Shape 54"/>
          <p:cNvSpPr/>
          <p:nvPr/>
        </p:nvSpPr>
        <p:spPr>
          <a:xfrm>
            <a:off x="7452360" y="2788920"/>
            <a:ext cx="18288" cy="18288"/>
          </a:xfrm>
          <a:prstGeom prst="ellipse">
            <a:avLst/>
          </a:prstGeom>
          <a:solidFill>
            <a:srgbClr val="22D3EE">
              <a:alpha val="12000"/>
            </a:srgbClr>
          </a:solidFill>
          <a:ln/>
        </p:spPr>
      </p:sp>
      <p:sp>
        <p:nvSpPr>
          <p:cNvPr id="57" name="Shape 55"/>
          <p:cNvSpPr/>
          <p:nvPr/>
        </p:nvSpPr>
        <p:spPr>
          <a:xfrm>
            <a:off x="8229600" y="2788920"/>
            <a:ext cx="18288" cy="18288"/>
          </a:xfrm>
          <a:prstGeom prst="ellipse">
            <a:avLst/>
          </a:prstGeom>
          <a:solidFill>
            <a:srgbClr val="22D3EE">
              <a:alpha val="12000"/>
            </a:srgbClr>
          </a:solidFill>
          <a:ln/>
        </p:spPr>
      </p:sp>
      <p:sp>
        <p:nvSpPr>
          <p:cNvPr id="58" name="Shape 56"/>
          <p:cNvSpPr/>
          <p:nvPr/>
        </p:nvSpPr>
        <p:spPr>
          <a:xfrm>
            <a:off x="9006840" y="2788920"/>
            <a:ext cx="18288" cy="18288"/>
          </a:xfrm>
          <a:prstGeom prst="ellipse">
            <a:avLst/>
          </a:prstGeom>
          <a:solidFill>
            <a:srgbClr val="22D3EE">
              <a:alpha val="12000"/>
            </a:srgbClr>
          </a:solidFill>
          <a:ln/>
        </p:spPr>
      </p:sp>
      <p:sp>
        <p:nvSpPr>
          <p:cNvPr id="59" name="Shape 57"/>
          <p:cNvSpPr/>
          <p:nvPr/>
        </p:nvSpPr>
        <p:spPr>
          <a:xfrm>
            <a:off x="9784080" y="2788920"/>
            <a:ext cx="18288" cy="18288"/>
          </a:xfrm>
          <a:prstGeom prst="ellipse">
            <a:avLst/>
          </a:prstGeom>
          <a:solidFill>
            <a:srgbClr val="22D3EE">
              <a:alpha val="12000"/>
            </a:srgbClr>
          </a:solidFill>
          <a:ln/>
        </p:spPr>
      </p:sp>
      <p:sp>
        <p:nvSpPr>
          <p:cNvPr id="60" name="Shape 58"/>
          <p:cNvSpPr/>
          <p:nvPr/>
        </p:nvSpPr>
        <p:spPr>
          <a:xfrm>
            <a:off x="10561320" y="2788920"/>
            <a:ext cx="18288" cy="18288"/>
          </a:xfrm>
          <a:prstGeom prst="ellipse">
            <a:avLst/>
          </a:prstGeom>
          <a:solidFill>
            <a:srgbClr val="22D3EE">
              <a:alpha val="12000"/>
            </a:srgbClr>
          </a:solidFill>
          <a:ln/>
        </p:spPr>
      </p:sp>
      <p:sp>
        <p:nvSpPr>
          <p:cNvPr id="61" name="Shape 59"/>
          <p:cNvSpPr/>
          <p:nvPr/>
        </p:nvSpPr>
        <p:spPr>
          <a:xfrm>
            <a:off x="11338560" y="2788920"/>
            <a:ext cx="18288" cy="18288"/>
          </a:xfrm>
          <a:prstGeom prst="ellipse">
            <a:avLst/>
          </a:prstGeom>
          <a:solidFill>
            <a:srgbClr val="22D3EE">
              <a:alpha val="12000"/>
            </a:srgbClr>
          </a:solidFill>
          <a:ln/>
        </p:spPr>
      </p:sp>
      <p:sp>
        <p:nvSpPr>
          <p:cNvPr id="62" name="Shape 60"/>
          <p:cNvSpPr/>
          <p:nvPr/>
        </p:nvSpPr>
        <p:spPr>
          <a:xfrm>
            <a:off x="457200" y="3566160"/>
            <a:ext cx="18288" cy="18288"/>
          </a:xfrm>
          <a:prstGeom prst="ellipse">
            <a:avLst/>
          </a:prstGeom>
          <a:solidFill>
            <a:srgbClr val="22D3EE">
              <a:alpha val="12000"/>
            </a:srgbClr>
          </a:solidFill>
          <a:ln/>
        </p:spPr>
      </p:sp>
      <p:sp>
        <p:nvSpPr>
          <p:cNvPr id="63" name="Shape 61"/>
          <p:cNvSpPr/>
          <p:nvPr/>
        </p:nvSpPr>
        <p:spPr>
          <a:xfrm>
            <a:off x="1234440" y="3566160"/>
            <a:ext cx="18288" cy="18288"/>
          </a:xfrm>
          <a:prstGeom prst="ellipse">
            <a:avLst/>
          </a:prstGeom>
          <a:solidFill>
            <a:srgbClr val="22D3EE">
              <a:alpha val="12000"/>
            </a:srgbClr>
          </a:solidFill>
          <a:ln/>
        </p:spPr>
      </p:sp>
      <p:sp>
        <p:nvSpPr>
          <p:cNvPr id="64" name="Shape 62"/>
          <p:cNvSpPr/>
          <p:nvPr/>
        </p:nvSpPr>
        <p:spPr>
          <a:xfrm>
            <a:off x="2011680" y="3566160"/>
            <a:ext cx="18288" cy="18288"/>
          </a:xfrm>
          <a:prstGeom prst="ellipse">
            <a:avLst/>
          </a:prstGeom>
          <a:solidFill>
            <a:srgbClr val="22D3EE">
              <a:alpha val="12000"/>
            </a:srgbClr>
          </a:solidFill>
          <a:ln/>
        </p:spPr>
      </p:sp>
      <p:sp>
        <p:nvSpPr>
          <p:cNvPr id="65" name="Shape 63"/>
          <p:cNvSpPr/>
          <p:nvPr/>
        </p:nvSpPr>
        <p:spPr>
          <a:xfrm>
            <a:off x="2788920" y="3566160"/>
            <a:ext cx="18288" cy="18288"/>
          </a:xfrm>
          <a:prstGeom prst="ellipse">
            <a:avLst/>
          </a:prstGeom>
          <a:solidFill>
            <a:srgbClr val="22D3EE">
              <a:alpha val="12000"/>
            </a:srgbClr>
          </a:solidFill>
          <a:ln/>
        </p:spPr>
      </p:sp>
      <p:sp>
        <p:nvSpPr>
          <p:cNvPr id="66" name="Shape 64"/>
          <p:cNvSpPr/>
          <p:nvPr/>
        </p:nvSpPr>
        <p:spPr>
          <a:xfrm>
            <a:off x="3566160" y="3566160"/>
            <a:ext cx="18288" cy="18288"/>
          </a:xfrm>
          <a:prstGeom prst="ellipse">
            <a:avLst/>
          </a:prstGeom>
          <a:solidFill>
            <a:srgbClr val="22D3EE">
              <a:alpha val="12000"/>
            </a:srgbClr>
          </a:solidFill>
          <a:ln/>
        </p:spPr>
      </p:sp>
      <p:sp>
        <p:nvSpPr>
          <p:cNvPr id="67" name="Shape 65"/>
          <p:cNvSpPr/>
          <p:nvPr/>
        </p:nvSpPr>
        <p:spPr>
          <a:xfrm>
            <a:off x="4343400" y="3566160"/>
            <a:ext cx="18288" cy="18288"/>
          </a:xfrm>
          <a:prstGeom prst="ellipse">
            <a:avLst/>
          </a:prstGeom>
          <a:solidFill>
            <a:srgbClr val="22D3EE">
              <a:alpha val="12000"/>
            </a:srgbClr>
          </a:solidFill>
          <a:ln/>
        </p:spPr>
      </p:sp>
      <p:sp>
        <p:nvSpPr>
          <p:cNvPr id="68" name="Shape 66"/>
          <p:cNvSpPr/>
          <p:nvPr/>
        </p:nvSpPr>
        <p:spPr>
          <a:xfrm>
            <a:off x="5120640" y="3566160"/>
            <a:ext cx="18288" cy="18288"/>
          </a:xfrm>
          <a:prstGeom prst="ellipse">
            <a:avLst/>
          </a:prstGeom>
          <a:solidFill>
            <a:srgbClr val="22D3EE">
              <a:alpha val="12000"/>
            </a:srgbClr>
          </a:solidFill>
          <a:ln/>
        </p:spPr>
      </p:sp>
      <p:sp>
        <p:nvSpPr>
          <p:cNvPr id="69" name="Shape 67"/>
          <p:cNvSpPr/>
          <p:nvPr/>
        </p:nvSpPr>
        <p:spPr>
          <a:xfrm>
            <a:off x="5897880" y="3566160"/>
            <a:ext cx="18288" cy="18288"/>
          </a:xfrm>
          <a:prstGeom prst="ellipse">
            <a:avLst/>
          </a:prstGeom>
          <a:solidFill>
            <a:srgbClr val="22D3EE">
              <a:alpha val="12000"/>
            </a:srgbClr>
          </a:solidFill>
          <a:ln/>
        </p:spPr>
      </p:sp>
      <p:sp>
        <p:nvSpPr>
          <p:cNvPr id="70" name="Shape 68"/>
          <p:cNvSpPr/>
          <p:nvPr/>
        </p:nvSpPr>
        <p:spPr>
          <a:xfrm>
            <a:off x="6675120" y="3566160"/>
            <a:ext cx="18288" cy="18288"/>
          </a:xfrm>
          <a:prstGeom prst="ellipse">
            <a:avLst/>
          </a:prstGeom>
          <a:solidFill>
            <a:srgbClr val="22D3EE">
              <a:alpha val="12000"/>
            </a:srgbClr>
          </a:solidFill>
          <a:ln/>
        </p:spPr>
      </p:sp>
      <p:sp>
        <p:nvSpPr>
          <p:cNvPr id="71" name="Shape 69"/>
          <p:cNvSpPr/>
          <p:nvPr/>
        </p:nvSpPr>
        <p:spPr>
          <a:xfrm>
            <a:off x="7452360" y="3566160"/>
            <a:ext cx="18288" cy="18288"/>
          </a:xfrm>
          <a:prstGeom prst="ellipse">
            <a:avLst/>
          </a:prstGeom>
          <a:solidFill>
            <a:srgbClr val="22D3EE">
              <a:alpha val="12000"/>
            </a:srgbClr>
          </a:solidFill>
          <a:ln/>
        </p:spPr>
      </p:sp>
      <p:sp>
        <p:nvSpPr>
          <p:cNvPr id="72" name="Shape 70"/>
          <p:cNvSpPr/>
          <p:nvPr/>
        </p:nvSpPr>
        <p:spPr>
          <a:xfrm>
            <a:off x="8229600" y="3566160"/>
            <a:ext cx="18288" cy="18288"/>
          </a:xfrm>
          <a:prstGeom prst="ellipse">
            <a:avLst/>
          </a:prstGeom>
          <a:solidFill>
            <a:srgbClr val="22D3EE">
              <a:alpha val="12000"/>
            </a:srgbClr>
          </a:solidFill>
          <a:ln/>
        </p:spPr>
      </p:sp>
      <p:sp>
        <p:nvSpPr>
          <p:cNvPr id="73" name="Shape 71"/>
          <p:cNvSpPr/>
          <p:nvPr/>
        </p:nvSpPr>
        <p:spPr>
          <a:xfrm>
            <a:off x="9006840" y="3566160"/>
            <a:ext cx="18288" cy="18288"/>
          </a:xfrm>
          <a:prstGeom prst="ellipse">
            <a:avLst/>
          </a:prstGeom>
          <a:solidFill>
            <a:srgbClr val="22D3EE">
              <a:alpha val="12000"/>
            </a:srgbClr>
          </a:solidFill>
          <a:ln/>
        </p:spPr>
      </p:sp>
      <p:sp>
        <p:nvSpPr>
          <p:cNvPr id="74" name="Shape 72"/>
          <p:cNvSpPr/>
          <p:nvPr/>
        </p:nvSpPr>
        <p:spPr>
          <a:xfrm>
            <a:off x="9784080" y="3566160"/>
            <a:ext cx="18288" cy="18288"/>
          </a:xfrm>
          <a:prstGeom prst="ellipse">
            <a:avLst/>
          </a:prstGeom>
          <a:solidFill>
            <a:srgbClr val="22D3EE">
              <a:alpha val="12000"/>
            </a:srgbClr>
          </a:solidFill>
          <a:ln/>
        </p:spPr>
      </p:sp>
      <p:sp>
        <p:nvSpPr>
          <p:cNvPr id="75" name="Shape 73"/>
          <p:cNvSpPr/>
          <p:nvPr/>
        </p:nvSpPr>
        <p:spPr>
          <a:xfrm>
            <a:off x="10561320" y="3566160"/>
            <a:ext cx="18288" cy="18288"/>
          </a:xfrm>
          <a:prstGeom prst="ellipse">
            <a:avLst/>
          </a:prstGeom>
          <a:solidFill>
            <a:srgbClr val="22D3EE">
              <a:alpha val="12000"/>
            </a:srgbClr>
          </a:solidFill>
          <a:ln/>
        </p:spPr>
      </p:sp>
      <p:sp>
        <p:nvSpPr>
          <p:cNvPr id="76" name="Shape 74"/>
          <p:cNvSpPr/>
          <p:nvPr/>
        </p:nvSpPr>
        <p:spPr>
          <a:xfrm>
            <a:off x="11338560" y="3566160"/>
            <a:ext cx="18288" cy="18288"/>
          </a:xfrm>
          <a:prstGeom prst="ellipse">
            <a:avLst/>
          </a:prstGeom>
          <a:solidFill>
            <a:srgbClr val="22D3EE">
              <a:alpha val="12000"/>
            </a:srgbClr>
          </a:solidFill>
          <a:ln/>
        </p:spPr>
      </p:sp>
      <p:sp>
        <p:nvSpPr>
          <p:cNvPr id="77" name="Shape 75"/>
          <p:cNvSpPr/>
          <p:nvPr/>
        </p:nvSpPr>
        <p:spPr>
          <a:xfrm>
            <a:off x="457200" y="4343400"/>
            <a:ext cx="18288" cy="18288"/>
          </a:xfrm>
          <a:prstGeom prst="ellipse">
            <a:avLst/>
          </a:prstGeom>
          <a:solidFill>
            <a:srgbClr val="22D3EE">
              <a:alpha val="12000"/>
            </a:srgbClr>
          </a:solidFill>
          <a:ln/>
        </p:spPr>
      </p:sp>
      <p:sp>
        <p:nvSpPr>
          <p:cNvPr id="78" name="Shape 76"/>
          <p:cNvSpPr/>
          <p:nvPr/>
        </p:nvSpPr>
        <p:spPr>
          <a:xfrm>
            <a:off x="1234440" y="4343400"/>
            <a:ext cx="18288" cy="18288"/>
          </a:xfrm>
          <a:prstGeom prst="ellipse">
            <a:avLst/>
          </a:prstGeom>
          <a:solidFill>
            <a:srgbClr val="22D3EE">
              <a:alpha val="12000"/>
            </a:srgbClr>
          </a:solidFill>
          <a:ln/>
        </p:spPr>
      </p:sp>
      <p:sp>
        <p:nvSpPr>
          <p:cNvPr id="79" name="Shape 77"/>
          <p:cNvSpPr/>
          <p:nvPr/>
        </p:nvSpPr>
        <p:spPr>
          <a:xfrm>
            <a:off x="2011680" y="4343400"/>
            <a:ext cx="18288" cy="18288"/>
          </a:xfrm>
          <a:prstGeom prst="ellipse">
            <a:avLst/>
          </a:prstGeom>
          <a:solidFill>
            <a:srgbClr val="22D3EE">
              <a:alpha val="12000"/>
            </a:srgbClr>
          </a:solidFill>
          <a:ln/>
        </p:spPr>
      </p:sp>
      <p:sp>
        <p:nvSpPr>
          <p:cNvPr id="80" name="Shape 78"/>
          <p:cNvSpPr/>
          <p:nvPr/>
        </p:nvSpPr>
        <p:spPr>
          <a:xfrm>
            <a:off x="2788920" y="4343400"/>
            <a:ext cx="18288" cy="18288"/>
          </a:xfrm>
          <a:prstGeom prst="ellipse">
            <a:avLst/>
          </a:prstGeom>
          <a:solidFill>
            <a:srgbClr val="22D3EE">
              <a:alpha val="12000"/>
            </a:srgbClr>
          </a:solidFill>
          <a:ln/>
        </p:spPr>
      </p:sp>
      <p:sp>
        <p:nvSpPr>
          <p:cNvPr id="81" name="Shape 79"/>
          <p:cNvSpPr/>
          <p:nvPr/>
        </p:nvSpPr>
        <p:spPr>
          <a:xfrm>
            <a:off x="3566160" y="4343400"/>
            <a:ext cx="18288" cy="18288"/>
          </a:xfrm>
          <a:prstGeom prst="ellipse">
            <a:avLst/>
          </a:prstGeom>
          <a:solidFill>
            <a:srgbClr val="22D3EE">
              <a:alpha val="12000"/>
            </a:srgbClr>
          </a:solidFill>
          <a:ln/>
        </p:spPr>
      </p:sp>
      <p:sp>
        <p:nvSpPr>
          <p:cNvPr id="82" name="Shape 80"/>
          <p:cNvSpPr/>
          <p:nvPr/>
        </p:nvSpPr>
        <p:spPr>
          <a:xfrm>
            <a:off x="4343400" y="4343400"/>
            <a:ext cx="18288" cy="18288"/>
          </a:xfrm>
          <a:prstGeom prst="ellipse">
            <a:avLst/>
          </a:prstGeom>
          <a:solidFill>
            <a:srgbClr val="22D3EE">
              <a:alpha val="12000"/>
            </a:srgbClr>
          </a:solidFill>
          <a:ln/>
        </p:spPr>
      </p:sp>
      <p:sp>
        <p:nvSpPr>
          <p:cNvPr id="83" name="Shape 81"/>
          <p:cNvSpPr/>
          <p:nvPr/>
        </p:nvSpPr>
        <p:spPr>
          <a:xfrm>
            <a:off x="5120640" y="4343400"/>
            <a:ext cx="18288" cy="18288"/>
          </a:xfrm>
          <a:prstGeom prst="ellipse">
            <a:avLst/>
          </a:prstGeom>
          <a:solidFill>
            <a:srgbClr val="22D3EE">
              <a:alpha val="12000"/>
            </a:srgbClr>
          </a:solidFill>
          <a:ln/>
        </p:spPr>
      </p:sp>
      <p:sp>
        <p:nvSpPr>
          <p:cNvPr id="84" name="Shape 82"/>
          <p:cNvSpPr/>
          <p:nvPr/>
        </p:nvSpPr>
        <p:spPr>
          <a:xfrm>
            <a:off x="5897880" y="4343400"/>
            <a:ext cx="18288" cy="18288"/>
          </a:xfrm>
          <a:prstGeom prst="ellipse">
            <a:avLst/>
          </a:prstGeom>
          <a:solidFill>
            <a:srgbClr val="22D3EE">
              <a:alpha val="12000"/>
            </a:srgbClr>
          </a:solidFill>
          <a:ln/>
        </p:spPr>
      </p:sp>
      <p:sp>
        <p:nvSpPr>
          <p:cNvPr id="85" name="Shape 83"/>
          <p:cNvSpPr/>
          <p:nvPr/>
        </p:nvSpPr>
        <p:spPr>
          <a:xfrm>
            <a:off x="6675120" y="4343400"/>
            <a:ext cx="18288" cy="18288"/>
          </a:xfrm>
          <a:prstGeom prst="ellipse">
            <a:avLst/>
          </a:prstGeom>
          <a:solidFill>
            <a:srgbClr val="22D3EE">
              <a:alpha val="12000"/>
            </a:srgbClr>
          </a:solidFill>
          <a:ln/>
        </p:spPr>
      </p:sp>
      <p:sp>
        <p:nvSpPr>
          <p:cNvPr id="86" name="Shape 84"/>
          <p:cNvSpPr/>
          <p:nvPr/>
        </p:nvSpPr>
        <p:spPr>
          <a:xfrm>
            <a:off x="7452360" y="4343400"/>
            <a:ext cx="18288" cy="18288"/>
          </a:xfrm>
          <a:prstGeom prst="ellipse">
            <a:avLst/>
          </a:prstGeom>
          <a:solidFill>
            <a:srgbClr val="22D3EE">
              <a:alpha val="12000"/>
            </a:srgbClr>
          </a:solidFill>
          <a:ln/>
        </p:spPr>
      </p:sp>
      <p:sp>
        <p:nvSpPr>
          <p:cNvPr id="87" name="Shape 85"/>
          <p:cNvSpPr/>
          <p:nvPr/>
        </p:nvSpPr>
        <p:spPr>
          <a:xfrm>
            <a:off x="8229600" y="4343400"/>
            <a:ext cx="18288" cy="18288"/>
          </a:xfrm>
          <a:prstGeom prst="ellipse">
            <a:avLst/>
          </a:prstGeom>
          <a:solidFill>
            <a:srgbClr val="22D3EE">
              <a:alpha val="12000"/>
            </a:srgbClr>
          </a:solidFill>
          <a:ln/>
        </p:spPr>
      </p:sp>
      <p:sp>
        <p:nvSpPr>
          <p:cNvPr id="88" name="Shape 86"/>
          <p:cNvSpPr/>
          <p:nvPr/>
        </p:nvSpPr>
        <p:spPr>
          <a:xfrm>
            <a:off x="9006840" y="4343400"/>
            <a:ext cx="18288" cy="18288"/>
          </a:xfrm>
          <a:prstGeom prst="ellipse">
            <a:avLst/>
          </a:prstGeom>
          <a:solidFill>
            <a:srgbClr val="22D3EE">
              <a:alpha val="12000"/>
            </a:srgbClr>
          </a:solidFill>
          <a:ln/>
        </p:spPr>
      </p:sp>
      <p:sp>
        <p:nvSpPr>
          <p:cNvPr id="89" name="Shape 87"/>
          <p:cNvSpPr/>
          <p:nvPr/>
        </p:nvSpPr>
        <p:spPr>
          <a:xfrm>
            <a:off x="9784080" y="4343400"/>
            <a:ext cx="18288" cy="18288"/>
          </a:xfrm>
          <a:prstGeom prst="ellipse">
            <a:avLst/>
          </a:prstGeom>
          <a:solidFill>
            <a:srgbClr val="22D3EE">
              <a:alpha val="12000"/>
            </a:srgbClr>
          </a:solidFill>
          <a:ln/>
        </p:spPr>
      </p:sp>
      <p:sp>
        <p:nvSpPr>
          <p:cNvPr id="90" name="Shape 88"/>
          <p:cNvSpPr/>
          <p:nvPr/>
        </p:nvSpPr>
        <p:spPr>
          <a:xfrm>
            <a:off x="10561320" y="4343400"/>
            <a:ext cx="18288" cy="18288"/>
          </a:xfrm>
          <a:prstGeom prst="ellipse">
            <a:avLst/>
          </a:prstGeom>
          <a:solidFill>
            <a:srgbClr val="22D3EE">
              <a:alpha val="12000"/>
            </a:srgbClr>
          </a:solidFill>
          <a:ln/>
        </p:spPr>
      </p:sp>
      <p:sp>
        <p:nvSpPr>
          <p:cNvPr id="91" name="Shape 89"/>
          <p:cNvSpPr/>
          <p:nvPr/>
        </p:nvSpPr>
        <p:spPr>
          <a:xfrm>
            <a:off x="11338560" y="4343400"/>
            <a:ext cx="18288" cy="18288"/>
          </a:xfrm>
          <a:prstGeom prst="ellipse">
            <a:avLst/>
          </a:prstGeom>
          <a:solidFill>
            <a:srgbClr val="22D3EE">
              <a:alpha val="12000"/>
            </a:srgbClr>
          </a:solidFill>
          <a:ln/>
        </p:spPr>
      </p:sp>
      <p:sp>
        <p:nvSpPr>
          <p:cNvPr id="92" name="Shape 90"/>
          <p:cNvSpPr/>
          <p:nvPr/>
        </p:nvSpPr>
        <p:spPr>
          <a:xfrm>
            <a:off x="457200" y="5120640"/>
            <a:ext cx="18288" cy="18288"/>
          </a:xfrm>
          <a:prstGeom prst="ellipse">
            <a:avLst/>
          </a:prstGeom>
          <a:solidFill>
            <a:srgbClr val="22D3EE">
              <a:alpha val="12000"/>
            </a:srgbClr>
          </a:solidFill>
          <a:ln/>
        </p:spPr>
      </p:sp>
      <p:sp>
        <p:nvSpPr>
          <p:cNvPr id="93" name="Shape 91"/>
          <p:cNvSpPr/>
          <p:nvPr/>
        </p:nvSpPr>
        <p:spPr>
          <a:xfrm>
            <a:off x="1234440" y="5120640"/>
            <a:ext cx="18288" cy="18288"/>
          </a:xfrm>
          <a:prstGeom prst="ellipse">
            <a:avLst/>
          </a:prstGeom>
          <a:solidFill>
            <a:srgbClr val="22D3EE">
              <a:alpha val="12000"/>
            </a:srgbClr>
          </a:solidFill>
          <a:ln/>
        </p:spPr>
      </p:sp>
      <p:sp>
        <p:nvSpPr>
          <p:cNvPr id="94" name="Shape 92"/>
          <p:cNvSpPr/>
          <p:nvPr/>
        </p:nvSpPr>
        <p:spPr>
          <a:xfrm>
            <a:off x="2011680" y="5120640"/>
            <a:ext cx="18288" cy="18288"/>
          </a:xfrm>
          <a:prstGeom prst="ellipse">
            <a:avLst/>
          </a:prstGeom>
          <a:solidFill>
            <a:srgbClr val="22D3EE">
              <a:alpha val="12000"/>
            </a:srgbClr>
          </a:solidFill>
          <a:ln/>
        </p:spPr>
      </p:sp>
      <p:sp>
        <p:nvSpPr>
          <p:cNvPr id="95" name="Shape 93"/>
          <p:cNvSpPr/>
          <p:nvPr/>
        </p:nvSpPr>
        <p:spPr>
          <a:xfrm>
            <a:off x="2788920" y="5120640"/>
            <a:ext cx="18288" cy="18288"/>
          </a:xfrm>
          <a:prstGeom prst="ellipse">
            <a:avLst/>
          </a:prstGeom>
          <a:solidFill>
            <a:srgbClr val="22D3EE">
              <a:alpha val="12000"/>
            </a:srgbClr>
          </a:solidFill>
          <a:ln/>
        </p:spPr>
      </p:sp>
      <p:sp>
        <p:nvSpPr>
          <p:cNvPr id="96" name="Shape 94"/>
          <p:cNvSpPr/>
          <p:nvPr/>
        </p:nvSpPr>
        <p:spPr>
          <a:xfrm>
            <a:off x="3566160" y="5120640"/>
            <a:ext cx="18288" cy="18288"/>
          </a:xfrm>
          <a:prstGeom prst="ellipse">
            <a:avLst/>
          </a:prstGeom>
          <a:solidFill>
            <a:srgbClr val="22D3EE">
              <a:alpha val="12000"/>
            </a:srgbClr>
          </a:solidFill>
          <a:ln/>
        </p:spPr>
      </p:sp>
      <p:sp>
        <p:nvSpPr>
          <p:cNvPr id="97" name="Shape 95"/>
          <p:cNvSpPr/>
          <p:nvPr/>
        </p:nvSpPr>
        <p:spPr>
          <a:xfrm>
            <a:off x="4343400" y="5120640"/>
            <a:ext cx="18288" cy="18288"/>
          </a:xfrm>
          <a:prstGeom prst="ellipse">
            <a:avLst/>
          </a:prstGeom>
          <a:solidFill>
            <a:srgbClr val="22D3EE">
              <a:alpha val="12000"/>
            </a:srgbClr>
          </a:solidFill>
          <a:ln/>
        </p:spPr>
      </p:sp>
      <p:sp>
        <p:nvSpPr>
          <p:cNvPr id="98" name="Shape 96"/>
          <p:cNvSpPr/>
          <p:nvPr/>
        </p:nvSpPr>
        <p:spPr>
          <a:xfrm>
            <a:off x="5120640" y="5120640"/>
            <a:ext cx="18288" cy="18288"/>
          </a:xfrm>
          <a:prstGeom prst="ellipse">
            <a:avLst/>
          </a:prstGeom>
          <a:solidFill>
            <a:srgbClr val="22D3EE">
              <a:alpha val="12000"/>
            </a:srgbClr>
          </a:solidFill>
          <a:ln/>
        </p:spPr>
      </p:sp>
      <p:sp>
        <p:nvSpPr>
          <p:cNvPr id="99" name="Shape 97"/>
          <p:cNvSpPr/>
          <p:nvPr/>
        </p:nvSpPr>
        <p:spPr>
          <a:xfrm>
            <a:off x="5897880" y="5120640"/>
            <a:ext cx="18288" cy="18288"/>
          </a:xfrm>
          <a:prstGeom prst="ellipse">
            <a:avLst/>
          </a:prstGeom>
          <a:solidFill>
            <a:srgbClr val="22D3EE">
              <a:alpha val="12000"/>
            </a:srgbClr>
          </a:solidFill>
          <a:ln/>
        </p:spPr>
      </p:sp>
      <p:sp>
        <p:nvSpPr>
          <p:cNvPr id="100" name="Shape 98"/>
          <p:cNvSpPr/>
          <p:nvPr/>
        </p:nvSpPr>
        <p:spPr>
          <a:xfrm>
            <a:off x="6675120" y="5120640"/>
            <a:ext cx="18288" cy="18288"/>
          </a:xfrm>
          <a:prstGeom prst="ellipse">
            <a:avLst/>
          </a:prstGeom>
          <a:solidFill>
            <a:srgbClr val="22D3EE">
              <a:alpha val="12000"/>
            </a:srgbClr>
          </a:solidFill>
          <a:ln/>
        </p:spPr>
      </p:sp>
      <p:sp>
        <p:nvSpPr>
          <p:cNvPr id="101" name="Shape 99"/>
          <p:cNvSpPr/>
          <p:nvPr/>
        </p:nvSpPr>
        <p:spPr>
          <a:xfrm>
            <a:off x="7452360" y="5120640"/>
            <a:ext cx="18288" cy="18288"/>
          </a:xfrm>
          <a:prstGeom prst="ellipse">
            <a:avLst/>
          </a:prstGeom>
          <a:solidFill>
            <a:srgbClr val="22D3EE">
              <a:alpha val="12000"/>
            </a:srgbClr>
          </a:solidFill>
          <a:ln/>
        </p:spPr>
      </p:sp>
      <p:sp>
        <p:nvSpPr>
          <p:cNvPr id="102" name="Shape 100"/>
          <p:cNvSpPr/>
          <p:nvPr/>
        </p:nvSpPr>
        <p:spPr>
          <a:xfrm>
            <a:off x="8229600" y="5120640"/>
            <a:ext cx="18288" cy="18288"/>
          </a:xfrm>
          <a:prstGeom prst="ellipse">
            <a:avLst/>
          </a:prstGeom>
          <a:solidFill>
            <a:srgbClr val="22D3EE">
              <a:alpha val="12000"/>
            </a:srgbClr>
          </a:solidFill>
          <a:ln/>
        </p:spPr>
      </p:sp>
      <p:sp>
        <p:nvSpPr>
          <p:cNvPr id="103" name="Shape 101"/>
          <p:cNvSpPr/>
          <p:nvPr/>
        </p:nvSpPr>
        <p:spPr>
          <a:xfrm>
            <a:off x="9006840" y="5120640"/>
            <a:ext cx="18288" cy="18288"/>
          </a:xfrm>
          <a:prstGeom prst="ellipse">
            <a:avLst/>
          </a:prstGeom>
          <a:solidFill>
            <a:srgbClr val="22D3EE">
              <a:alpha val="12000"/>
            </a:srgbClr>
          </a:solidFill>
          <a:ln/>
        </p:spPr>
      </p:sp>
      <p:sp>
        <p:nvSpPr>
          <p:cNvPr id="104" name="Shape 102"/>
          <p:cNvSpPr/>
          <p:nvPr/>
        </p:nvSpPr>
        <p:spPr>
          <a:xfrm>
            <a:off x="9784080" y="5120640"/>
            <a:ext cx="18288" cy="18288"/>
          </a:xfrm>
          <a:prstGeom prst="ellipse">
            <a:avLst/>
          </a:prstGeom>
          <a:solidFill>
            <a:srgbClr val="22D3EE">
              <a:alpha val="12000"/>
            </a:srgbClr>
          </a:solidFill>
          <a:ln/>
        </p:spPr>
      </p:sp>
      <p:sp>
        <p:nvSpPr>
          <p:cNvPr id="105" name="Shape 103"/>
          <p:cNvSpPr/>
          <p:nvPr/>
        </p:nvSpPr>
        <p:spPr>
          <a:xfrm>
            <a:off x="10561320" y="5120640"/>
            <a:ext cx="18288" cy="18288"/>
          </a:xfrm>
          <a:prstGeom prst="ellipse">
            <a:avLst/>
          </a:prstGeom>
          <a:solidFill>
            <a:srgbClr val="22D3EE">
              <a:alpha val="12000"/>
            </a:srgbClr>
          </a:solidFill>
          <a:ln/>
        </p:spPr>
      </p:sp>
      <p:sp>
        <p:nvSpPr>
          <p:cNvPr id="106" name="Shape 104"/>
          <p:cNvSpPr/>
          <p:nvPr/>
        </p:nvSpPr>
        <p:spPr>
          <a:xfrm>
            <a:off x="11338560" y="5120640"/>
            <a:ext cx="18288" cy="18288"/>
          </a:xfrm>
          <a:prstGeom prst="ellipse">
            <a:avLst/>
          </a:prstGeom>
          <a:solidFill>
            <a:srgbClr val="22D3EE">
              <a:alpha val="12000"/>
            </a:srgbClr>
          </a:solidFill>
          <a:ln/>
        </p:spPr>
      </p:sp>
      <p:sp>
        <p:nvSpPr>
          <p:cNvPr id="107" name="Shape 105"/>
          <p:cNvSpPr/>
          <p:nvPr/>
        </p:nvSpPr>
        <p:spPr>
          <a:xfrm>
            <a:off x="457200" y="5897880"/>
            <a:ext cx="18288" cy="18288"/>
          </a:xfrm>
          <a:prstGeom prst="ellipse">
            <a:avLst/>
          </a:prstGeom>
          <a:solidFill>
            <a:srgbClr val="22D3EE">
              <a:alpha val="12000"/>
            </a:srgbClr>
          </a:solidFill>
          <a:ln/>
        </p:spPr>
      </p:sp>
      <p:sp>
        <p:nvSpPr>
          <p:cNvPr id="108" name="Shape 106"/>
          <p:cNvSpPr/>
          <p:nvPr/>
        </p:nvSpPr>
        <p:spPr>
          <a:xfrm>
            <a:off x="1234440" y="5897880"/>
            <a:ext cx="18288" cy="18288"/>
          </a:xfrm>
          <a:prstGeom prst="ellipse">
            <a:avLst/>
          </a:prstGeom>
          <a:solidFill>
            <a:srgbClr val="22D3EE">
              <a:alpha val="12000"/>
            </a:srgbClr>
          </a:solidFill>
          <a:ln/>
        </p:spPr>
      </p:sp>
      <p:sp>
        <p:nvSpPr>
          <p:cNvPr id="109" name="Shape 107"/>
          <p:cNvSpPr/>
          <p:nvPr/>
        </p:nvSpPr>
        <p:spPr>
          <a:xfrm>
            <a:off x="2011680" y="5897880"/>
            <a:ext cx="18288" cy="18288"/>
          </a:xfrm>
          <a:prstGeom prst="ellipse">
            <a:avLst/>
          </a:prstGeom>
          <a:solidFill>
            <a:srgbClr val="22D3EE">
              <a:alpha val="12000"/>
            </a:srgbClr>
          </a:solidFill>
          <a:ln/>
        </p:spPr>
      </p:sp>
      <p:sp>
        <p:nvSpPr>
          <p:cNvPr id="110" name="Shape 108"/>
          <p:cNvSpPr/>
          <p:nvPr/>
        </p:nvSpPr>
        <p:spPr>
          <a:xfrm>
            <a:off x="2788920" y="5897880"/>
            <a:ext cx="18288" cy="18288"/>
          </a:xfrm>
          <a:prstGeom prst="ellipse">
            <a:avLst/>
          </a:prstGeom>
          <a:solidFill>
            <a:srgbClr val="22D3EE">
              <a:alpha val="12000"/>
            </a:srgbClr>
          </a:solidFill>
          <a:ln/>
        </p:spPr>
      </p:sp>
      <p:sp>
        <p:nvSpPr>
          <p:cNvPr id="111" name="Shape 109"/>
          <p:cNvSpPr/>
          <p:nvPr/>
        </p:nvSpPr>
        <p:spPr>
          <a:xfrm>
            <a:off x="3566160" y="5897880"/>
            <a:ext cx="18288" cy="18288"/>
          </a:xfrm>
          <a:prstGeom prst="ellipse">
            <a:avLst/>
          </a:prstGeom>
          <a:solidFill>
            <a:srgbClr val="22D3EE">
              <a:alpha val="12000"/>
            </a:srgbClr>
          </a:solidFill>
          <a:ln/>
        </p:spPr>
      </p:sp>
      <p:sp>
        <p:nvSpPr>
          <p:cNvPr id="112" name="Shape 110"/>
          <p:cNvSpPr/>
          <p:nvPr/>
        </p:nvSpPr>
        <p:spPr>
          <a:xfrm>
            <a:off x="4343400" y="5897880"/>
            <a:ext cx="18288" cy="18288"/>
          </a:xfrm>
          <a:prstGeom prst="ellipse">
            <a:avLst/>
          </a:prstGeom>
          <a:solidFill>
            <a:srgbClr val="22D3EE">
              <a:alpha val="12000"/>
            </a:srgbClr>
          </a:solidFill>
          <a:ln/>
        </p:spPr>
      </p:sp>
      <p:sp>
        <p:nvSpPr>
          <p:cNvPr id="113" name="Shape 111"/>
          <p:cNvSpPr/>
          <p:nvPr/>
        </p:nvSpPr>
        <p:spPr>
          <a:xfrm>
            <a:off x="5120640" y="5897880"/>
            <a:ext cx="18288" cy="18288"/>
          </a:xfrm>
          <a:prstGeom prst="ellipse">
            <a:avLst/>
          </a:prstGeom>
          <a:solidFill>
            <a:srgbClr val="22D3EE">
              <a:alpha val="12000"/>
            </a:srgbClr>
          </a:solidFill>
          <a:ln/>
        </p:spPr>
      </p:sp>
      <p:sp>
        <p:nvSpPr>
          <p:cNvPr id="114" name="Shape 112"/>
          <p:cNvSpPr/>
          <p:nvPr/>
        </p:nvSpPr>
        <p:spPr>
          <a:xfrm>
            <a:off x="5897880" y="5897880"/>
            <a:ext cx="18288" cy="18288"/>
          </a:xfrm>
          <a:prstGeom prst="ellipse">
            <a:avLst/>
          </a:prstGeom>
          <a:solidFill>
            <a:srgbClr val="22D3EE">
              <a:alpha val="12000"/>
            </a:srgbClr>
          </a:solidFill>
          <a:ln/>
        </p:spPr>
      </p:sp>
      <p:sp>
        <p:nvSpPr>
          <p:cNvPr id="115" name="Shape 113"/>
          <p:cNvSpPr/>
          <p:nvPr/>
        </p:nvSpPr>
        <p:spPr>
          <a:xfrm>
            <a:off x="6675120" y="5897880"/>
            <a:ext cx="18288" cy="18288"/>
          </a:xfrm>
          <a:prstGeom prst="ellipse">
            <a:avLst/>
          </a:prstGeom>
          <a:solidFill>
            <a:srgbClr val="22D3EE">
              <a:alpha val="12000"/>
            </a:srgbClr>
          </a:solidFill>
          <a:ln/>
        </p:spPr>
      </p:sp>
      <p:sp>
        <p:nvSpPr>
          <p:cNvPr id="116" name="Shape 114"/>
          <p:cNvSpPr/>
          <p:nvPr/>
        </p:nvSpPr>
        <p:spPr>
          <a:xfrm>
            <a:off x="7452360" y="5897880"/>
            <a:ext cx="18288" cy="18288"/>
          </a:xfrm>
          <a:prstGeom prst="ellipse">
            <a:avLst/>
          </a:prstGeom>
          <a:solidFill>
            <a:srgbClr val="22D3EE">
              <a:alpha val="12000"/>
            </a:srgbClr>
          </a:solidFill>
          <a:ln/>
        </p:spPr>
      </p:sp>
      <p:sp>
        <p:nvSpPr>
          <p:cNvPr id="117" name="Shape 115"/>
          <p:cNvSpPr/>
          <p:nvPr/>
        </p:nvSpPr>
        <p:spPr>
          <a:xfrm>
            <a:off x="8229600" y="5897880"/>
            <a:ext cx="18288" cy="18288"/>
          </a:xfrm>
          <a:prstGeom prst="ellipse">
            <a:avLst/>
          </a:prstGeom>
          <a:solidFill>
            <a:srgbClr val="22D3EE">
              <a:alpha val="12000"/>
            </a:srgbClr>
          </a:solidFill>
          <a:ln/>
        </p:spPr>
      </p:sp>
      <p:sp>
        <p:nvSpPr>
          <p:cNvPr id="118" name="Shape 116"/>
          <p:cNvSpPr/>
          <p:nvPr/>
        </p:nvSpPr>
        <p:spPr>
          <a:xfrm>
            <a:off x="9006840" y="5897880"/>
            <a:ext cx="18288" cy="18288"/>
          </a:xfrm>
          <a:prstGeom prst="ellipse">
            <a:avLst/>
          </a:prstGeom>
          <a:solidFill>
            <a:srgbClr val="22D3EE">
              <a:alpha val="12000"/>
            </a:srgbClr>
          </a:solidFill>
          <a:ln/>
        </p:spPr>
      </p:sp>
      <p:sp>
        <p:nvSpPr>
          <p:cNvPr id="119" name="Shape 117"/>
          <p:cNvSpPr/>
          <p:nvPr/>
        </p:nvSpPr>
        <p:spPr>
          <a:xfrm>
            <a:off x="9784080" y="5897880"/>
            <a:ext cx="18288" cy="18288"/>
          </a:xfrm>
          <a:prstGeom prst="ellipse">
            <a:avLst/>
          </a:prstGeom>
          <a:solidFill>
            <a:srgbClr val="22D3EE">
              <a:alpha val="12000"/>
            </a:srgbClr>
          </a:solidFill>
          <a:ln/>
        </p:spPr>
      </p:sp>
      <p:sp>
        <p:nvSpPr>
          <p:cNvPr id="120" name="Shape 118"/>
          <p:cNvSpPr/>
          <p:nvPr/>
        </p:nvSpPr>
        <p:spPr>
          <a:xfrm>
            <a:off x="10561320" y="5897880"/>
            <a:ext cx="18288" cy="18288"/>
          </a:xfrm>
          <a:prstGeom prst="ellipse">
            <a:avLst/>
          </a:prstGeom>
          <a:solidFill>
            <a:srgbClr val="22D3EE">
              <a:alpha val="12000"/>
            </a:srgbClr>
          </a:solidFill>
          <a:ln/>
        </p:spPr>
      </p:sp>
      <p:sp>
        <p:nvSpPr>
          <p:cNvPr id="121" name="Shape 119"/>
          <p:cNvSpPr/>
          <p:nvPr/>
        </p:nvSpPr>
        <p:spPr>
          <a:xfrm>
            <a:off x="11338560" y="5897880"/>
            <a:ext cx="18288" cy="18288"/>
          </a:xfrm>
          <a:prstGeom prst="ellipse">
            <a:avLst/>
          </a:prstGeom>
          <a:solidFill>
            <a:srgbClr val="22D3EE">
              <a:alpha val="12000"/>
            </a:srgbClr>
          </a:solidFill>
          <a:ln/>
        </p:spPr>
      </p:sp>
      <p:sp>
        <p:nvSpPr>
          <p:cNvPr id="122" name="Shape 120"/>
          <p:cNvSpPr/>
          <p:nvPr/>
        </p:nvSpPr>
        <p:spPr>
          <a:xfrm>
            <a:off x="457200" y="6675120"/>
            <a:ext cx="18288" cy="18288"/>
          </a:xfrm>
          <a:prstGeom prst="ellipse">
            <a:avLst/>
          </a:prstGeom>
          <a:solidFill>
            <a:srgbClr val="22D3EE">
              <a:alpha val="12000"/>
            </a:srgbClr>
          </a:solidFill>
          <a:ln/>
        </p:spPr>
      </p:sp>
      <p:sp>
        <p:nvSpPr>
          <p:cNvPr id="123" name="Shape 121"/>
          <p:cNvSpPr/>
          <p:nvPr/>
        </p:nvSpPr>
        <p:spPr>
          <a:xfrm>
            <a:off x="1234440" y="6675120"/>
            <a:ext cx="18288" cy="18288"/>
          </a:xfrm>
          <a:prstGeom prst="ellipse">
            <a:avLst/>
          </a:prstGeom>
          <a:solidFill>
            <a:srgbClr val="22D3EE">
              <a:alpha val="12000"/>
            </a:srgbClr>
          </a:solidFill>
          <a:ln/>
        </p:spPr>
      </p:sp>
      <p:sp>
        <p:nvSpPr>
          <p:cNvPr id="124" name="Shape 122"/>
          <p:cNvSpPr/>
          <p:nvPr/>
        </p:nvSpPr>
        <p:spPr>
          <a:xfrm>
            <a:off x="2011680" y="6675120"/>
            <a:ext cx="18288" cy="18288"/>
          </a:xfrm>
          <a:prstGeom prst="ellipse">
            <a:avLst/>
          </a:prstGeom>
          <a:solidFill>
            <a:srgbClr val="22D3EE">
              <a:alpha val="12000"/>
            </a:srgbClr>
          </a:solidFill>
          <a:ln/>
        </p:spPr>
      </p:sp>
      <p:sp>
        <p:nvSpPr>
          <p:cNvPr id="125" name="Shape 123"/>
          <p:cNvSpPr/>
          <p:nvPr/>
        </p:nvSpPr>
        <p:spPr>
          <a:xfrm>
            <a:off x="2788920" y="6675120"/>
            <a:ext cx="18288" cy="18288"/>
          </a:xfrm>
          <a:prstGeom prst="ellipse">
            <a:avLst/>
          </a:prstGeom>
          <a:solidFill>
            <a:srgbClr val="22D3EE">
              <a:alpha val="12000"/>
            </a:srgbClr>
          </a:solidFill>
          <a:ln/>
        </p:spPr>
      </p:sp>
      <p:sp>
        <p:nvSpPr>
          <p:cNvPr id="126" name="Shape 124"/>
          <p:cNvSpPr/>
          <p:nvPr/>
        </p:nvSpPr>
        <p:spPr>
          <a:xfrm>
            <a:off x="3566160" y="6675120"/>
            <a:ext cx="18288" cy="18288"/>
          </a:xfrm>
          <a:prstGeom prst="ellipse">
            <a:avLst/>
          </a:prstGeom>
          <a:solidFill>
            <a:srgbClr val="22D3EE">
              <a:alpha val="12000"/>
            </a:srgbClr>
          </a:solidFill>
          <a:ln/>
        </p:spPr>
      </p:sp>
      <p:sp>
        <p:nvSpPr>
          <p:cNvPr id="127" name="Shape 125"/>
          <p:cNvSpPr/>
          <p:nvPr/>
        </p:nvSpPr>
        <p:spPr>
          <a:xfrm>
            <a:off x="4343400" y="6675120"/>
            <a:ext cx="18288" cy="18288"/>
          </a:xfrm>
          <a:prstGeom prst="ellipse">
            <a:avLst/>
          </a:prstGeom>
          <a:solidFill>
            <a:srgbClr val="22D3EE">
              <a:alpha val="12000"/>
            </a:srgbClr>
          </a:solidFill>
          <a:ln/>
        </p:spPr>
      </p:sp>
      <p:sp>
        <p:nvSpPr>
          <p:cNvPr id="128" name="Shape 126"/>
          <p:cNvSpPr/>
          <p:nvPr/>
        </p:nvSpPr>
        <p:spPr>
          <a:xfrm>
            <a:off x="5120640" y="6675120"/>
            <a:ext cx="18288" cy="18288"/>
          </a:xfrm>
          <a:prstGeom prst="ellipse">
            <a:avLst/>
          </a:prstGeom>
          <a:solidFill>
            <a:srgbClr val="22D3EE">
              <a:alpha val="12000"/>
            </a:srgbClr>
          </a:solidFill>
          <a:ln/>
        </p:spPr>
      </p:sp>
      <p:sp>
        <p:nvSpPr>
          <p:cNvPr id="129" name="Shape 127"/>
          <p:cNvSpPr/>
          <p:nvPr/>
        </p:nvSpPr>
        <p:spPr>
          <a:xfrm>
            <a:off x="5897880" y="6675120"/>
            <a:ext cx="18288" cy="18288"/>
          </a:xfrm>
          <a:prstGeom prst="ellipse">
            <a:avLst/>
          </a:prstGeom>
          <a:solidFill>
            <a:srgbClr val="22D3EE">
              <a:alpha val="12000"/>
            </a:srgbClr>
          </a:solidFill>
          <a:ln/>
        </p:spPr>
      </p:sp>
      <p:sp>
        <p:nvSpPr>
          <p:cNvPr id="130" name="Shape 128"/>
          <p:cNvSpPr/>
          <p:nvPr/>
        </p:nvSpPr>
        <p:spPr>
          <a:xfrm>
            <a:off x="6675120" y="6675120"/>
            <a:ext cx="18288" cy="18288"/>
          </a:xfrm>
          <a:prstGeom prst="ellipse">
            <a:avLst/>
          </a:prstGeom>
          <a:solidFill>
            <a:srgbClr val="22D3EE">
              <a:alpha val="12000"/>
            </a:srgbClr>
          </a:solidFill>
          <a:ln/>
        </p:spPr>
      </p:sp>
      <p:sp>
        <p:nvSpPr>
          <p:cNvPr id="131" name="Shape 129"/>
          <p:cNvSpPr/>
          <p:nvPr/>
        </p:nvSpPr>
        <p:spPr>
          <a:xfrm>
            <a:off x="7452360" y="6675120"/>
            <a:ext cx="18288" cy="18288"/>
          </a:xfrm>
          <a:prstGeom prst="ellipse">
            <a:avLst/>
          </a:prstGeom>
          <a:solidFill>
            <a:srgbClr val="22D3EE">
              <a:alpha val="12000"/>
            </a:srgbClr>
          </a:solidFill>
          <a:ln/>
        </p:spPr>
      </p:sp>
      <p:sp>
        <p:nvSpPr>
          <p:cNvPr id="132" name="Shape 130"/>
          <p:cNvSpPr/>
          <p:nvPr/>
        </p:nvSpPr>
        <p:spPr>
          <a:xfrm>
            <a:off x="8229600" y="6675120"/>
            <a:ext cx="18288" cy="18288"/>
          </a:xfrm>
          <a:prstGeom prst="ellipse">
            <a:avLst/>
          </a:prstGeom>
          <a:solidFill>
            <a:srgbClr val="22D3EE">
              <a:alpha val="12000"/>
            </a:srgbClr>
          </a:solidFill>
          <a:ln/>
        </p:spPr>
      </p:sp>
      <p:sp>
        <p:nvSpPr>
          <p:cNvPr id="133" name="Shape 131"/>
          <p:cNvSpPr/>
          <p:nvPr/>
        </p:nvSpPr>
        <p:spPr>
          <a:xfrm>
            <a:off x="9006840" y="6675120"/>
            <a:ext cx="18288" cy="18288"/>
          </a:xfrm>
          <a:prstGeom prst="ellipse">
            <a:avLst/>
          </a:prstGeom>
          <a:solidFill>
            <a:srgbClr val="22D3EE">
              <a:alpha val="12000"/>
            </a:srgbClr>
          </a:solidFill>
          <a:ln/>
        </p:spPr>
      </p:sp>
      <p:sp>
        <p:nvSpPr>
          <p:cNvPr id="134" name="Shape 132"/>
          <p:cNvSpPr/>
          <p:nvPr/>
        </p:nvSpPr>
        <p:spPr>
          <a:xfrm>
            <a:off x="9784080" y="6675120"/>
            <a:ext cx="18288" cy="18288"/>
          </a:xfrm>
          <a:prstGeom prst="ellipse">
            <a:avLst/>
          </a:prstGeom>
          <a:solidFill>
            <a:srgbClr val="22D3EE">
              <a:alpha val="12000"/>
            </a:srgbClr>
          </a:solidFill>
          <a:ln/>
        </p:spPr>
      </p:sp>
      <p:sp>
        <p:nvSpPr>
          <p:cNvPr id="135" name="Shape 133"/>
          <p:cNvSpPr/>
          <p:nvPr/>
        </p:nvSpPr>
        <p:spPr>
          <a:xfrm>
            <a:off x="10561320" y="6675120"/>
            <a:ext cx="18288" cy="18288"/>
          </a:xfrm>
          <a:prstGeom prst="ellipse">
            <a:avLst/>
          </a:prstGeom>
          <a:solidFill>
            <a:srgbClr val="22D3EE">
              <a:alpha val="12000"/>
            </a:srgbClr>
          </a:solidFill>
          <a:ln/>
        </p:spPr>
      </p:sp>
      <p:sp>
        <p:nvSpPr>
          <p:cNvPr id="136" name="Shape 134"/>
          <p:cNvSpPr/>
          <p:nvPr/>
        </p:nvSpPr>
        <p:spPr>
          <a:xfrm>
            <a:off x="11338560" y="6675120"/>
            <a:ext cx="18288" cy="18288"/>
          </a:xfrm>
          <a:prstGeom prst="ellipse">
            <a:avLst/>
          </a:prstGeom>
          <a:solidFill>
            <a:srgbClr val="22D3EE">
              <a:alpha val="12000"/>
            </a:srgbClr>
          </a:solidFill>
          <a:ln/>
        </p:spPr>
      </p:sp>
      <p:sp>
        <p:nvSpPr>
          <p:cNvPr id="137" name="Text 135"/>
          <p:cNvSpPr/>
          <p:nvPr/>
        </p:nvSpPr>
        <p:spPr>
          <a:xfrm>
            <a:off x="548640" y="548640"/>
            <a:ext cx="7315200" cy="320040"/>
          </a:xfrm>
          <a:prstGeom prst="rect">
            <a:avLst/>
          </a:prstGeom>
          <a:noFill/>
          <a:ln/>
        </p:spPr>
        <p:txBody>
          <a:bodyPr wrap="square" lIns="0" tIns="0" rIns="0" bIns="0" rtlCol="0" anchor="ctr"/>
          <a:lstStyle/>
          <a:p>
            <a:pPr marL="0" indent="0">
              <a:buNone/>
            </a:pPr>
            <a:r>
              <a:rPr lang="en-US" sz="1200" b="1" kern="0" spc="200" dirty="0">
                <a:solidFill>
                  <a:srgbClr val="22D3EE"/>
                </a:solidFill>
                <a:latin typeface="Arial" pitchFamily="34" charset="0"/>
                <a:ea typeface="Arial" pitchFamily="34" charset="-122"/>
                <a:cs typeface="Arial" pitchFamily="34" charset="-120"/>
              </a:rPr>
              <a:t>BEFORE YOU GO</a:t>
            </a:r>
            <a:endParaRPr lang="en-US" sz="1200" dirty="0"/>
          </a:p>
        </p:txBody>
      </p:sp>
      <p:sp>
        <p:nvSpPr>
          <p:cNvPr id="138" name="Text 136"/>
          <p:cNvSpPr/>
          <p:nvPr/>
        </p:nvSpPr>
        <p:spPr>
          <a:xfrm>
            <a:off x="548640" y="868680"/>
            <a:ext cx="10789920" cy="685800"/>
          </a:xfrm>
          <a:prstGeom prst="rect">
            <a:avLst/>
          </a:prstGeom>
          <a:noFill/>
          <a:ln/>
        </p:spPr>
        <p:txBody>
          <a:bodyPr wrap="square" lIns="0" tIns="0" rIns="0" bIns="0" rtlCol="0" anchor="ctr"/>
          <a:lstStyle/>
          <a:p>
            <a:pPr marL="0" indent="0">
              <a:buNone/>
            </a:pPr>
            <a:r>
              <a:rPr lang="en-US" sz="3200" b="1" dirty="0">
                <a:solidFill>
                  <a:srgbClr val="FFFFFF"/>
                </a:solidFill>
                <a:latin typeface="Arial" pitchFamily="34" charset="0"/>
                <a:ea typeface="Arial" pitchFamily="34" charset="-122"/>
                <a:cs typeface="Arial" pitchFamily="34" charset="-120"/>
              </a:rPr>
              <a:t>Key Takeaways</a:t>
            </a:r>
            <a:endParaRPr lang="en-US" sz="3200" dirty="0"/>
          </a:p>
        </p:txBody>
      </p:sp>
      <p:sp>
        <p:nvSpPr>
          <p:cNvPr id="139" name="Shape 137"/>
          <p:cNvSpPr/>
          <p:nvPr/>
        </p:nvSpPr>
        <p:spPr>
          <a:xfrm>
            <a:off x="548640" y="2286000"/>
            <a:ext cx="2606040" cy="2743200"/>
          </a:xfrm>
          <a:prstGeom prst="roundRect">
            <a:avLst>
              <a:gd name="adj" fmla="val 3509"/>
            </a:avLst>
          </a:prstGeom>
          <a:solidFill>
            <a:srgbClr val="10233F"/>
          </a:solidFill>
          <a:ln w="12700">
            <a:solidFill>
              <a:srgbClr val="22D3EE"/>
            </a:solidFill>
            <a:prstDash val="solid"/>
          </a:ln>
        </p:spPr>
      </p:sp>
      <p:sp>
        <p:nvSpPr>
          <p:cNvPr id="140" name="Shape 138"/>
          <p:cNvSpPr/>
          <p:nvPr/>
        </p:nvSpPr>
        <p:spPr>
          <a:xfrm>
            <a:off x="1531620" y="2606040"/>
            <a:ext cx="640080" cy="640080"/>
          </a:xfrm>
          <a:prstGeom prst="ellipse">
            <a:avLst/>
          </a:prstGeom>
          <a:solidFill>
            <a:srgbClr val="132A4C"/>
          </a:solidFill>
          <a:ln w="15875">
            <a:solidFill>
              <a:srgbClr val="22D3EE"/>
            </a:solidFill>
            <a:prstDash val="solid"/>
          </a:ln>
        </p:spPr>
      </p:sp>
      <p:pic>
        <p:nvPicPr>
          <p:cNvPr id="141" name="Image 0" descr="/home/claude/phishing/icons/xoctagon.png"/>
          <p:cNvPicPr>
            <a:picLocks noChangeAspect="1"/>
          </p:cNvPicPr>
          <p:nvPr/>
        </p:nvPicPr>
        <p:blipFill>
          <a:blip r:embed="rId3"/>
          <a:stretch>
            <a:fillRect/>
          </a:stretch>
        </p:blipFill>
        <p:spPr>
          <a:xfrm>
            <a:off x="1668780" y="2743200"/>
            <a:ext cx="365760" cy="365760"/>
          </a:xfrm>
          <a:prstGeom prst="rect">
            <a:avLst/>
          </a:prstGeom>
        </p:spPr>
      </p:pic>
      <p:sp>
        <p:nvSpPr>
          <p:cNvPr id="142" name="Text 139"/>
          <p:cNvSpPr/>
          <p:nvPr/>
        </p:nvSpPr>
        <p:spPr>
          <a:xfrm>
            <a:off x="640080" y="3474720"/>
            <a:ext cx="2423160" cy="457200"/>
          </a:xfrm>
          <a:prstGeom prst="rect">
            <a:avLst/>
          </a:prstGeom>
          <a:noFill/>
          <a:ln/>
        </p:spPr>
        <p:txBody>
          <a:bodyPr wrap="square" lIns="0" tIns="0" rIns="0" bIns="0" rtlCol="0" anchor="ctr"/>
          <a:lstStyle/>
          <a:p>
            <a:pPr marL="0" indent="0" algn="ctr">
              <a:buNone/>
            </a:pPr>
            <a:r>
              <a:rPr lang="en-US" sz="1900" b="1" kern="0" spc="200" dirty="0">
                <a:solidFill>
                  <a:srgbClr val="22D3EE"/>
                </a:solidFill>
                <a:latin typeface="Arial" pitchFamily="34" charset="0"/>
                <a:ea typeface="Arial" pitchFamily="34" charset="-122"/>
                <a:cs typeface="Arial" pitchFamily="34" charset="-120"/>
              </a:rPr>
              <a:t>STOP</a:t>
            </a:r>
            <a:endParaRPr lang="en-US" sz="1900" dirty="0"/>
          </a:p>
        </p:txBody>
      </p:sp>
      <p:sp>
        <p:nvSpPr>
          <p:cNvPr id="143" name="Text 140"/>
          <p:cNvSpPr/>
          <p:nvPr/>
        </p:nvSpPr>
        <p:spPr>
          <a:xfrm>
            <a:off x="731520" y="3977640"/>
            <a:ext cx="2240280" cy="914400"/>
          </a:xfrm>
          <a:prstGeom prst="rect">
            <a:avLst/>
          </a:prstGeom>
          <a:noFill/>
          <a:ln/>
        </p:spPr>
        <p:txBody>
          <a:bodyPr wrap="square" lIns="0" tIns="0" rIns="0" bIns="0" rtlCol="0" anchor="ctr"/>
          <a:lstStyle/>
          <a:p>
            <a:pPr marL="0" indent="0" algn="ctr">
              <a:buNone/>
            </a:pPr>
            <a:r>
              <a:rPr lang="en-US" sz="1050" dirty="0">
                <a:solidFill>
                  <a:srgbClr val="9FB3C8"/>
                </a:solidFill>
                <a:latin typeface="Calibri" pitchFamily="34" charset="0"/>
                <a:ea typeface="Calibri" pitchFamily="34" charset="-122"/>
                <a:cs typeface="Calibri" pitchFamily="34" charset="-120"/>
              </a:rPr>
              <a:t>Pause before you click, download, or reply</a:t>
            </a:r>
            <a:endParaRPr lang="en-US" sz="1050" dirty="0"/>
          </a:p>
        </p:txBody>
      </p:sp>
      <p:pic>
        <p:nvPicPr>
          <p:cNvPr id="144" name="Image 1" descr="/home/claude/phishing/icons/arrowright.png"/>
          <p:cNvPicPr>
            <a:picLocks noChangeAspect="1"/>
          </p:cNvPicPr>
          <p:nvPr/>
        </p:nvPicPr>
        <p:blipFill>
          <a:blip r:embed="rId4"/>
          <a:stretch>
            <a:fillRect/>
          </a:stretch>
        </p:blipFill>
        <p:spPr>
          <a:xfrm>
            <a:off x="3182112" y="3520440"/>
            <a:ext cx="292608" cy="292608"/>
          </a:xfrm>
          <a:prstGeom prst="rect">
            <a:avLst/>
          </a:prstGeom>
        </p:spPr>
      </p:pic>
      <p:sp>
        <p:nvSpPr>
          <p:cNvPr id="145" name="Shape 141"/>
          <p:cNvSpPr/>
          <p:nvPr/>
        </p:nvSpPr>
        <p:spPr>
          <a:xfrm>
            <a:off x="3374136" y="2286000"/>
            <a:ext cx="2606040" cy="2743200"/>
          </a:xfrm>
          <a:prstGeom prst="roundRect">
            <a:avLst>
              <a:gd name="adj" fmla="val 3509"/>
            </a:avLst>
          </a:prstGeom>
          <a:solidFill>
            <a:srgbClr val="10233F"/>
          </a:solidFill>
          <a:ln w="12700">
            <a:solidFill>
              <a:srgbClr val="22D3EE"/>
            </a:solidFill>
            <a:prstDash val="solid"/>
          </a:ln>
        </p:spPr>
      </p:sp>
      <p:sp>
        <p:nvSpPr>
          <p:cNvPr id="146" name="Shape 142"/>
          <p:cNvSpPr/>
          <p:nvPr/>
        </p:nvSpPr>
        <p:spPr>
          <a:xfrm>
            <a:off x="4357116" y="2606040"/>
            <a:ext cx="640080" cy="640080"/>
          </a:xfrm>
          <a:prstGeom prst="ellipse">
            <a:avLst/>
          </a:prstGeom>
          <a:solidFill>
            <a:srgbClr val="132A4C"/>
          </a:solidFill>
          <a:ln w="15875">
            <a:solidFill>
              <a:srgbClr val="22D3EE"/>
            </a:solidFill>
            <a:prstDash val="solid"/>
          </a:ln>
        </p:spPr>
      </p:sp>
      <p:pic>
        <p:nvPicPr>
          <p:cNvPr id="147" name="Image 2" descr="/home/claude/phishing/icons/helpcircle.png"/>
          <p:cNvPicPr>
            <a:picLocks noChangeAspect="1"/>
          </p:cNvPicPr>
          <p:nvPr/>
        </p:nvPicPr>
        <p:blipFill>
          <a:blip r:embed="rId5"/>
          <a:stretch>
            <a:fillRect/>
          </a:stretch>
        </p:blipFill>
        <p:spPr>
          <a:xfrm>
            <a:off x="4494276" y="2743200"/>
            <a:ext cx="365760" cy="365760"/>
          </a:xfrm>
          <a:prstGeom prst="rect">
            <a:avLst/>
          </a:prstGeom>
        </p:spPr>
      </p:pic>
      <p:sp>
        <p:nvSpPr>
          <p:cNvPr id="148" name="Text 143"/>
          <p:cNvSpPr/>
          <p:nvPr/>
        </p:nvSpPr>
        <p:spPr>
          <a:xfrm>
            <a:off x="3465576" y="3474720"/>
            <a:ext cx="2423160" cy="457200"/>
          </a:xfrm>
          <a:prstGeom prst="rect">
            <a:avLst/>
          </a:prstGeom>
          <a:noFill/>
          <a:ln/>
        </p:spPr>
        <p:txBody>
          <a:bodyPr wrap="square" lIns="0" tIns="0" rIns="0" bIns="0" rtlCol="0" anchor="ctr"/>
          <a:lstStyle/>
          <a:p>
            <a:pPr marL="0" indent="0" algn="ctr">
              <a:buNone/>
            </a:pPr>
            <a:r>
              <a:rPr lang="en-US" sz="1900" b="1" kern="0" spc="200" dirty="0">
                <a:solidFill>
                  <a:srgbClr val="22D3EE"/>
                </a:solidFill>
                <a:latin typeface="Arial" pitchFamily="34" charset="0"/>
                <a:ea typeface="Arial" pitchFamily="34" charset="-122"/>
                <a:cs typeface="Arial" pitchFamily="34" charset="-120"/>
              </a:rPr>
              <a:t>THINK</a:t>
            </a:r>
            <a:endParaRPr lang="en-US" sz="1900" dirty="0"/>
          </a:p>
        </p:txBody>
      </p:sp>
      <p:sp>
        <p:nvSpPr>
          <p:cNvPr id="149" name="Text 144"/>
          <p:cNvSpPr/>
          <p:nvPr/>
        </p:nvSpPr>
        <p:spPr>
          <a:xfrm>
            <a:off x="3557016" y="3977640"/>
            <a:ext cx="2240280" cy="914400"/>
          </a:xfrm>
          <a:prstGeom prst="rect">
            <a:avLst/>
          </a:prstGeom>
          <a:noFill/>
          <a:ln/>
        </p:spPr>
        <p:txBody>
          <a:bodyPr wrap="square" lIns="0" tIns="0" rIns="0" bIns="0" rtlCol="0" anchor="ctr"/>
          <a:lstStyle/>
          <a:p>
            <a:pPr marL="0" indent="0" algn="ctr">
              <a:buNone/>
            </a:pPr>
            <a:r>
              <a:rPr lang="en-US" sz="1050" dirty="0">
                <a:solidFill>
                  <a:srgbClr val="9FB3C8"/>
                </a:solidFill>
                <a:latin typeface="Calibri" pitchFamily="34" charset="0"/>
                <a:ea typeface="Calibri" pitchFamily="34" charset="-122"/>
                <a:cs typeface="Calibri" pitchFamily="34" charset="-120"/>
              </a:rPr>
              <a:t>Does this message make sense? Am I expecting it?</a:t>
            </a:r>
            <a:endParaRPr lang="en-US" sz="1050" dirty="0"/>
          </a:p>
        </p:txBody>
      </p:sp>
      <p:pic>
        <p:nvPicPr>
          <p:cNvPr id="150" name="Image 3" descr="/home/claude/phishing/icons/arrowright.png"/>
          <p:cNvPicPr>
            <a:picLocks noChangeAspect="1"/>
          </p:cNvPicPr>
          <p:nvPr/>
        </p:nvPicPr>
        <p:blipFill>
          <a:blip r:embed="rId4"/>
          <a:stretch>
            <a:fillRect/>
          </a:stretch>
        </p:blipFill>
        <p:spPr>
          <a:xfrm>
            <a:off x="6007608" y="3520440"/>
            <a:ext cx="292608" cy="292608"/>
          </a:xfrm>
          <a:prstGeom prst="rect">
            <a:avLst/>
          </a:prstGeom>
        </p:spPr>
      </p:pic>
      <p:sp>
        <p:nvSpPr>
          <p:cNvPr id="151" name="Shape 145"/>
          <p:cNvSpPr/>
          <p:nvPr/>
        </p:nvSpPr>
        <p:spPr>
          <a:xfrm>
            <a:off x="6199632" y="2286000"/>
            <a:ext cx="2606040" cy="2743200"/>
          </a:xfrm>
          <a:prstGeom prst="roundRect">
            <a:avLst>
              <a:gd name="adj" fmla="val 3509"/>
            </a:avLst>
          </a:prstGeom>
          <a:solidFill>
            <a:srgbClr val="10233F"/>
          </a:solidFill>
          <a:ln w="12700">
            <a:solidFill>
              <a:srgbClr val="22D3EE"/>
            </a:solidFill>
            <a:prstDash val="solid"/>
          </a:ln>
        </p:spPr>
      </p:sp>
      <p:sp>
        <p:nvSpPr>
          <p:cNvPr id="152" name="Shape 146"/>
          <p:cNvSpPr/>
          <p:nvPr/>
        </p:nvSpPr>
        <p:spPr>
          <a:xfrm>
            <a:off x="7182612" y="2606040"/>
            <a:ext cx="640080" cy="640080"/>
          </a:xfrm>
          <a:prstGeom prst="ellipse">
            <a:avLst/>
          </a:prstGeom>
          <a:solidFill>
            <a:srgbClr val="132A4C"/>
          </a:solidFill>
          <a:ln w="15875">
            <a:solidFill>
              <a:srgbClr val="22D3EE"/>
            </a:solidFill>
            <a:prstDash val="solid"/>
          </a:ln>
        </p:spPr>
      </p:sp>
      <p:pic>
        <p:nvPicPr>
          <p:cNvPr id="153" name="Image 4" descr="/home/claude/phishing/icons/checkcircle.png"/>
          <p:cNvPicPr>
            <a:picLocks noChangeAspect="1"/>
          </p:cNvPicPr>
          <p:nvPr/>
        </p:nvPicPr>
        <p:blipFill>
          <a:blip r:embed="rId6"/>
          <a:stretch>
            <a:fillRect/>
          </a:stretch>
        </p:blipFill>
        <p:spPr>
          <a:xfrm>
            <a:off x="7319772" y="2743200"/>
            <a:ext cx="365760" cy="365760"/>
          </a:xfrm>
          <a:prstGeom prst="rect">
            <a:avLst/>
          </a:prstGeom>
        </p:spPr>
      </p:pic>
      <p:sp>
        <p:nvSpPr>
          <p:cNvPr id="154" name="Text 147"/>
          <p:cNvSpPr/>
          <p:nvPr/>
        </p:nvSpPr>
        <p:spPr>
          <a:xfrm>
            <a:off x="6291072" y="3474720"/>
            <a:ext cx="2423160" cy="457200"/>
          </a:xfrm>
          <a:prstGeom prst="rect">
            <a:avLst/>
          </a:prstGeom>
          <a:noFill/>
          <a:ln/>
        </p:spPr>
        <p:txBody>
          <a:bodyPr wrap="square" lIns="0" tIns="0" rIns="0" bIns="0" rtlCol="0" anchor="ctr"/>
          <a:lstStyle/>
          <a:p>
            <a:pPr marL="0" indent="0" algn="ctr">
              <a:buNone/>
            </a:pPr>
            <a:r>
              <a:rPr lang="en-US" sz="1900" b="1" kern="0" spc="200" dirty="0">
                <a:solidFill>
                  <a:srgbClr val="22D3EE"/>
                </a:solidFill>
                <a:latin typeface="Arial" pitchFamily="34" charset="0"/>
                <a:ea typeface="Arial" pitchFamily="34" charset="-122"/>
                <a:cs typeface="Arial" pitchFamily="34" charset="-120"/>
              </a:rPr>
              <a:t>VERIFY</a:t>
            </a:r>
            <a:endParaRPr lang="en-US" sz="1900" dirty="0"/>
          </a:p>
        </p:txBody>
      </p:sp>
      <p:sp>
        <p:nvSpPr>
          <p:cNvPr id="155" name="Text 148"/>
          <p:cNvSpPr/>
          <p:nvPr/>
        </p:nvSpPr>
        <p:spPr>
          <a:xfrm>
            <a:off x="6382512" y="3977640"/>
            <a:ext cx="2240280" cy="914400"/>
          </a:xfrm>
          <a:prstGeom prst="rect">
            <a:avLst/>
          </a:prstGeom>
          <a:noFill/>
          <a:ln/>
        </p:spPr>
        <p:txBody>
          <a:bodyPr wrap="square" lIns="0" tIns="0" rIns="0" bIns="0" rtlCol="0" anchor="ctr"/>
          <a:lstStyle/>
          <a:p>
            <a:pPr marL="0" indent="0" algn="ctr">
              <a:buNone/>
            </a:pPr>
            <a:r>
              <a:rPr lang="en-US" sz="1050" dirty="0">
                <a:solidFill>
                  <a:srgbClr val="9FB3C8"/>
                </a:solidFill>
                <a:latin typeface="Calibri" pitchFamily="34" charset="0"/>
                <a:ea typeface="Calibri" pitchFamily="34" charset="-122"/>
                <a:cs typeface="Calibri" pitchFamily="34" charset="-120"/>
              </a:rPr>
              <a:t>Confirm through a separate, trusted channel</a:t>
            </a:r>
            <a:endParaRPr lang="en-US" sz="1050" dirty="0"/>
          </a:p>
        </p:txBody>
      </p:sp>
      <p:pic>
        <p:nvPicPr>
          <p:cNvPr id="156" name="Image 5" descr="/home/claude/phishing/icons/arrowright.png"/>
          <p:cNvPicPr>
            <a:picLocks noChangeAspect="1"/>
          </p:cNvPicPr>
          <p:nvPr/>
        </p:nvPicPr>
        <p:blipFill>
          <a:blip r:embed="rId4"/>
          <a:stretch>
            <a:fillRect/>
          </a:stretch>
        </p:blipFill>
        <p:spPr>
          <a:xfrm>
            <a:off x="8833104" y="3520440"/>
            <a:ext cx="292608" cy="292608"/>
          </a:xfrm>
          <a:prstGeom prst="rect">
            <a:avLst/>
          </a:prstGeom>
        </p:spPr>
      </p:pic>
      <p:sp>
        <p:nvSpPr>
          <p:cNvPr id="157" name="Shape 149"/>
          <p:cNvSpPr/>
          <p:nvPr/>
        </p:nvSpPr>
        <p:spPr>
          <a:xfrm>
            <a:off x="9025128" y="2286000"/>
            <a:ext cx="2606040" cy="2743200"/>
          </a:xfrm>
          <a:prstGeom prst="roundRect">
            <a:avLst>
              <a:gd name="adj" fmla="val 3509"/>
            </a:avLst>
          </a:prstGeom>
          <a:solidFill>
            <a:srgbClr val="10233F"/>
          </a:solidFill>
          <a:ln w="12700">
            <a:solidFill>
              <a:srgbClr val="22D3EE"/>
            </a:solidFill>
            <a:prstDash val="solid"/>
          </a:ln>
        </p:spPr>
      </p:sp>
      <p:sp>
        <p:nvSpPr>
          <p:cNvPr id="158" name="Shape 150"/>
          <p:cNvSpPr/>
          <p:nvPr/>
        </p:nvSpPr>
        <p:spPr>
          <a:xfrm>
            <a:off x="10008108" y="2606040"/>
            <a:ext cx="640080" cy="640080"/>
          </a:xfrm>
          <a:prstGeom prst="ellipse">
            <a:avLst/>
          </a:prstGeom>
          <a:solidFill>
            <a:srgbClr val="132A4C"/>
          </a:solidFill>
          <a:ln w="15875">
            <a:solidFill>
              <a:srgbClr val="22D3EE"/>
            </a:solidFill>
            <a:prstDash val="solid"/>
          </a:ln>
        </p:spPr>
      </p:sp>
      <p:pic>
        <p:nvPicPr>
          <p:cNvPr id="159" name="Image 6" descr="/home/claude/phishing/icons/flag.png"/>
          <p:cNvPicPr>
            <a:picLocks noChangeAspect="1"/>
          </p:cNvPicPr>
          <p:nvPr/>
        </p:nvPicPr>
        <p:blipFill>
          <a:blip r:embed="rId7"/>
          <a:stretch>
            <a:fillRect/>
          </a:stretch>
        </p:blipFill>
        <p:spPr>
          <a:xfrm>
            <a:off x="10145268" y="2743200"/>
            <a:ext cx="365760" cy="365760"/>
          </a:xfrm>
          <a:prstGeom prst="rect">
            <a:avLst/>
          </a:prstGeom>
        </p:spPr>
      </p:pic>
      <p:sp>
        <p:nvSpPr>
          <p:cNvPr id="160" name="Text 151"/>
          <p:cNvSpPr/>
          <p:nvPr/>
        </p:nvSpPr>
        <p:spPr>
          <a:xfrm>
            <a:off x="9116568" y="3474720"/>
            <a:ext cx="2423160" cy="457200"/>
          </a:xfrm>
          <a:prstGeom prst="rect">
            <a:avLst/>
          </a:prstGeom>
          <a:noFill/>
          <a:ln/>
        </p:spPr>
        <p:txBody>
          <a:bodyPr wrap="square" lIns="0" tIns="0" rIns="0" bIns="0" rtlCol="0" anchor="ctr"/>
          <a:lstStyle/>
          <a:p>
            <a:pPr marL="0" indent="0" algn="ctr">
              <a:buNone/>
            </a:pPr>
            <a:r>
              <a:rPr lang="en-US" sz="1900" b="1" kern="0" spc="200" dirty="0">
                <a:solidFill>
                  <a:srgbClr val="22D3EE"/>
                </a:solidFill>
                <a:latin typeface="Arial" pitchFamily="34" charset="0"/>
                <a:ea typeface="Arial" pitchFamily="34" charset="-122"/>
                <a:cs typeface="Arial" pitchFamily="34" charset="-120"/>
              </a:rPr>
              <a:t>REPORT</a:t>
            </a:r>
            <a:endParaRPr lang="en-US" sz="1900" dirty="0"/>
          </a:p>
        </p:txBody>
      </p:sp>
      <p:sp>
        <p:nvSpPr>
          <p:cNvPr id="161" name="Text 152"/>
          <p:cNvSpPr/>
          <p:nvPr/>
        </p:nvSpPr>
        <p:spPr>
          <a:xfrm>
            <a:off x="9208008" y="3977640"/>
            <a:ext cx="2240280" cy="914400"/>
          </a:xfrm>
          <a:prstGeom prst="rect">
            <a:avLst/>
          </a:prstGeom>
          <a:noFill/>
          <a:ln/>
        </p:spPr>
        <p:txBody>
          <a:bodyPr wrap="square" lIns="0" tIns="0" rIns="0" bIns="0" rtlCol="0" anchor="ctr"/>
          <a:lstStyle/>
          <a:p>
            <a:pPr marL="0" indent="0" algn="ctr">
              <a:buNone/>
            </a:pPr>
            <a:r>
              <a:rPr lang="en-US" sz="1050" dirty="0">
                <a:solidFill>
                  <a:srgbClr val="9FB3C8"/>
                </a:solidFill>
                <a:latin typeface="Calibri" pitchFamily="34" charset="0"/>
                <a:ea typeface="Calibri" pitchFamily="34" charset="-122"/>
                <a:cs typeface="Calibri" pitchFamily="34" charset="-120"/>
              </a:rPr>
              <a:t>Tell IT or security right away, every time</a:t>
            </a:r>
            <a:endParaRPr lang="en-US" sz="1050" dirty="0"/>
          </a:p>
        </p:txBody>
      </p:sp>
      <p:sp>
        <p:nvSpPr>
          <p:cNvPr id="162" name="Text 153"/>
          <p:cNvSpPr/>
          <p:nvPr/>
        </p:nvSpPr>
        <p:spPr>
          <a:xfrm>
            <a:off x="548640" y="5349240"/>
            <a:ext cx="11064240" cy="548640"/>
          </a:xfrm>
          <a:prstGeom prst="rect">
            <a:avLst/>
          </a:prstGeom>
          <a:noFill/>
          <a:ln/>
        </p:spPr>
        <p:txBody>
          <a:bodyPr wrap="square" lIns="0" tIns="0" rIns="0" bIns="0" rtlCol="0" anchor="ctr"/>
          <a:lstStyle/>
          <a:p>
            <a:pPr marL="0" indent="0" algn="ctr">
              <a:buNone/>
            </a:pPr>
            <a:r>
              <a:rPr lang="en-US" sz="1300" i="1" dirty="0">
                <a:solidFill>
                  <a:srgbClr val="9FB3C8"/>
                </a:solidFill>
                <a:latin typeface="Calibri" pitchFamily="34" charset="0"/>
                <a:ea typeface="Calibri" pitchFamily="34" charset="-122"/>
                <a:cs typeface="Calibri" pitchFamily="34" charset="-120"/>
              </a:rPr>
              <a:t>One good habit stops nearly every phishing attempt. You don't need to be a security expert — just a little suspicious.</a:t>
            </a:r>
            <a:endParaRPr lang="en-US" sz="1300" dirty="0"/>
          </a:p>
        </p:txBody>
      </p:sp>
      <p:sp>
        <p:nvSpPr>
          <p:cNvPr id="163" name="Text 154"/>
          <p:cNvSpPr/>
          <p:nvPr/>
        </p:nvSpPr>
        <p:spPr>
          <a:xfrm>
            <a:off x="11155680" y="6473952"/>
            <a:ext cx="822960" cy="274320"/>
          </a:xfrm>
          <a:prstGeom prst="rect">
            <a:avLst/>
          </a:prstGeom>
          <a:noFill/>
          <a:ln/>
        </p:spPr>
        <p:txBody>
          <a:bodyPr wrap="square" lIns="0" tIns="0" rIns="0" bIns="0" rtlCol="0" anchor="ctr"/>
          <a:lstStyle/>
          <a:p>
            <a:pPr marL="0" indent="0" algn="r">
              <a:buNone/>
            </a:pPr>
            <a:r>
              <a:rPr lang="en-US" sz="900" dirty="0">
                <a:solidFill>
                  <a:srgbClr val="9FB3C8"/>
                </a:solidFill>
                <a:latin typeface="Calibri" pitchFamily="34" charset="0"/>
                <a:ea typeface="Calibri" pitchFamily="34" charset="-122"/>
                <a:cs typeface="Calibri" pitchFamily="34" charset="-120"/>
              </a:rPr>
              <a:t>15 / 16</a:t>
            </a:r>
            <a:endParaRPr lang="en-US" sz="900" dirty="0"/>
          </a:p>
        </p:txBody>
      </p:sp>
      <p:sp>
        <p:nvSpPr>
          <p:cNvPr id="164" name="Text 155"/>
          <p:cNvSpPr/>
          <p:nvPr/>
        </p:nvSpPr>
        <p:spPr>
          <a:xfrm>
            <a:off x="548640" y="6473952"/>
            <a:ext cx="5486400" cy="274320"/>
          </a:xfrm>
          <a:prstGeom prst="rect">
            <a:avLst/>
          </a:prstGeom>
          <a:noFill/>
          <a:ln/>
        </p:spPr>
        <p:txBody>
          <a:bodyPr wrap="square" lIns="0" tIns="0" rIns="0" bIns="0" rtlCol="0" anchor="ctr"/>
          <a:lstStyle/>
          <a:p>
            <a:pPr marL="0" indent="0">
              <a:buNone/>
            </a:pPr>
            <a:r>
              <a:rPr lang="en-US" sz="900" kern="0" spc="100" dirty="0">
                <a:solidFill>
                  <a:srgbClr val="9FB3C8"/>
                </a:solidFill>
                <a:latin typeface="Calibri" pitchFamily="34" charset="0"/>
                <a:ea typeface="Calibri" pitchFamily="34" charset="-122"/>
                <a:cs typeface="Calibri" pitchFamily="34" charset="-120"/>
              </a:rPr>
              <a:t>PHISHING AWARENESS TRAINING</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6">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457200" y="457200"/>
            <a:ext cx="18288" cy="18288"/>
          </a:xfrm>
          <a:prstGeom prst="ellipse">
            <a:avLst/>
          </a:prstGeom>
          <a:solidFill>
            <a:srgbClr val="22D3EE">
              <a:alpha val="12000"/>
            </a:srgbClr>
          </a:solidFill>
          <a:ln/>
        </p:spPr>
      </p:sp>
      <p:sp>
        <p:nvSpPr>
          <p:cNvPr id="3" name="Shape 1"/>
          <p:cNvSpPr/>
          <p:nvPr/>
        </p:nvSpPr>
        <p:spPr>
          <a:xfrm>
            <a:off x="1234440" y="457200"/>
            <a:ext cx="18288" cy="18288"/>
          </a:xfrm>
          <a:prstGeom prst="ellipse">
            <a:avLst/>
          </a:prstGeom>
          <a:solidFill>
            <a:srgbClr val="22D3EE">
              <a:alpha val="12000"/>
            </a:srgbClr>
          </a:solidFill>
          <a:ln/>
        </p:spPr>
      </p:sp>
      <p:sp>
        <p:nvSpPr>
          <p:cNvPr id="4" name="Shape 2"/>
          <p:cNvSpPr/>
          <p:nvPr/>
        </p:nvSpPr>
        <p:spPr>
          <a:xfrm>
            <a:off x="2011680" y="457200"/>
            <a:ext cx="18288" cy="18288"/>
          </a:xfrm>
          <a:prstGeom prst="ellipse">
            <a:avLst/>
          </a:prstGeom>
          <a:solidFill>
            <a:srgbClr val="22D3EE">
              <a:alpha val="12000"/>
            </a:srgbClr>
          </a:solidFill>
          <a:ln/>
        </p:spPr>
      </p:sp>
      <p:sp>
        <p:nvSpPr>
          <p:cNvPr id="5" name="Shape 3"/>
          <p:cNvSpPr/>
          <p:nvPr/>
        </p:nvSpPr>
        <p:spPr>
          <a:xfrm>
            <a:off x="2788920" y="457200"/>
            <a:ext cx="18288" cy="18288"/>
          </a:xfrm>
          <a:prstGeom prst="ellipse">
            <a:avLst/>
          </a:prstGeom>
          <a:solidFill>
            <a:srgbClr val="22D3EE">
              <a:alpha val="12000"/>
            </a:srgbClr>
          </a:solidFill>
          <a:ln/>
        </p:spPr>
      </p:sp>
      <p:sp>
        <p:nvSpPr>
          <p:cNvPr id="6" name="Shape 4"/>
          <p:cNvSpPr/>
          <p:nvPr/>
        </p:nvSpPr>
        <p:spPr>
          <a:xfrm>
            <a:off x="3566160" y="457200"/>
            <a:ext cx="18288" cy="18288"/>
          </a:xfrm>
          <a:prstGeom prst="ellipse">
            <a:avLst/>
          </a:prstGeom>
          <a:solidFill>
            <a:srgbClr val="22D3EE">
              <a:alpha val="12000"/>
            </a:srgbClr>
          </a:solidFill>
          <a:ln/>
        </p:spPr>
      </p:sp>
      <p:sp>
        <p:nvSpPr>
          <p:cNvPr id="7" name="Shape 5"/>
          <p:cNvSpPr/>
          <p:nvPr/>
        </p:nvSpPr>
        <p:spPr>
          <a:xfrm>
            <a:off x="4343400" y="457200"/>
            <a:ext cx="18288" cy="18288"/>
          </a:xfrm>
          <a:prstGeom prst="ellipse">
            <a:avLst/>
          </a:prstGeom>
          <a:solidFill>
            <a:srgbClr val="22D3EE">
              <a:alpha val="12000"/>
            </a:srgbClr>
          </a:solidFill>
          <a:ln/>
        </p:spPr>
      </p:sp>
      <p:sp>
        <p:nvSpPr>
          <p:cNvPr id="8" name="Shape 6"/>
          <p:cNvSpPr/>
          <p:nvPr/>
        </p:nvSpPr>
        <p:spPr>
          <a:xfrm>
            <a:off x="5120640" y="457200"/>
            <a:ext cx="18288" cy="18288"/>
          </a:xfrm>
          <a:prstGeom prst="ellipse">
            <a:avLst/>
          </a:prstGeom>
          <a:solidFill>
            <a:srgbClr val="22D3EE">
              <a:alpha val="12000"/>
            </a:srgbClr>
          </a:solidFill>
          <a:ln/>
        </p:spPr>
      </p:sp>
      <p:sp>
        <p:nvSpPr>
          <p:cNvPr id="9" name="Shape 7"/>
          <p:cNvSpPr/>
          <p:nvPr/>
        </p:nvSpPr>
        <p:spPr>
          <a:xfrm>
            <a:off x="5897880" y="457200"/>
            <a:ext cx="18288" cy="18288"/>
          </a:xfrm>
          <a:prstGeom prst="ellipse">
            <a:avLst/>
          </a:prstGeom>
          <a:solidFill>
            <a:srgbClr val="22D3EE">
              <a:alpha val="12000"/>
            </a:srgbClr>
          </a:solidFill>
          <a:ln/>
        </p:spPr>
      </p:sp>
      <p:sp>
        <p:nvSpPr>
          <p:cNvPr id="10" name="Shape 8"/>
          <p:cNvSpPr/>
          <p:nvPr/>
        </p:nvSpPr>
        <p:spPr>
          <a:xfrm>
            <a:off x="6675120" y="457200"/>
            <a:ext cx="18288" cy="18288"/>
          </a:xfrm>
          <a:prstGeom prst="ellipse">
            <a:avLst/>
          </a:prstGeom>
          <a:solidFill>
            <a:srgbClr val="22D3EE">
              <a:alpha val="12000"/>
            </a:srgbClr>
          </a:solidFill>
          <a:ln/>
        </p:spPr>
      </p:sp>
      <p:sp>
        <p:nvSpPr>
          <p:cNvPr id="11" name="Shape 9"/>
          <p:cNvSpPr/>
          <p:nvPr/>
        </p:nvSpPr>
        <p:spPr>
          <a:xfrm>
            <a:off x="7452360" y="457200"/>
            <a:ext cx="18288" cy="18288"/>
          </a:xfrm>
          <a:prstGeom prst="ellipse">
            <a:avLst/>
          </a:prstGeom>
          <a:solidFill>
            <a:srgbClr val="22D3EE">
              <a:alpha val="12000"/>
            </a:srgbClr>
          </a:solidFill>
          <a:ln/>
        </p:spPr>
      </p:sp>
      <p:sp>
        <p:nvSpPr>
          <p:cNvPr id="12" name="Shape 10"/>
          <p:cNvSpPr/>
          <p:nvPr/>
        </p:nvSpPr>
        <p:spPr>
          <a:xfrm>
            <a:off x="8229600" y="457200"/>
            <a:ext cx="18288" cy="18288"/>
          </a:xfrm>
          <a:prstGeom prst="ellipse">
            <a:avLst/>
          </a:prstGeom>
          <a:solidFill>
            <a:srgbClr val="22D3EE">
              <a:alpha val="12000"/>
            </a:srgbClr>
          </a:solidFill>
          <a:ln/>
        </p:spPr>
      </p:sp>
      <p:sp>
        <p:nvSpPr>
          <p:cNvPr id="13" name="Shape 11"/>
          <p:cNvSpPr/>
          <p:nvPr/>
        </p:nvSpPr>
        <p:spPr>
          <a:xfrm>
            <a:off x="9006840" y="457200"/>
            <a:ext cx="18288" cy="18288"/>
          </a:xfrm>
          <a:prstGeom prst="ellipse">
            <a:avLst/>
          </a:prstGeom>
          <a:solidFill>
            <a:srgbClr val="22D3EE">
              <a:alpha val="12000"/>
            </a:srgbClr>
          </a:solidFill>
          <a:ln/>
        </p:spPr>
      </p:sp>
      <p:sp>
        <p:nvSpPr>
          <p:cNvPr id="14" name="Shape 12"/>
          <p:cNvSpPr/>
          <p:nvPr/>
        </p:nvSpPr>
        <p:spPr>
          <a:xfrm>
            <a:off x="9784080" y="457200"/>
            <a:ext cx="18288" cy="18288"/>
          </a:xfrm>
          <a:prstGeom prst="ellipse">
            <a:avLst/>
          </a:prstGeom>
          <a:solidFill>
            <a:srgbClr val="22D3EE">
              <a:alpha val="12000"/>
            </a:srgbClr>
          </a:solidFill>
          <a:ln/>
        </p:spPr>
      </p:sp>
      <p:sp>
        <p:nvSpPr>
          <p:cNvPr id="15" name="Shape 13"/>
          <p:cNvSpPr/>
          <p:nvPr/>
        </p:nvSpPr>
        <p:spPr>
          <a:xfrm>
            <a:off x="10561320" y="457200"/>
            <a:ext cx="18288" cy="18288"/>
          </a:xfrm>
          <a:prstGeom prst="ellipse">
            <a:avLst/>
          </a:prstGeom>
          <a:solidFill>
            <a:srgbClr val="22D3EE">
              <a:alpha val="12000"/>
            </a:srgbClr>
          </a:solidFill>
          <a:ln/>
        </p:spPr>
      </p:sp>
      <p:sp>
        <p:nvSpPr>
          <p:cNvPr id="16" name="Shape 14"/>
          <p:cNvSpPr/>
          <p:nvPr/>
        </p:nvSpPr>
        <p:spPr>
          <a:xfrm>
            <a:off x="11338560" y="457200"/>
            <a:ext cx="18288" cy="18288"/>
          </a:xfrm>
          <a:prstGeom prst="ellipse">
            <a:avLst/>
          </a:prstGeom>
          <a:solidFill>
            <a:srgbClr val="22D3EE">
              <a:alpha val="12000"/>
            </a:srgbClr>
          </a:solidFill>
          <a:ln/>
        </p:spPr>
      </p:sp>
      <p:sp>
        <p:nvSpPr>
          <p:cNvPr id="17" name="Shape 15"/>
          <p:cNvSpPr/>
          <p:nvPr/>
        </p:nvSpPr>
        <p:spPr>
          <a:xfrm>
            <a:off x="457200" y="1234440"/>
            <a:ext cx="18288" cy="18288"/>
          </a:xfrm>
          <a:prstGeom prst="ellipse">
            <a:avLst/>
          </a:prstGeom>
          <a:solidFill>
            <a:srgbClr val="22D3EE">
              <a:alpha val="12000"/>
            </a:srgbClr>
          </a:solidFill>
          <a:ln/>
        </p:spPr>
      </p:sp>
      <p:sp>
        <p:nvSpPr>
          <p:cNvPr id="18" name="Shape 16"/>
          <p:cNvSpPr/>
          <p:nvPr/>
        </p:nvSpPr>
        <p:spPr>
          <a:xfrm>
            <a:off x="1234440" y="1234440"/>
            <a:ext cx="18288" cy="18288"/>
          </a:xfrm>
          <a:prstGeom prst="ellipse">
            <a:avLst/>
          </a:prstGeom>
          <a:solidFill>
            <a:srgbClr val="22D3EE">
              <a:alpha val="12000"/>
            </a:srgbClr>
          </a:solidFill>
          <a:ln/>
        </p:spPr>
      </p:sp>
      <p:sp>
        <p:nvSpPr>
          <p:cNvPr id="19" name="Shape 17"/>
          <p:cNvSpPr/>
          <p:nvPr/>
        </p:nvSpPr>
        <p:spPr>
          <a:xfrm>
            <a:off x="2011680" y="1234440"/>
            <a:ext cx="18288" cy="18288"/>
          </a:xfrm>
          <a:prstGeom prst="ellipse">
            <a:avLst/>
          </a:prstGeom>
          <a:solidFill>
            <a:srgbClr val="22D3EE">
              <a:alpha val="12000"/>
            </a:srgbClr>
          </a:solidFill>
          <a:ln/>
        </p:spPr>
      </p:sp>
      <p:sp>
        <p:nvSpPr>
          <p:cNvPr id="20" name="Shape 18"/>
          <p:cNvSpPr/>
          <p:nvPr/>
        </p:nvSpPr>
        <p:spPr>
          <a:xfrm>
            <a:off x="2788920" y="1234440"/>
            <a:ext cx="18288" cy="18288"/>
          </a:xfrm>
          <a:prstGeom prst="ellipse">
            <a:avLst/>
          </a:prstGeom>
          <a:solidFill>
            <a:srgbClr val="22D3EE">
              <a:alpha val="12000"/>
            </a:srgbClr>
          </a:solidFill>
          <a:ln/>
        </p:spPr>
      </p:sp>
      <p:sp>
        <p:nvSpPr>
          <p:cNvPr id="21" name="Shape 19"/>
          <p:cNvSpPr/>
          <p:nvPr/>
        </p:nvSpPr>
        <p:spPr>
          <a:xfrm>
            <a:off x="3566160" y="1234440"/>
            <a:ext cx="18288" cy="18288"/>
          </a:xfrm>
          <a:prstGeom prst="ellipse">
            <a:avLst/>
          </a:prstGeom>
          <a:solidFill>
            <a:srgbClr val="22D3EE">
              <a:alpha val="12000"/>
            </a:srgbClr>
          </a:solidFill>
          <a:ln/>
        </p:spPr>
      </p:sp>
      <p:sp>
        <p:nvSpPr>
          <p:cNvPr id="22" name="Shape 20"/>
          <p:cNvSpPr/>
          <p:nvPr/>
        </p:nvSpPr>
        <p:spPr>
          <a:xfrm>
            <a:off x="4343400" y="1234440"/>
            <a:ext cx="18288" cy="18288"/>
          </a:xfrm>
          <a:prstGeom prst="ellipse">
            <a:avLst/>
          </a:prstGeom>
          <a:solidFill>
            <a:srgbClr val="22D3EE">
              <a:alpha val="12000"/>
            </a:srgbClr>
          </a:solidFill>
          <a:ln/>
        </p:spPr>
      </p:sp>
      <p:sp>
        <p:nvSpPr>
          <p:cNvPr id="23" name="Shape 21"/>
          <p:cNvSpPr/>
          <p:nvPr/>
        </p:nvSpPr>
        <p:spPr>
          <a:xfrm>
            <a:off x="5120640" y="1234440"/>
            <a:ext cx="18288" cy="18288"/>
          </a:xfrm>
          <a:prstGeom prst="ellipse">
            <a:avLst/>
          </a:prstGeom>
          <a:solidFill>
            <a:srgbClr val="22D3EE">
              <a:alpha val="12000"/>
            </a:srgbClr>
          </a:solidFill>
          <a:ln/>
        </p:spPr>
      </p:sp>
      <p:sp>
        <p:nvSpPr>
          <p:cNvPr id="24" name="Shape 22"/>
          <p:cNvSpPr/>
          <p:nvPr/>
        </p:nvSpPr>
        <p:spPr>
          <a:xfrm>
            <a:off x="5897880" y="1234440"/>
            <a:ext cx="18288" cy="18288"/>
          </a:xfrm>
          <a:prstGeom prst="ellipse">
            <a:avLst/>
          </a:prstGeom>
          <a:solidFill>
            <a:srgbClr val="22D3EE">
              <a:alpha val="12000"/>
            </a:srgbClr>
          </a:solidFill>
          <a:ln/>
        </p:spPr>
      </p:sp>
      <p:sp>
        <p:nvSpPr>
          <p:cNvPr id="25" name="Shape 23"/>
          <p:cNvSpPr/>
          <p:nvPr/>
        </p:nvSpPr>
        <p:spPr>
          <a:xfrm>
            <a:off x="6675120" y="1234440"/>
            <a:ext cx="18288" cy="18288"/>
          </a:xfrm>
          <a:prstGeom prst="ellipse">
            <a:avLst/>
          </a:prstGeom>
          <a:solidFill>
            <a:srgbClr val="22D3EE">
              <a:alpha val="12000"/>
            </a:srgbClr>
          </a:solidFill>
          <a:ln/>
        </p:spPr>
      </p:sp>
      <p:sp>
        <p:nvSpPr>
          <p:cNvPr id="26" name="Shape 24"/>
          <p:cNvSpPr/>
          <p:nvPr/>
        </p:nvSpPr>
        <p:spPr>
          <a:xfrm>
            <a:off x="7452360" y="1234440"/>
            <a:ext cx="18288" cy="18288"/>
          </a:xfrm>
          <a:prstGeom prst="ellipse">
            <a:avLst/>
          </a:prstGeom>
          <a:solidFill>
            <a:srgbClr val="22D3EE">
              <a:alpha val="12000"/>
            </a:srgbClr>
          </a:solidFill>
          <a:ln/>
        </p:spPr>
      </p:sp>
      <p:sp>
        <p:nvSpPr>
          <p:cNvPr id="27" name="Shape 25"/>
          <p:cNvSpPr/>
          <p:nvPr/>
        </p:nvSpPr>
        <p:spPr>
          <a:xfrm>
            <a:off x="8229600" y="1234440"/>
            <a:ext cx="18288" cy="18288"/>
          </a:xfrm>
          <a:prstGeom prst="ellipse">
            <a:avLst/>
          </a:prstGeom>
          <a:solidFill>
            <a:srgbClr val="22D3EE">
              <a:alpha val="12000"/>
            </a:srgbClr>
          </a:solidFill>
          <a:ln/>
        </p:spPr>
      </p:sp>
      <p:sp>
        <p:nvSpPr>
          <p:cNvPr id="28" name="Shape 26"/>
          <p:cNvSpPr/>
          <p:nvPr/>
        </p:nvSpPr>
        <p:spPr>
          <a:xfrm>
            <a:off x="9006840" y="1234440"/>
            <a:ext cx="18288" cy="18288"/>
          </a:xfrm>
          <a:prstGeom prst="ellipse">
            <a:avLst/>
          </a:prstGeom>
          <a:solidFill>
            <a:srgbClr val="22D3EE">
              <a:alpha val="12000"/>
            </a:srgbClr>
          </a:solidFill>
          <a:ln/>
        </p:spPr>
      </p:sp>
      <p:sp>
        <p:nvSpPr>
          <p:cNvPr id="29" name="Shape 27"/>
          <p:cNvSpPr/>
          <p:nvPr/>
        </p:nvSpPr>
        <p:spPr>
          <a:xfrm>
            <a:off x="9784080" y="1234440"/>
            <a:ext cx="18288" cy="18288"/>
          </a:xfrm>
          <a:prstGeom prst="ellipse">
            <a:avLst/>
          </a:prstGeom>
          <a:solidFill>
            <a:srgbClr val="22D3EE">
              <a:alpha val="12000"/>
            </a:srgbClr>
          </a:solidFill>
          <a:ln/>
        </p:spPr>
      </p:sp>
      <p:sp>
        <p:nvSpPr>
          <p:cNvPr id="30" name="Shape 28"/>
          <p:cNvSpPr/>
          <p:nvPr/>
        </p:nvSpPr>
        <p:spPr>
          <a:xfrm>
            <a:off x="10561320" y="1234440"/>
            <a:ext cx="18288" cy="18288"/>
          </a:xfrm>
          <a:prstGeom prst="ellipse">
            <a:avLst/>
          </a:prstGeom>
          <a:solidFill>
            <a:srgbClr val="22D3EE">
              <a:alpha val="12000"/>
            </a:srgbClr>
          </a:solidFill>
          <a:ln/>
        </p:spPr>
      </p:sp>
      <p:sp>
        <p:nvSpPr>
          <p:cNvPr id="31" name="Shape 29"/>
          <p:cNvSpPr/>
          <p:nvPr/>
        </p:nvSpPr>
        <p:spPr>
          <a:xfrm>
            <a:off x="11338560" y="1234440"/>
            <a:ext cx="18288" cy="18288"/>
          </a:xfrm>
          <a:prstGeom prst="ellipse">
            <a:avLst/>
          </a:prstGeom>
          <a:solidFill>
            <a:srgbClr val="22D3EE">
              <a:alpha val="12000"/>
            </a:srgbClr>
          </a:solidFill>
          <a:ln/>
        </p:spPr>
      </p:sp>
      <p:sp>
        <p:nvSpPr>
          <p:cNvPr id="32" name="Shape 30"/>
          <p:cNvSpPr/>
          <p:nvPr/>
        </p:nvSpPr>
        <p:spPr>
          <a:xfrm>
            <a:off x="457200" y="2011680"/>
            <a:ext cx="18288" cy="18288"/>
          </a:xfrm>
          <a:prstGeom prst="ellipse">
            <a:avLst/>
          </a:prstGeom>
          <a:solidFill>
            <a:srgbClr val="22D3EE">
              <a:alpha val="12000"/>
            </a:srgbClr>
          </a:solidFill>
          <a:ln/>
        </p:spPr>
      </p:sp>
      <p:sp>
        <p:nvSpPr>
          <p:cNvPr id="33" name="Shape 31"/>
          <p:cNvSpPr/>
          <p:nvPr/>
        </p:nvSpPr>
        <p:spPr>
          <a:xfrm>
            <a:off x="1234440" y="2011680"/>
            <a:ext cx="18288" cy="18288"/>
          </a:xfrm>
          <a:prstGeom prst="ellipse">
            <a:avLst/>
          </a:prstGeom>
          <a:solidFill>
            <a:srgbClr val="22D3EE">
              <a:alpha val="12000"/>
            </a:srgbClr>
          </a:solidFill>
          <a:ln/>
        </p:spPr>
      </p:sp>
      <p:sp>
        <p:nvSpPr>
          <p:cNvPr id="34" name="Shape 32"/>
          <p:cNvSpPr/>
          <p:nvPr/>
        </p:nvSpPr>
        <p:spPr>
          <a:xfrm>
            <a:off x="2011680" y="2011680"/>
            <a:ext cx="18288" cy="18288"/>
          </a:xfrm>
          <a:prstGeom prst="ellipse">
            <a:avLst/>
          </a:prstGeom>
          <a:solidFill>
            <a:srgbClr val="22D3EE">
              <a:alpha val="12000"/>
            </a:srgbClr>
          </a:solidFill>
          <a:ln/>
        </p:spPr>
      </p:sp>
      <p:sp>
        <p:nvSpPr>
          <p:cNvPr id="35" name="Shape 33"/>
          <p:cNvSpPr/>
          <p:nvPr/>
        </p:nvSpPr>
        <p:spPr>
          <a:xfrm>
            <a:off x="2788920" y="2011680"/>
            <a:ext cx="18288" cy="18288"/>
          </a:xfrm>
          <a:prstGeom prst="ellipse">
            <a:avLst/>
          </a:prstGeom>
          <a:solidFill>
            <a:srgbClr val="22D3EE">
              <a:alpha val="12000"/>
            </a:srgbClr>
          </a:solidFill>
          <a:ln/>
        </p:spPr>
      </p:sp>
      <p:sp>
        <p:nvSpPr>
          <p:cNvPr id="36" name="Shape 34"/>
          <p:cNvSpPr/>
          <p:nvPr/>
        </p:nvSpPr>
        <p:spPr>
          <a:xfrm>
            <a:off x="3566160" y="2011680"/>
            <a:ext cx="18288" cy="18288"/>
          </a:xfrm>
          <a:prstGeom prst="ellipse">
            <a:avLst/>
          </a:prstGeom>
          <a:solidFill>
            <a:srgbClr val="22D3EE">
              <a:alpha val="12000"/>
            </a:srgbClr>
          </a:solidFill>
          <a:ln/>
        </p:spPr>
      </p:sp>
      <p:sp>
        <p:nvSpPr>
          <p:cNvPr id="37" name="Shape 35"/>
          <p:cNvSpPr/>
          <p:nvPr/>
        </p:nvSpPr>
        <p:spPr>
          <a:xfrm>
            <a:off x="4343400" y="2011680"/>
            <a:ext cx="18288" cy="18288"/>
          </a:xfrm>
          <a:prstGeom prst="ellipse">
            <a:avLst/>
          </a:prstGeom>
          <a:solidFill>
            <a:srgbClr val="22D3EE">
              <a:alpha val="12000"/>
            </a:srgbClr>
          </a:solidFill>
          <a:ln/>
        </p:spPr>
      </p:sp>
      <p:sp>
        <p:nvSpPr>
          <p:cNvPr id="38" name="Shape 36"/>
          <p:cNvSpPr/>
          <p:nvPr/>
        </p:nvSpPr>
        <p:spPr>
          <a:xfrm>
            <a:off x="5120640" y="2011680"/>
            <a:ext cx="18288" cy="18288"/>
          </a:xfrm>
          <a:prstGeom prst="ellipse">
            <a:avLst/>
          </a:prstGeom>
          <a:solidFill>
            <a:srgbClr val="22D3EE">
              <a:alpha val="12000"/>
            </a:srgbClr>
          </a:solidFill>
          <a:ln/>
        </p:spPr>
      </p:sp>
      <p:sp>
        <p:nvSpPr>
          <p:cNvPr id="39" name="Shape 37"/>
          <p:cNvSpPr/>
          <p:nvPr/>
        </p:nvSpPr>
        <p:spPr>
          <a:xfrm>
            <a:off x="5897880" y="2011680"/>
            <a:ext cx="18288" cy="18288"/>
          </a:xfrm>
          <a:prstGeom prst="ellipse">
            <a:avLst/>
          </a:prstGeom>
          <a:solidFill>
            <a:srgbClr val="22D3EE">
              <a:alpha val="12000"/>
            </a:srgbClr>
          </a:solidFill>
          <a:ln/>
        </p:spPr>
      </p:sp>
      <p:sp>
        <p:nvSpPr>
          <p:cNvPr id="40" name="Shape 38"/>
          <p:cNvSpPr/>
          <p:nvPr/>
        </p:nvSpPr>
        <p:spPr>
          <a:xfrm>
            <a:off x="6675120" y="2011680"/>
            <a:ext cx="18288" cy="18288"/>
          </a:xfrm>
          <a:prstGeom prst="ellipse">
            <a:avLst/>
          </a:prstGeom>
          <a:solidFill>
            <a:srgbClr val="22D3EE">
              <a:alpha val="12000"/>
            </a:srgbClr>
          </a:solidFill>
          <a:ln/>
        </p:spPr>
      </p:sp>
      <p:sp>
        <p:nvSpPr>
          <p:cNvPr id="41" name="Shape 39"/>
          <p:cNvSpPr/>
          <p:nvPr/>
        </p:nvSpPr>
        <p:spPr>
          <a:xfrm>
            <a:off x="7452360" y="2011680"/>
            <a:ext cx="18288" cy="18288"/>
          </a:xfrm>
          <a:prstGeom prst="ellipse">
            <a:avLst/>
          </a:prstGeom>
          <a:solidFill>
            <a:srgbClr val="22D3EE">
              <a:alpha val="12000"/>
            </a:srgbClr>
          </a:solidFill>
          <a:ln/>
        </p:spPr>
      </p:sp>
      <p:sp>
        <p:nvSpPr>
          <p:cNvPr id="42" name="Shape 40"/>
          <p:cNvSpPr/>
          <p:nvPr/>
        </p:nvSpPr>
        <p:spPr>
          <a:xfrm>
            <a:off x="8229600" y="2011680"/>
            <a:ext cx="18288" cy="18288"/>
          </a:xfrm>
          <a:prstGeom prst="ellipse">
            <a:avLst/>
          </a:prstGeom>
          <a:solidFill>
            <a:srgbClr val="22D3EE">
              <a:alpha val="12000"/>
            </a:srgbClr>
          </a:solidFill>
          <a:ln/>
        </p:spPr>
      </p:sp>
      <p:sp>
        <p:nvSpPr>
          <p:cNvPr id="43" name="Shape 41"/>
          <p:cNvSpPr/>
          <p:nvPr/>
        </p:nvSpPr>
        <p:spPr>
          <a:xfrm>
            <a:off x="9006840" y="2011680"/>
            <a:ext cx="18288" cy="18288"/>
          </a:xfrm>
          <a:prstGeom prst="ellipse">
            <a:avLst/>
          </a:prstGeom>
          <a:solidFill>
            <a:srgbClr val="22D3EE">
              <a:alpha val="12000"/>
            </a:srgbClr>
          </a:solidFill>
          <a:ln/>
        </p:spPr>
      </p:sp>
      <p:sp>
        <p:nvSpPr>
          <p:cNvPr id="44" name="Shape 42"/>
          <p:cNvSpPr/>
          <p:nvPr/>
        </p:nvSpPr>
        <p:spPr>
          <a:xfrm>
            <a:off x="9784080" y="2011680"/>
            <a:ext cx="18288" cy="18288"/>
          </a:xfrm>
          <a:prstGeom prst="ellipse">
            <a:avLst/>
          </a:prstGeom>
          <a:solidFill>
            <a:srgbClr val="22D3EE">
              <a:alpha val="12000"/>
            </a:srgbClr>
          </a:solidFill>
          <a:ln/>
        </p:spPr>
      </p:sp>
      <p:sp>
        <p:nvSpPr>
          <p:cNvPr id="45" name="Shape 43"/>
          <p:cNvSpPr/>
          <p:nvPr/>
        </p:nvSpPr>
        <p:spPr>
          <a:xfrm>
            <a:off x="10561320" y="2011680"/>
            <a:ext cx="18288" cy="18288"/>
          </a:xfrm>
          <a:prstGeom prst="ellipse">
            <a:avLst/>
          </a:prstGeom>
          <a:solidFill>
            <a:srgbClr val="22D3EE">
              <a:alpha val="12000"/>
            </a:srgbClr>
          </a:solidFill>
          <a:ln/>
        </p:spPr>
      </p:sp>
      <p:sp>
        <p:nvSpPr>
          <p:cNvPr id="46" name="Shape 44"/>
          <p:cNvSpPr/>
          <p:nvPr/>
        </p:nvSpPr>
        <p:spPr>
          <a:xfrm>
            <a:off x="11338560" y="2011680"/>
            <a:ext cx="18288" cy="18288"/>
          </a:xfrm>
          <a:prstGeom prst="ellipse">
            <a:avLst/>
          </a:prstGeom>
          <a:solidFill>
            <a:srgbClr val="22D3EE">
              <a:alpha val="12000"/>
            </a:srgbClr>
          </a:solidFill>
          <a:ln/>
        </p:spPr>
      </p:sp>
      <p:sp>
        <p:nvSpPr>
          <p:cNvPr id="47" name="Shape 45"/>
          <p:cNvSpPr/>
          <p:nvPr/>
        </p:nvSpPr>
        <p:spPr>
          <a:xfrm>
            <a:off x="457200" y="2788920"/>
            <a:ext cx="18288" cy="18288"/>
          </a:xfrm>
          <a:prstGeom prst="ellipse">
            <a:avLst/>
          </a:prstGeom>
          <a:solidFill>
            <a:srgbClr val="22D3EE">
              <a:alpha val="12000"/>
            </a:srgbClr>
          </a:solidFill>
          <a:ln/>
        </p:spPr>
      </p:sp>
      <p:sp>
        <p:nvSpPr>
          <p:cNvPr id="48" name="Shape 46"/>
          <p:cNvSpPr/>
          <p:nvPr/>
        </p:nvSpPr>
        <p:spPr>
          <a:xfrm>
            <a:off x="1234440" y="2788920"/>
            <a:ext cx="18288" cy="18288"/>
          </a:xfrm>
          <a:prstGeom prst="ellipse">
            <a:avLst/>
          </a:prstGeom>
          <a:solidFill>
            <a:srgbClr val="22D3EE">
              <a:alpha val="12000"/>
            </a:srgbClr>
          </a:solidFill>
          <a:ln/>
        </p:spPr>
      </p:sp>
      <p:sp>
        <p:nvSpPr>
          <p:cNvPr id="49" name="Shape 47"/>
          <p:cNvSpPr/>
          <p:nvPr/>
        </p:nvSpPr>
        <p:spPr>
          <a:xfrm>
            <a:off x="2011680" y="2788920"/>
            <a:ext cx="18288" cy="18288"/>
          </a:xfrm>
          <a:prstGeom prst="ellipse">
            <a:avLst/>
          </a:prstGeom>
          <a:solidFill>
            <a:srgbClr val="22D3EE">
              <a:alpha val="12000"/>
            </a:srgbClr>
          </a:solidFill>
          <a:ln/>
        </p:spPr>
      </p:sp>
      <p:sp>
        <p:nvSpPr>
          <p:cNvPr id="50" name="Shape 48"/>
          <p:cNvSpPr/>
          <p:nvPr/>
        </p:nvSpPr>
        <p:spPr>
          <a:xfrm>
            <a:off x="2788920" y="2788920"/>
            <a:ext cx="18288" cy="18288"/>
          </a:xfrm>
          <a:prstGeom prst="ellipse">
            <a:avLst/>
          </a:prstGeom>
          <a:solidFill>
            <a:srgbClr val="22D3EE">
              <a:alpha val="12000"/>
            </a:srgbClr>
          </a:solidFill>
          <a:ln/>
        </p:spPr>
      </p:sp>
      <p:sp>
        <p:nvSpPr>
          <p:cNvPr id="51" name="Shape 49"/>
          <p:cNvSpPr/>
          <p:nvPr/>
        </p:nvSpPr>
        <p:spPr>
          <a:xfrm>
            <a:off x="3566160" y="2788920"/>
            <a:ext cx="18288" cy="18288"/>
          </a:xfrm>
          <a:prstGeom prst="ellipse">
            <a:avLst/>
          </a:prstGeom>
          <a:solidFill>
            <a:srgbClr val="22D3EE">
              <a:alpha val="12000"/>
            </a:srgbClr>
          </a:solidFill>
          <a:ln/>
        </p:spPr>
      </p:sp>
      <p:sp>
        <p:nvSpPr>
          <p:cNvPr id="52" name="Shape 50"/>
          <p:cNvSpPr/>
          <p:nvPr/>
        </p:nvSpPr>
        <p:spPr>
          <a:xfrm>
            <a:off x="4343400" y="2788920"/>
            <a:ext cx="18288" cy="18288"/>
          </a:xfrm>
          <a:prstGeom prst="ellipse">
            <a:avLst/>
          </a:prstGeom>
          <a:solidFill>
            <a:srgbClr val="22D3EE">
              <a:alpha val="12000"/>
            </a:srgbClr>
          </a:solidFill>
          <a:ln/>
        </p:spPr>
      </p:sp>
      <p:sp>
        <p:nvSpPr>
          <p:cNvPr id="53" name="Shape 51"/>
          <p:cNvSpPr/>
          <p:nvPr/>
        </p:nvSpPr>
        <p:spPr>
          <a:xfrm>
            <a:off x="5120640" y="2788920"/>
            <a:ext cx="18288" cy="18288"/>
          </a:xfrm>
          <a:prstGeom prst="ellipse">
            <a:avLst/>
          </a:prstGeom>
          <a:solidFill>
            <a:srgbClr val="22D3EE">
              <a:alpha val="12000"/>
            </a:srgbClr>
          </a:solidFill>
          <a:ln/>
        </p:spPr>
      </p:sp>
      <p:sp>
        <p:nvSpPr>
          <p:cNvPr id="54" name="Shape 52"/>
          <p:cNvSpPr/>
          <p:nvPr/>
        </p:nvSpPr>
        <p:spPr>
          <a:xfrm>
            <a:off x="5897880" y="2788920"/>
            <a:ext cx="18288" cy="18288"/>
          </a:xfrm>
          <a:prstGeom prst="ellipse">
            <a:avLst/>
          </a:prstGeom>
          <a:solidFill>
            <a:srgbClr val="22D3EE">
              <a:alpha val="12000"/>
            </a:srgbClr>
          </a:solidFill>
          <a:ln/>
        </p:spPr>
      </p:sp>
      <p:sp>
        <p:nvSpPr>
          <p:cNvPr id="55" name="Shape 53"/>
          <p:cNvSpPr/>
          <p:nvPr/>
        </p:nvSpPr>
        <p:spPr>
          <a:xfrm>
            <a:off x="6675120" y="2788920"/>
            <a:ext cx="18288" cy="18288"/>
          </a:xfrm>
          <a:prstGeom prst="ellipse">
            <a:avLst/>
          </a:prstGeom>
          <a:solidFill>
            <a:srgbClr val="22D3EE">
              <a:alpha val="12000"/>
            </a:srgbClr>
          </a:solidFill>
          <a:ln/>
        </p:spPr>
      </p:sp>
      <p:sp>
        <p:nvSpPr>
          <p:cNvPr id="56" name="Shape 54"/>
          <p:cNvSpPr/>
          <p:nvPr/>
        </p:nvSpPr>
        <p:spPr>
          <a:xfrm>
            <a:off x="7452360" y="2788920"/>
            <a:ext cx="18288" cy="18288"/>
          </a:xfrm>
          <a:prstGeom prst="ellipse">
            <a:avLst/>
          </a:prstGeom>
          <a:solidFill>
            <a:srgbClr val="22D3EE">
              <a:alpha val="12000"/>
            </a:srgbClr>
          </a:solidFill>
          <a:ln/>
        </p:spPr>
      </p:sp>
      <p:sp>
        <p:nvSpPr>
          <p:cNvPr id="57" name="Shape 55"/>
          <p:cNvSpPr/>
          <p:nvPr/>
        </p:nvSpPr>
        <p:spPr>
          <a:xfrm>
            <a:off x="8229600" y="2788920"/>
            <a:ext cx="18288" cy="18288"/>
          </a:xfrm>
          <a:prstGeom prst="ellipse">
            <a:avLst/>
          </a:prstGeom>
          <a:solidFill>
            <a:srgbClr val="22D3EE">
              <a:alpha val="12000"/>
            </a:srgbClr>
          </a:solidFill>
          <a:ln/>
        </p:spPr>
      </p:sp>
      <p:sp>
        <p:nvSpPr>
          <p:cNvPr id="58" name="Shape 56"/>
          <p:cNvSpPr/>
          <p:nvPr/>
        </p:nvSpPr>
        <p:spPr>
          <a:xfrm>
            <a:off x="9006840" y="2788920"/>
            <a:ext cx="18288" cy="18288"/>
          </a:xfrm>
          <a:prstGeom prst="ellipse">
            <a:avLst/>
          </a:prstGeom>
          <a:solidFill>
            <a:srgbClr val="22D3EE">
              <a:alpha val="12000"/>
            </a:srgbClr>
          </a:solidFill>
          <a:ln/>
        </p:spPr>
      </p:sp>
      <p:sp>
        <p:nvSpPr>
          <p:cNvPr id="59" name="Shape 57"/>
          <p:cNvSpPr/>
          <p:nvPr/>
        </p:nvSpPr>
        <p:spPr>
          <a:xfrm>
            <a:off x="9784080" y="2788920"/>
            <a:ext cx="18288" cy="18288"/>
          </a:xfrm>
          <a:prstGeom prst="ellipse">
            <a:avLst/>
          </a:prstGeom>
          <a:solidFill>
            <a:srgbClr val="22D3EE">
              <a:alpha val="12000"/>
            </a:srgbClr>
          </a:solidFill>
          <a:ln/>
        </p:spPr>
      </p:sp>
      <p:sp>
        <p:nvSpPr>
          <p:cNvPr id="60" name="Shape 58"/>
          <p:cNvSpPr/>
          <p:nvPr/>
        </p:nvSpPr>
        <p:spPr>
          <a:xfrm>
            <a:off x="10561320" y="2788920"/>
            <a:ext cx="18288" cy="18288"/>
          </a:xfrm>
          <a:prstGeom prst="ellipse">
            <a:avLst/>
          </a:prstGeom>
          <a:solidFill>
            <a:srgbClr val="22D3EE">
              <a:alpha val="12000"/>
            </a:srgbClr>
          </a:solidFill>
          <a:ln/>
        </p:spPr>
      </p:sp>
      <p:sp>
        <p:nvSpPr>
          <p:cNvPr id="61" name="Shape 59"/>
          <p:cNvSpPr/>
          <p:nvPr/>
        </p:nvSpPr>
        <p:spPr>
          <a:xfrm>
            <a:off x="11338560" y="2788920"/>
            <a:ext cx="18288" cy="18288"/>
          </a:xfrm>
          <a:prstGeom prst="ellipse">
            <a:avLst/>
          </a:prstGeom>
          <a:solidFill>
            <a:srgbClr val="22D3EE">
              <a:alpha val="12000"/>
            </a:srgbClr>
          </a:solidFill>
          <a:ln/>
        </p:spPr>
      </p:sp>
      <p:sp>
        <p:nvSpPr>
          <p:cNvPr id="62" name="Shape 60"/>
          <p:cNvSpPr/>
          <p:nvPr/>
        </p:nvSpPr>
        <p:spPr>
          <a:xfrm>
            <a:off x="457200" y="3566160"/>
            <a:ext cx="18288" cy="18288"/>
          </a:xfrm>
          <a:prstGeom prst="ellipse">
            <a:avLst/>
          </a:prstGeom>
          <a:solidFill>
            <a:srgbClr val="22D3EE">
              <a:alpha val="12000"/>
            </a:srgbClr>
          </a:solidFill>
          <a:ln/>
        </p:spPr>
      </p:sp>
      <p:sp>
        <p:nvSpPr>
          <p:cNvPr id="63" name="Shape 61"/>
          <p:cNvSpPr/>
          <p:nvPr/>
        </p:nvSpPr>
        <p:spPr>
          <a:xfrm>
            <a:off x="1234440" y="3566160"/>
            <a:ext cx="18288" cy="18288"/>
          </a:xfrm>
          <a:prstGeom prst="ellipse">
            <a:avLst/>
          </a:prstGeom>
          <a:solidFill>
            <a:srgbClr val="22D3EE">
              <a:alpha val="12000"/>
            </a:srgbClr>
          </a:solidFill>
          <a:ln/>
        </p:spPr>
      </p:sp>
      <p:sp>
        <p:nvSpPr>
          <p:cNvPr id="64" name="Shape 62"/>
          <p:cNvSpPr/>
          <p:nvPr/>
        </p:nvSpPr>
        <p:spPr>
          <a:xfrm>
            <a:off x="2011680" y="3566160"/>
            <a:ext cx="18288" cy="18288"/>
          </a:xfrm>
          <a:prstGeom prst="ellipse">
            <a:avLst/>
          </a:prstGeom>
          <a:solidFill>
            <a:srgbClr val="22D3EE">
              <a:alpha val="12000"/>
            </a:srgbClr>
          </a:solidFill>
          <a:ln/>
        </p:spPr>
      </p:sp>
      <p:sp>
        <p:nvSpPr>
          <p:cNvPr id="65" name="Shape 63"/>
          <p:cNvSpPr/>
          <p:nvPr/>
        </p:nvSpPr>
        <p:spPr>
          <a:xfrm>
            <a:off x="2788920" y="3566160"/>
            <a:ext cx="18288" cy="18288"/>
          </a:xfrm>
          <a:prstGeom prst="ellipse">
            <a:avLst/>
          </a:prstGeom>
          <a:solidFill>
            <a:srgbClr val="22D3EE">
              <a:alpha val="12000"/>
            </a:srgbClr>
          </a:solidFill>
          <a:ln/>
        </p:spPr>
      </p:sp>
      <p:sp>
        <p:nvSpPr>
          <p:cNvPr id="66" name="Shape 64"/>
          <p:cNvSpPr/>
          <p:nvPr/>
        </p:nvSpPr>
        <p:spPr>
          <a:xfrm>
            <a:off x="3566160" y="3566160"/>
            <a:ext cx="18288" cy="18288"/>
          </a:xfrm>
          <a:prstGeom prst="ellipse">
            <a:avLst/>
          </a:prstGeom>
          <a:solidFill>
            <a:srgbClr val="22D3EE">
              <a:alpha val="12000"/>
            </a:srgbClr>
          </a:solidFill>
          <a:ln/>
        </p:spPr>
      </p:sp>
      <p:sp>
        <p:nvSpPr>
          <p:cNvPr id="67" name="Shape 65"/>
          <p:cNvSpPr/>
          <p:nvPr/>
        </p:nvSpPr>
        <p:spPr>
          <a:xfrm>
            <a:off x="4343400" y="3566160"/>
            <a:ext cx="18288" cy="18288"/>
          </a:xfrm>
          <a:prstGeom prst="ellipse">
            <a:avLst/>
          </a:prstGeom>
          <a:solidFill>
            <a:srgbClr val="22D3EE">
              <a:alpha val="12000"/>
            </a:srgbClr>
          </a:solidFill>
          <a:ln/>
        </p:spPr>
      </p:sp>
      <p:sp>
        <p:nvSpPr>
          <p:cNvPr id="68" name="Shape 66"/>
          <p:cNvSpPr/>
          <p:nvPr/>
        </p:nvSpPr>
        <p:spPr>
          <a:xfrm>
            <a:off x="5120640" y="3566160"/>
            <a:ext cx="18288" cy="18288"/>
          </a:xfrm>
          <a:prstGeom prst="ellipse">
            <a:avLst/>
          </a:prstGeom>
          <a:solidFill>
            <a:srgbClr val="22D3EE">
              <a:alpha val="12000"/>
            </a:srgbClr>
          </a:solidFill>
          <a:ln/>
        </p:spPr>
      </p:sp>
      <p:sp>
        <p:nvSpPr>
          <p:cNvPr id="69" name="Shape 67"/>
          <p:cNvSpPr/>
          <p:nvPr/>
        </p:nvSpPr>
        <p:spPr>
          <a:xfrm>
            <a:off x="5897880" y="3566160"/>
            <a:ext cx="18288" cy="18288"/>
          </a:xfrm>
          <a:prstGeom prst="ellipse">
            <a:avLst/>
          </a:prstGeom>
          <a:solidFill>
            <a:srgbClr val="22D3EE">
              <a:alpha val="12000"/>
            </a:srgbClr>
          </a:solidFill>
          <a:ln/>
        </p:spPr>
      </p:sp>
      <p:sp>
        <p:nvSpPr>
          <p:cNvPr id="70" name="Shape 68"/>
          <p:cNvSpPr/>
          <p:nvPr/>
        </p:nvSpPr>
        <p:spPr>
          <a:xfrm>
            <a:off x="6675120" y="3566160"/>
            <a:ext cx="18288" cy="18288"/>
          </a:xfrm>
          <a:prstGeom prst="ellipse">
            <a:avLst/>
          </a:prstGeom>
          <a:solidFill>
            <a:srgbClr val="22D3EE">
              <a:alpha val="12000"/>
            </a:srgbClr>
          </a:solidFill>
          <a:ln/>
        </p:spPr>
      </p:sp>
      <p:sp>
        <p:nvSpPr>
          <p:cNvPr id="71" name="Shape 69"/>
          <p:cNvSpPr/>
          <p:nvPr/>
        </p:nvSpPr>
        <p:spPr>
          <a:xfrm>
            <a:off x="7452360" y="3566160"/>
            <a:ext cx="18288" cy="18288"/>
          </a:xfrm>
          <a:prstGeom prst="ellipse">
            <a:avLst/>
          </a:prstGeom>
          <a:solidFill>
            <a:srgbClr val="22D3EE">
              <a:alpha val="12000"/>
            </a:srgbClr>
          </a:solidFill>
          <a:ln/>
        </p:spPr>
      </p:sp>
      <p:sp>
        <p:nvSpPr>
          <p:cNvPr id="72" name="Shape 70"/>
          <p:cNvSpPr/>
          <p:nvPr/>
        </p:nvSpPr>
        <p:spPr>
          <a:xfrm>
            <a:off x="8229600" y="3566160"/>
            <a:ext cx="18288" cy="18288"/>
          </a:xfrm>
          <a:prstGeom prst="ellipse">
            <a:avLst/>
          </a:prstGeom>
          <a:solidFill>
            <a:srgbClr val="22D3EE">
              <a:alpha val="12000"/>
            </a:srgbClr>
          </a:solidFill>
          <a:ln/>
        </p:spPr>
      </p:sp>
      <p:sp>
        <p:nvSpPr>
          <p:cNvPr id="73" name="Shape 71"/>
          <p:cNvSpPr/>
          <p:nvPr/>
        </p:nvSpPr>
        <p:spPr>
          <a:xfrm>
            <a:off x="9006840" y="3566160"/>
            <a:ext cx="18288" cy="18288"/>
          </a:xfrm>
          <a:prstGeom prst="ellipse">
            <a:avLst/>
          </a:prstGeom>
          <a:solidFill>
            <a:srgbClr val="22D3EE">
              <a:alpha val="12000"/>
            </a:srgbClr>
          </a:solidFill>
          <a:ln/>
        </p:spPr>
      </p:sp>
      <p:sp>
        <p:nvSpPr>
          <p:cNvPr id="74" name="Shape 72"/>
          <p:cNvSpPr/>
          <p:nvPr/>
        </p:nvSpPr>
        <p:spPr>
          <a:xfrm>
            <a:off x="9784080" y="3566160"/>
            <a:ext cx="18288" cy="18288"/>
          </a:xfrm>
          <a:prstGeom prst="ellipse">
            <a:avLst/>
          </a:prstGeom>
          <a:solidFill>
            <a:srgbClr val="22D3EE">
              <a:alpha val="12000"/>
            </a:srgbClr>
          </a:solidFill>
          <a:ln/>
        </p:spPr>
      </p:sp>
      <p:sp>
        <p:nvSpPr>
          <p:cNvPr id="75" name="Shape 73"/>
          <p:cNvSpPr/>
          <p:nvPr/>
        </p:nvSpPr>
        <p:spPr>
          <a:xfrm>
            <a:off x="10561320" y="3566160"/>
            <a:ext cx="18288" cy="18288"/>
          </a:xfrm>
          <a:prstGeom prst="ellipse">
            <a:avLst/>
          </a:prstGeom>
          <a:solidFill>
            <a:srgbClr val="22D3EE">
              <a:alpha val="12000"/>
            </a:srgbClr>
          </a:solidFill>
          <a:ln/>
        </p:spPr>
      </p:sp>
      <p:sp>
        <p:nvSpPr>
          <p:cNvPr id="76" name="Shape 74"/>
          <p:cNvSpPr/>
          <p:nvPr/>
        </p:nvSpPr>
        <p:spPr>
          <a:xfrm>
            <a:off x="11338560" y="3566160"/>
            <a:ext cx="18288" cy="18288"/>
          </a:xfrm>
          <a:prstGeom prst="ellipse">
            <a:avLst/>
          </a:prstGeom>
          <a:solidFill>
            <a:srgbClr val="22D3EE">
              <a:alpha val="12000"/>
            </a:srgbClr>
          </a:solidFill>
          <a:ln/>
        </p:spPr>
      </p:sp>
      <p:sp>
        <p:nvSpPr>
          <p:cNvPr id="77" name="Shape 75"/>
          <p:cNvSpPr/>
          <p:nvPr/>
        </p:nvSpPr>
        <p:spPr>
          <a:xfrm>
            <a:off x="457200" y="4343400"/>
            <a:ext cx="18288" cy="18288"/>
          </a:xfrm>
          <a:prstGeom prst="ellipse">
            <a:avLst/>
          </a:prstGeom>
          <a:solidFill>
            <a:srgbClr val="22D3EE">
              <a:alpha val="12000"/>
            </a:srgbClr>
          </a:solidFill>
          <a:ln/>
        </p:spPr>
      </p:sp>
      <p:sp>
        <p:nvSpPr>
          <p:cNvPr id="78" name="Shape 76"/>
          <p:cNvSpPr/>
          <p:nvPr/>
        </p:nvSpPr>
        <p:spPr>
          <a:xfrm>
            <a:off x="1234440" y="4343400"/>
            <a:ext cx="18288" cy="18288"/>
          </a:xfrm>
          <a:prstGeom prst="ellipse">
            <a:avLst/>
          </a:prstGeom>
          <a:solidFill>
            <a:srgbClr val="22D3EE">
              <a:alpha val="12000"/>
            </a:srgbClr>
          </a:solidFill>
          <a:ln/>
        </p:spPr>
      </p:sp>
      <p:sp>
        <p:nvSpPr>
          <p:cNvPr id="79" name="Shape 77"/>
          <p:cNvSpPr/>
          <p:nvPr/>
        </p:nvSpPr>
        <p:spPr>
          <a:xfrm>
            <a:off x="2011680" y="4343400"/>
            <a:ext cx="18288" cy="18288"/>
          </a:xfrm>
          <a:prstGeom prst="ellipse">
            <a:avLst/>
          </a:prstGeom>
          <a:solidFill>
            <a:srgbClr val="22D3EE">
              <a:alpha val="12000"/>
            </a:srgbClr>
          </a:solidFill>
          <a:ln/>
        </p:spPr>
      </p:sp>
      <p:sp>
        <p:nvSpPr>
          <p:cNvPr id="80" name="Shape 78"/>
          <p:cNvSpPr/>
          <p:nvPr/>
        </p:nvSpPr>
        <p:spPr>
          <a:xfrm>
            <a:off x="2788920" y="4343400"/>
            <a:ext cx="18288" cy="18288"/>
          </a:xfrm>
          <a:prstGeom prst="ellipse">
            <a:avLst/>
          </a:prstGeom>
          <a:solidFill>
            <a:srgbClr val="22D3EE">
              <a:alpha val="12000"/>
            </a:srgbClr>
          </a:solidFill>
          <a:ln/>
        </p:spPr>
      </p:sp>
      <p:sp>
        <p:nvSpPr>
          <p:cNvPr id="81" name="Shape 79"/>
          <p:cNvSpPr/>
          <p:nvPr/>
        </p:nvSpPr>
        <p:spPr>
          <a:xfrm>
            <a:off x="3566160" y="4343400"/>
            <a:ext cx="18288" cy="18288"/>
          </a:xfrm>
          <a:prstGeom prst="ellipse">
            <a:avLst/>
          </a:prstGeom>
          <a:solidFill>
            <a:srgbClr val="22D3EE">
              <a:alpha val="12000"/>
            </a:srgbClr>
          </a:solidFill>
          <a:ln/>
        </p:spPr>
      </p:sp>
      <p:sp>
        <p:nvSpPr>
          <p:cNvPr id="82" name="Shape 80"/>
          <p:cNvSpPr/>
          <p:nvPr/>
        </p:nvSpPr>
        <p:spPr>
          <a:xfrm>
            <a:off x="4343400" y="4343400"/>
            <a:ext cx="18288" cy="18288"/>
          </a:xfrm>
          <a:prstGeom prst="ellipse">
            <a:avLst/>
          </a:prstGeom>
          <a:solidFill>
            <a:srgbClr val="22D3EE">
              <a:alpha val="12000"/>
            </a:srgbClr>
          </a:solidFill>
          <a:ln/>
        </p:spPr>
      </p:sp>
      <p:sp>
        <p:nvSpPr>
          <p:cNvPr id="83" name="Shape 81"/>
          <p:cNvSpPr/>
          <p:nvPr/>
        </p:nvSpPr>
        <p:spPr>
          <a:xfrm>
            <a:off x="5120640" y="4343400"/>
            <a:ext cx="18288" cy="18288"/>
          </a:xfrm>
          <a:prstGeom prst="ellipse">
            <a:avLst/>
          </a:prstGeom>
          <a:solidFill>
            <a:srgbClr val="22D3EE">
              <a:alpha val="12000"/>
            </a:srgbClr>
          </a:solidFill>
          <a:ln/>
        </p:spPr>
      </p:sp>
      <p:sp>
        <p:nvSpPr>
          <p:cNvPr id="84" name="Shape 82"/>
          <p:cNvSpPr/>
          <p:nvPr/>
        </p:nvSpPr>
        <p:spPr>
          <a:xfrm>
            <a:off x="5897880" y="4343400"/>
            <a:ext cx="18288" cy="18288"/>
          </a:xfrm>
          <a:prstGeom prst="ellipse">
            <a:avLst/>
          </a:prstGeom>
          <a:solidFill>
            <a:srgbClr val="22D3EE">
              <a:alpha val="12000"/>
            </a:srgbClr>
          </a:solidFill>
          <a:ln/>
        </p:spPr>
      </p:sp>
      <p:sp>
        <p:nvSpPr>
          <p:cNvPr id="85" name="Shape 83"/>
          <p:cNvSpPr/>
          <p:nvPr/>
        </p:nvSpPr>
        <p:spPr>
          <a:xfrm>
            <a:off x="6675120" y="4343400"/>
            <a:ext cx="18288" cy="18288"/>
          </a:xfrm>
          <a:prstGeom prst="ellipse">
            <a:avLst/>
          </a:prstGeom>
          <a:solidFill>
            <a:srgbClr val="22D3EE">
              <a:alpha val="12000"/>
            </a:srgbClr>
          </a:solidFill>
          <a:ln/>
        </p:spPr>
      </p:sp>
      <p:sp>
        <p:nvSpPr>
          <p:cNvPr id="86" name="Shape 84"/>
          <p:cNvSpPr/>
          <p:nvPr/>
        </p:nvSpPr>
        <p:spPr>
          <a:xfrm>
            <a:off x="7452360" y="4343400"/>
            <a:ext cx="18288" cy="18288"/>
          </a:xfrm>
          <a:prstGeom prst="ellipse">
            <a:avLst/>
          </a:prstGeom>
          <a:solidFill>
            <a:srgbClr val="22D3EE">
              <a:alpha val="12000"/>
            </a:srgbClr>
          </a:solidFill>
          <a:ln/>
        </p:spPr>
      </p:sp>
      <p:sp>
        <p:nvSpPr>
          <p:cNvPr id="87" name="Shape 85"/>
          <p:cNvSpPr/>
          <p:nvPr/>
        </p:nvSpPr>
        <p:spPr>
          <a:xfrm>
            <a:off x="8229600" y="4343400"/>
            <a:ext cx="18288" cy="18288"/>
          </a:xfrm>
          <a:prstGeom prst="ellipse">
            <a:avLst/>
          </a:prstGeom>
          <a:solidFill>
            <a:srgbClr val="22D3EE">
              <a:alpha val="12000"/>
            </a:srgbClr>
          </a:solidFill>
          <a:ln/>
        </p:spPr>
      </p:sp>
      <p:sp>
        <p:nvSpPr>
          <p:cNvPr id="88" name="Shape 86"/>
          <p:cNvSpPr/>
          <p:nvPr/>
        </p:nvSpPr>
        <p:spPr>
          <a:xfrm>
            <a:off x="9006840" y="4343400"/>
            <a:ext cx="18288" cy="18288"/>
          </a:xfrm>
          <a:prstGeom prst="ellipse">
            <a:avLst/>
          </a:prstGeom>
          <a:solidFill>
            <a:srgbClr val="22D3EE">
              <a:alpha val="12000"/>
            </a:srgbClr>
          </a:solidFill>
          <a:ln/>
        </p:spPr>
      </p:sp>
      <p:sp>
        <p:nvSpPr>
          <p:cNvPr id="89" name="Shape 87"/>
          <p:cNvSpPr/>
          <p:nvPr/>
        </p:nvSpPr>
        <p:spPr>
          <a:xfrm>
            <a:off x="9784080" y="4343400"/>
            <a:ext cx="18288" cy="18288"/>
          </a:xfrm>
          <a:prstGeom prst="ellipse">
            <a:avLst/>
          </a:prstGeom>
          <a:solidFill>
            <a:srgbClr val="22D3EE">
              <a:alpha val="12000"/>
            </a:srgbClr>
          </a:solidFill>
          <a:ln/>
        </p:spPr>
      </p:sp>
      <p:sp>
        <p:nvSpPr>
          <p:cNvPr id="90" name="Shape 88"/>
          <p:cNvSpPr/>
          <p:nvPr/>
        </p:nvSpPr>
        <p:spPr>
          <a:xfrm>
            <a:off x="10561320" y="4343400"/>
            <a:ext cx="18288" cy="18288"/>
          </a:xfrm>
          <a:prstGeom prst="ellipse">
            <a:avLst/>
          </a:prstGeom>
          <a:solidFill>
            <a:srgbClr val="22D3EE">
              <a:alpha val="12000"/>
            </a:srgbClr>
          </a:solidFill>
          <a:ln/>
        </p:spPr>
      </p:sp>
      <p:sp>
        <p:nvSpPr>
          <p:cNvPr id="91" name="Shape 89"/>
          <p:cNvSpPr/>
          <p:nvPr/>
        </p:nvSpPr>
        <p:spPr>
          <a:xfrm>
            <a:off x="11338560" y="4343400"/>
            <a:ext cx="18288" cy="18288"/>
          </a:xfrm>
          <a:prstGeom prst="ellipse">
            <a:avLst/>
          </a:prstGeom>
          <a:solidFill>
            <a:srgbClr val="22D3EE">
              <a:alpha val="12000"/>
            </a:srgbClr>
          </a:solidFill>
          <a:ln/>
        </p:spPr>
      </p:sp>
      <p:sp>
        <p:nvSpPr>
          <p:cNvPr id="92" name="Shape 90"/>
          <p:cNvSpPr/>
          <p:nvPr/>
        </p:nvSpPr>
        <p:spPr>
          <a:xfrm>
            <a:off x="457200" y="5120640"/>
            <a:ext cx="18288" cy="18288"/>
          </a:xfrm>
          <a:prstGeom prst="ellipse">
            <a:avLst/>
          </a:prstGeom>
          <a:solidFill>
            <a:srgbClr val="22D3EE">
              <a:alpha val="12000"/>
            </a:srgbClr>
          </a:solidFill>
          <a:ln/>
        </p:spPr>
      </p:sp>
      <p:sp>
        <p:nvSpPr>
          <p:cNvPr id="93" name="Shape 91"/>
          <p:cNvSpPr/>
          <p:nvPr/>
        </p:nvSpPr>
        <p:spPr>
          <a:xfrm>
            <a:off x="1234440" y="5120640"/>
            <a:ext cx="18288" cy="18288"/>
          </a:xfrm>
          <a:prstGeom prst="ellipse">
            <a:avLst/>
          </a:prstGeom>
          <a:solidFill>
            <a:srgbClr val="22D3EE">
              <a:alpha val="12000"/>
            </a:srgbClr>
          </a:solidFill>
          <a:ln/>
        </p:spPr>
      </p:sp>
      <p:sp>
        <p:nvSpPr>
          <p:cNvPr id="94" name="Shape 92"/>
          <p:cNvSpPr/>
          <p:nvPr/>
        </p:nvSpPr>
        <p:spPr>
          <a:xfrm>
            <a:off x="2011680" y="5120640"/>
            <a:ext cx="18288" cy="18288"/>
          </a:xfrm>
          <a:prstGeom prst="ellipse">
            <a:avLst/>
          </a:prstGeom>
          <a:solidFill>
            <a:srgbClr val="22D3EE">
              <a:alpha val="12000"/>
            </a:srgbClr>
          </a:solidFill>
          <a:ln/>
        </p:spPr>
      </p:sp>
      <p:sp>
        <p:nvSpPr>
          <p:cNvPr id="95" name="Shape 93"/>
          <p:cNvSpPr/>
          <p:nvPr/>
        </p:nvSpPr>
        <p:spPr>
          <a:xfrm>
            <a:off x="2788920" y="5120640"/>
            <a:ext cx="18288" cy="18288"/>
          </a:xfrm>
          <a:prstGeom prst="ellipse">
            <a:avLst/>
          </a:prstGeom>
          <a:solidFill>
            <a:srgbClr val="22D3EE">
              <a:alpha val="12000"/>
            </a:srgbClr>
          </a:solidFill>
          <a:ln/>
        </p:spPr>
      </p:sp>
      <p:sp>
        <p:nvSpPr>
          <p:cNvPr id="96" name="Shape 94"/>
          <p:cNvSpPr/>
          <p:nvPr/>
        </p:nvSpPr>
        <p:spPr>
          <a:xfrm>
            <a:off x="3566160" y="5120640"/>
            <a:ext cx="18288" cy="18288"/>
          </a:xfrm>
          <a:prstGeom prst="ellipse">
            <a:avLst/>
          </a:prstGeom>
          <a:solidFill>
            <a:srgbClr val="22D3EE">
              <a:alpha val="12000"/>
            </a:srgbClr>
          </a:solidFill>
          <a:ln/>
        </p:spPr>
      </p:sp>
      <p:sp>
        <p:nvSpPr>
          <p:cNvPr id="97" name="Shape 95"/>
          <p:cNvSpPr/>
          <p:nvPr/>
        </p:nvSpPr>
        <p:spPr>
          <a:xfrm>
            <a:off x="4343400" y="5120640"/>
            <a:ext cx="18288" cy="18288"/>
          </a:xfrm>
          <a:prstGeom prst="ellipse">
            <a:avLst/>
          </a:prstGeom>
          <a:solidFill>
            <a:srgbClr val="22D3EE">
              <a:alpha val="12000"/>
            </a:srgbClr>
          </a:solidFill>
          <a:ln/>
        </p:spPr>
      </p:sp>
      <p:sp>
        <p:nvSpPr>
          <p:cNvPr id="98" name="Shape 96"/>
          <p:cNvSpPr/>
          <p:nvPr/>
        </p:nvSpPr>
        <p:spPr>
          <a:xfrm>
            <a:off x="5120640" y="5120640"/>
            <a:ext cx="18288" cy="18288"/>
          </a:xfrm>
          <a:prstGeom prst="ellipse">
            <a:avLst/>
          </a:prstGeom>
          <a:solidFill>
            <a:srgbClr val="22D3EE">
              <a:alpha val="12000"/>
            </a:srgbClr>
          </a:solidFill>
          <a:ln/>
        </p:spPr>
      </p:sp>
      <p:sp>
        <p:nvSpPr>
          <p:cNvPr id="99" name="Shape 97"/>
          <p:cNvSpPr/>
          <p:nvPr/>
        </p:nvSpPr>
        <p:spPr>
          <a:xfrm>
            <a:off x="5897880" y="5120640"/>
            <a:ext cx="18288" cy="18288"/>
          </a:xfrm>
          <a:prstGeom prst="ellipse">
            <a:avLst/>
          </a:prstGeom>
          <a:solidFill>
            <a:srgbClr val="22D3EE">
              <a:alpha val="12000"/>
            </a:srgbClr>
          </a:solidFill>
          <a:ln/>
        </p:spPr>
      </p:sp>
      <p:sp>
        <p:nvSpPr>
          <p:cNvPr id="100" name="Shape 98"/>
          <p:cNvSpPr/>
          <p:nvPr/>
        </p:nvSpPr>
        <p:spPr>
          <a:xfrm>
            <a:off x="6675120" y="5120640"/>
            <a:ext cx="18288" cy="18288"/>
          </a:xfrm>
          <a:prstGeom prst="ellipse">
            <a:avLst/>
          </a:prstGeom>
          <a:solidFill>
            <a:srgbClr val="22D3EE">
              <a:alpha val="12000"/>
            </a:srgbClr>
          </a:solidFill>
          <a:ln/>
        </p:spPr>
      </p:sp>
      <p:sp>
        <p:nvSpPr>
          <p:cNvPr id="101" name="Shape 99"/>
          <p:cNvSpPr/>
          <p:nvPr/>
        </p:nvSpPr>
        <p:spPr>
          <a:xfrm>
            <a:off x="7452360" y="5120640"/>
            <a:ext cx="18288" cy="18288"/>
          </a:xfrm>
          <a:prstGeom prst="ellipse">
            <a:avLst/>
          </a:prstGeom>
          <a:solidFill>
            <a:srgbClr val="22D3EE">
              <a:alpha val="12000"/>
            </a:srgbClr>
          </a:solidFill>
          <a:ln/>
        </p:spPr>
      </p:sp>
      <p:sp>
        <p:nvSpPr>
          <p:cNvPr id="102" name="Shape 100"/>
          <p:cNvSpPr/>
          <p:nvPr/>
        </p:nvSpPr>
        <p:spPr>
          <a:xfrm>
            <a:off x="8229600" y="5120640"/>
            <a:ext cx="18288" cy="18288"/>
          </a:xfrm>
          <a:prstGeom prst="ellipse">
            <a:avLst/>
          </a:prstGeom>
          <a:solidFill>
            <a:srgbClr val="22D3EE">
              <a:alpha val="12000"/>
            </a:srgbClr>
          </a:solidFill>
          <a:ln/>
        </p:spPr>
      </p:sp>
      <p:sp>
        <p:nvSpPr>
          <p:cNvPr id="103" name="Shape 101"/>
          <p:cNvSpPr/>
          <p:nvPr/>
        </p:nvSpPr>
        <p:spPr>
          <a:xfrm>
            <a:off x="9006840" y="5120640"/>
            <a:ext cx="18288" cy="18288"/>
          </a:xfrm>
          <a:prstGeom prst="ellipse">
            <a:avLst/>
          </a:prstGeom>
          <a:solidFill>
            <a:srgbClr val="22D3EE">
              <a:alpha val="12000"/>
            </a:srgbClr>
          </a:solidFill>
          <a:ln/>
        </p:spPr>
      </p:sp>
      <p:sp>
        <p:nvSpPr>
          <p:cNvPr id="104" name="Shape 102"/>
          <p:cNvSpPr/>
          <p:nvPr/>
        </p:nvSpPr>
        <p:spPr>
          <a:xfrm>
            <a:off x="9784080" y="5120640"/>
            <a:ext cx="18288" cy="18288"/>
          </a:xfrm>
          <a:prstGeom prst="ellipse">
            <a:avLst/>
          </a:prstGeom>
          <a:solidFill>
            <a:srgbClr val="22D3EE">
              <a:alpha val="12000"/>
            </a:srgbClr>
          </a:solidFill>
          <a:ln/>
        </p:spPr>
      </p:sp>
      <p:sp>
        <p:nvSpPr>
          <p:cNvPr id="105" name="Shape 103"/>
          <p:cNvSpPr/>
          <p:nvPr/>
        </p:nvSpPr>
        <p:spPr>
          <a:xfrm>
            <a:off x="10561320" y="5120640"/>
            <a:ext cx="18288" cy="18288"/>
          </a:xfrm>
          <a:prstGeom prst="ellipse">
            <a:avLst/>
          </a:prstGeom>
          <a:solidFill>
            <a:srgbClr val="22D3EE">
              <a:alpha val="12000"/>
            </a:srgbClr>
          </a:solidFill>
          <a:ln/>
        </p:spPr>
      </p:sp>
      <p:sp>
        <p:nvSpPr>
          <p:cNvPr id="106" name="Shape 104"/>
          <p:cNvSpPr/>
          <p:nvPr/>
        </p:nvSpPr>
        <p:spPr>
          <a:xfrm>
            <a:off x="11338560" y="5120640"/>
            <a:ext cx="18288" cy="18288"/>
          </a:xfrm>
          <a:prstGeom prst="ellipse">
            <a:avLst/>
          </a:prstGeom>
          <a:solidFill>
            <a:srgbClr val="22D3EE">
              <a:alpha val="12000"/>
            </a:srgbClr>
          </a:solidFill>
          <a:ln/>
        </p:spPr>
      </p:sp>
      <p:sp>
        <p:nvSpPr>
          <p:cNvPr id="107" name="Shape 105"/>
          <p:cNvSpPr/>
          <p:nvPr/>
        </p:nvSpPr>
        <p:spPr>
          <a:xfrm>
            <a:off x="457200" y="5897880"/>
            <a:ext cx="18288" cy="18288"/>
          </a:xfrm>
          <a:prstGeom prst="ellipse">
            <a:avLst/>
          </a:prstGeom>
          <a:solidFill>
            <a:srgbClr val="22D3EE">
              <a:alpha val="12000"/>
            </a:srgbClr>
          </a:solidFill>
          <a:ln/>
        </p:spPr>
      </p:sp>
      <p:sp>
        <p:nvSpPr>
          <p:cNvPr id="108" name="Shape 106"/>
          <p:cNvSpPr/>
          <p:nvPr/>
        </p:nvSpPr>
        <p:spPr>
          <a:xfrm>
            <a:off x="1234440" y="5897880"/>
            <a:ext cx="18288" cy="18288"/>
          </a:xfrm>
          <a:prstGeom prst="ellipse">
            <a:avLst/>
          </a:prstGeom>
          <a:solidFill>
            <a:srgbClr val="22D3EE">
              <a:alpha val="12000"/>
            </a:srgbClr>
          </a:solidFill>
          <a:ln/>
        </p:spPr>
      </p:sp>
      <p:sp>
        <p:nvSpPr>
          <p:cNvPr id="109" name="Shape 107"/>
          <p:cNvSpPr/>
          <p:nvPr/>
        </p:nvSpPr>
        <p:spPr>
          <a:xfrm>
            <a:off x="2011680" y="5897880"/>
            <a:ext cx="18288" cy="18288"/>
          </a:xfrm>
          <a:prstGeom prst="ellipse">
            <a:avLst/>
          </a:prstGeom>
          <a:solidFill>
            <a:srgbClr val="22D3EE">
              <a:alpha val="12000"/>
            </a:srgbClr>
          </a:solidFill>
          <a:ln/>
        </p:spPr>
      </p:sp>
      <p:sp>
        <p:nvSpPr>
          <p:cNvPr id="110" name="Shape 108"/>
          <p:cNvSpPr/>
          <p:nvPr/>
        </p:nvSpPr>
        <p:spPr>
          <a:xfrm>
            <a:off x="2788920" y="5897880"/>
            <a:ext cx="18288" cy="18288"/>
          </a:xfrm>
          <a:prstGeom prst="ellipse">
            <a:avLst/>
          </a:prstGeom>
          <a:solidFill>
            <a:srgbClr val="22D3EE">
              <a:alpha val="12000"/>
            </a:srgbClr>
          </a:solidFill>
          <a:ln/>
        </p:spPr>
      </p:sp>
      <p:sp>
        <p:nvSpPr>
          <p:cNvPr id="111" name="Shape 109"/>
          <p:cNvSpPr/>
          <p:nvPr/>
        </p:nvSpPr>
        <p:spPr>
          <a:xfrm>
            <a:off x="3566160" y="5897880"/>
            <a:ext cx="18288" cy="18288"/>
          </a:xfrm>
          <a:prstGeom prst="ellipse">
            <a:avLst/>
          </a:prstGeom>
          <a:solidFill>
            <a:srgbClr val="22D3EE">
              <a:alpha val="12000"/>
            </a:srgbClr>
          </a:solidFill>
          <a:ln/>
        </p:spPr>
      </p:sp>
      <p:sp>
        <p:nvSpPr>
          <p:cNvPr id="112" name="Shape 110"/>
          <p:cNvSpPr/>
          <p:nvPr/>
        </p:nvSpPr>
        <p:spPr>
          <a:xfrm>
            <a:off x="4343400" y="5897880"/>
            <a:ext cx="18288" cy="18288"/>
          </a:xfrm>
          <a:prstGeom prst="ellipse">
            <a:avLst/>
          </a:prstGeom>
          <a:solidFill>
            <a:srgbClr val="22D3EE">
              <a:alpha val="12000"/>
            </a:srgbClr>
          </a:solidFill>
          <a:ln/>
        </p:spPr>
      </p:sp>
      <p:sp>
        <p:nvSpPr>
          <p:cNvPr id="113" name="Shape 111"/>
          <p:cNvSpPr/>
          <p:nvPr/>
        </p:nvSpPr>
        <p:spPr>
          <a:xfrm>
            <a:off x="5120640" y="5897880"/>
            <a:ext cx="18288" cy="18288"/>
          </a:xfrm>
          <a:prstGeom prst="ellipse">
            <a:avLst/>
          </a:prstGeom>
          <a:solidFill>
            <a:srgbClr val="22D3EE">
              <a:alpha val="12000"/>
            </a:srgbClr>
          </a:solidFill>
          <a:ln/>
        </p:spPr>
      </p:sp>
      <p:sp>
        <p:nvSpPr>
          <p:cNvPr id="114" name="Shape 112"/>
          <p:cNvSpPr/>
          <p:nvPr/>
        </p:nvSpPr>
        <p:spPr>
          <a:xfrm>
            <a:off x="5897880" y="5897880"/>
            <a:ext cx="18288" cy="18288"/>
          </a:xfrm>
          <a:prstGeom prst="ellipse">
            <a:avLst/>
          </a:prstGeom>
          <a:solidFill>
            <a:srgbClr val="22D3EE">
              <a:alpha val="12000"/>
            </a:srgbClr>
          </a:solidFill>
          <a:ln/>
        </p:spPr>
      </p:sp>
      <p:sp>
        <p:nvSpPr>
          <p:cNvPr id="115" name="Shape 113"/>
          <p:cNvSpPr/>
          <p:nvPr/>
        </p:nvSpPr>
        <p:spPr>
          <a:xfrm>
            <a:off x="6675120" y="5897880"/>
            <a:ext cx="18288" cy="18288"/>
          </a:xfrm>
          <a:prstGeom prst="ellipse">
            <a:avLst/>
          </a:prstGeom>
          <a:solidFill>
            <a:srgbClr val="22D3EE">
              <a:alpha val="12000"/>
            </a:srgbClr>
          </a:solidFill>
          <a:ln/>
        </p:spPr>
      </p:sp>
      <p:sp>
        <p:nvSpPr>
          <p:cNvPr id="116" name="Shape 114"/>
          <p:cNvSpPr/>
          <p:nvPr/>
        </p:nvSpPr>
        <p:spPr>
          <a:xfrm>
            <a:off x="7452360" y="5897880"/>
            <a:ext cx="18288" cy="18288"/>
          </a:xfrm>
          <a:prstGeom prst="ellipse">
            <a:avLst/>
          </a:prstGeom>
          <a:solidFill>
            <a:srgbClr val="22D3EE">
              <a:alpha val="12000"/>
            </a:srgbClr>
          </a:solidFill>
          <a:ln/>
        </p:spPr>
      </p:sp>
      <p:sp>
        <p:nvSpPr>
          <p:cNvPr id="117" name="Shape 115"/>
          <p:cNvSpPr/>
          <p:nvPr/>
        </p:nvSpPr>
        <p:spPr>
          <a:xfrm>
            <a:off x="8229600" y="5897880"/>
            <a:ext cx="18288" cy="18288"/>
          </a:xfrm>
          <a:prstGeom prst="ellipse">
            <a:avLst/>
          </a:prstGeom>
          <a:solidFill>
            <a:srgbClr val="22D3EE">
              <a:alpha val="12000"/>
            </a:srgbClr>
          </a:solidFill>
          <a:ln/>
        </p:spPr>
      </p:sp>
      <p:sp>
        <p:nvSpPr>
          <p:cNvPr id="118" name="Shape 116"/>
          <p:cNvSpPr/>
          <p:nvPr/>
        </p:nvSpPr>
        <p:spPr>
          <a:xfrm>
            <a:off x="9006840" y="5897880"/>
            <a:ext cx="18288" cy="18288"/>
          </a:xfrm>
          <a:prstGeom prst="ellipse">
            <a:avLst/>
          </a:prstGeom>
          <a:solidFill>
            <a:srgbClr val="22D3EE">
              <a:alpha val="12000"/>
            </a:srgbClr>
          </a:solidFill>
          <a:ln/>
        </p:spPr>
      </p:sp>
      <p:sp>
        <p:nvSpPr>
          <p:cNvPr id="119" name="Shape 117"/>
          <p:cNvSpPr/>
          <p:nvPr/>
        </p:nvSpPr>
        <p:spPr>
          <a:xfrm>
            <a:off x="9784080" y="5897880"/>
            <a:ext cx="18288" cy="18288"/>
          </a:xfrm>
          <a:prstGeom prst="ellipse">
            <a:avLst/>
          </a:prstGeom>
          <a:solidFill>
            <a:srgbClr val="22D3EE">
              <a:alpha val="12000"/>
            </a:srgbClr>
          </a:solidFill>
          <a:ln/>
        </p:spPr>
      </p:sp>
      <p:sp>
        <p:nvSpPr>
          <p:cNvPr id="120" name="Shape 118"/>
          <p:cNvSpPr/>
          <p:nvPr/>
        </p:nvSpPr>
        <p:spPr>
          <a:xfrm>
            <a:off x="10561320" y="5897880"/>
            <a:ext cx="18288" cy="18288"/>
          </a:xfrm>
          <a:prstGeom prst="ellipse">
            <a:avLst/>
          </a:prstGeom>
          <a:solidFill>
            <a:srgbClr val="22D3EE">
              <a:alpha val="12000"/>
            </a:srgbClr>
          </a:solidFill>
          <a:ln/>
        </p:spPr>
      </p:sp>
      <p:sp>
        <p:nvSpPr>
          <p:cNvPr id="121" name="Shape 119"/>
          <p:cNvSpPr/>
          <p:nvPr/>
        </p:nvSpPr>
        <p:spPr>
          <a:xfrm>
            <a:off x="11338560" y="5897880"/>
            <a:ext cx="18288" cy="18288"/>
          </a:xfrm>
          <a:prstGeom prst="ellipse">
            <a:avLst/>
          </a:prstGeom>
          <a:solidFill>
            <a:srgbClr val="22D3EE">
              <a:alpha val="12000"/>
            </a:srgbClr>
          </a:solidFill>
          <a:ln/>
        </p:spPr>
      </p:sp>
      <p:sp>
        <p:nvSpPr>
          <p:cNvPr id="122" name="Shape 120"/>
          <p:cNvSpPr/>
          <p:nvPr/>
        </p:nvSpPr>
        <p:spPr>
          <a:xfrm>
            <a:off x="457200" y="6675120"/>
            <a:ext cx="18288" cy="18288"/>
          </a:xfrm>
          <a:prstGeom prst="ellipse">
            <a:avLst/>
          </a:prstGeom>
          <a:solidFill>
            <a:srgbClr val="22D3EE">
              <a:alpha val="12000"/>
            </a:srgbClr>
          </a:solidFill>
          <a:ln/>
        </p:spPr>
      </p:sp>
      <p:sp>
        <p:nvSpPr>
          <p:cNvPr id="123" name="Shape 121"/>
          <p:cNvSpPr/>
          <p:nvPr/>
        </p:nvSpPr>
        <p:spPr>
          <a:xfrm>
            <a:off x="1234440" y="6675120"/>
            <a:ext cx="18288" cy="18288"/>
          </a:xfrm>
          <a:prstGeom prst="ellipse">
            <a:avLst/>
          </a:prstGeom>
          <a:solidFill>
            <a:srgbClr val="22D3EE">
              <a:alpha val="12000"/>
            </a:srgbClr>
          </a:solidFill>
          <a:ln/>
        </p:spPr>
      </p:sp>
      <p:sp>
        <p:nvSpPr>
          <p:cNvPr id="124" name="Shape 122"/>
          <p:cNvSpPr/>
          <p:nvPr/>
        </p:nvSpPr>
        <p:spPr>
          <a:xfrm>
            <a:off x="2011680" y="6675120"/>
            <a:ext cx="18288" cy="18288"/>
          </a:xfrm>
          <a:prstGeom prst="ellipse">
            <a:avLst/>
          </a:prstGeom>
          <a:solidFill>
            <a:srgbClr val="22D3EE">
              <a:alpha val="12000"/>
            </a:srgbClr>
          </a:solidFill>
          <a:ln/>
        </p:spPr>
      </p:sp>
      <p:sp>
        <p:nvSpPr>
          <p:cNvPr id="125" name="Shape 123"/>
          <p:cNvSpPr/>
          <p:nvPr/>
        </p:nvSpPr>
        <p:spPr>
          <a:xfrm>
            <a:off x="2788920" y="6675120"/>
            <a:ext cx="18288" cy="18288"/>
          </a:xfrm>
          <a:prstGeom prst="ellipse">
            <a:avLst/>
          </a:prstGeom>
          <a:solidFill>
            <a:srgbClr val="22D3EE">
              <a:alpha val="12000"/>
            </a:srgbClr>
          </a:solidFill>
          <a:ln/>
        </p:spPr>
      </p:sp>
      <p:sp>
        <p:nvSpPr>
          <p:cNvPr id="126" name="Shape 124"/>
          <p:cNvSpPr/>
          <p:nvPr/>
        </p:nvSpPr>
        <p:spPr>
          <a:xfrm>
            <a:off x="3566160" y="6675120"/>
            <a:ext cx="18288" cy="18288"/>
          </a:xfrm>
          <a:prstGeom prst="ellipse">
            <a:avLst/>
          </a:prstGeom>
          <a:solidFill>
            <a:srgbClr val="22D3EE">
              <a:alpha val="12000"/>
            </a:srgbClr>
          </a:solidFill>
          <a:ln/>
        </p:spPr>
      </p:sp>
      <p:sp>
        <p:nvSpPr>
          <p:cNvPr id="127" name="Shape 125"/>
          <p:cNvSpPr/>
          <p:nvPr/>
        </p:nvSpPr>
        <p:spPr>
          <a:xfrm>
            <a:off x="4343400" y="6675120"/>
            <a:ext cx="18288" cy="18288"/>
          </a:xfrm>
          <a:prstGeom prst="ellipse">
            <a:avLst/>
          </a:prstGeom>
          <a:solidFill>
            <a:srgbClr val="22D3EE">
              <a:alpha val="12000"/>
            </a:srgbClr>
          </a:solidFill>
          <a:ln/>
        </p:spPr>
      </p:sp>
      <p:sp>
        <p:nvSpPr>
          <p:cNvPr id="128" name="Shape 126"/>
          <p:cNvSpPr/>
          <p:nvPr/>
        </p:nvSpPr>
        <p:spPr>
          <a:xfrm>
            <a:off x="5120640" y="6675120"/>
            <a:ext cx="18288" cy="18288"/>
          </a:xfrm>
          <a:prstGeom prst="ellipse">
            <a:avLst/>
          </a:prstGeom>
          <a:solidFill>
            <a:srgbClr val="22D3EE">
              <a:alpha val="12000"/>
            </a:srgbClr>
          </a:solidFill>
          <a:ln/>
        </p:spPr>
      </p:sp>
      <p:sp>
        <p:nvSpPr>
          <p:cNvPr id="129" name="Shape 127"/>
          <p:cNvSpPr/>
          <p:nvPr/>
        </p:nvSpPr>
        <p:spPr>
          <a:xfrm>
            <a:off x="5897880" y="6675120"/>
            <a:ext cx="18288" cy="18288"/>
          </a:xfrm>
          <a:prstGeom prst="ellipse">
            <a:avLst/>
          </a:prstGeom>
          <a:solidFill>
            <a:srgbClr val="22D3EE">
              <a:alpha val="12000"/>
            </a:srgbClr>
          </a:solidFill>
          <a:ln/>
        </p:spPr>
      </p:sp>
      <p:sp>
        <p:nvSpPr>
          <p:cNvPr id="130" name="Shape 128"/>
          <p:cNvSpPr/>
          <p:nvPr/>
        </p:nvSpPr>
        <p:spPr>
          <a:xfrm>
            <a:off x="6675120" y="6675120"/>
            <a:ext cx="18288" cy="18288"/>
          </a:xfrm>
          <a:prstGeom prst="ellipse">
            <a:avLst/>
          </a:prstGeom>
          <a:solidFill>
            <a:srgbClr val="22D3EE">
              <a:alpha val="12000"/>
            </a:srgbClr>
          </a:solidFill>
          <a:ln/>
        </p:spPr>
      </p:sp>
      <p:sp>
        <p:nvSpPr>
          <p:cNvPr id="131" name="Shape 129"/>
          <p:cNvSpPr/>
          <p:nvPr/>
        </p:nvSpPr>
        <p:spPr>
          <a:xfrm>
            <a:off x="7452360" y="6675120"/>
            <a:ext cx="18288" cy="18288"/>
          </a:xfrm>
          <a:prstGeom prst="ellipse">
            <a:avLst/>
          </a:prstGeom>
          <a:solidFill>
            <a:srgbClr val="22D3EE">
              <a:alpha val="12000"/>
            </a:srgbClr>
          </a:solidFill>
          <a:ln/>
        </p:spPr>
      </p:sp>
      <p:sp>
        <p:nvSpPr>
          <p:cNvPr id="132" name="Shape 130"/>
          <p:cNvSpPr/>
          <p:nvPr/>
        </p:nvSpPr>
        <p:spPr>
          <a:xfrm>
            <a:off x="8229600" y="6675120"/>
            <a:ext cx="18288" cy="18288"/>
          </a:xfrm>
          <a:prstGeom prst="ellipse">
            <a:avLst/>
          </a:prstGeom>
          <a:solidFill>
            <a:srgbClr val="22D3EE">
              <a:alpha val="12000"/>
            </a:srgbClr>
          </a:solidFill>
          <a:ln/>
        </p:spPr>
      </p:sp>
      <p:sp>
        <p:nvSpPr>
          <p:cNvPr id="133" name="Shape 131"/>
          <p:cNvSpPr/>
          <p:nvPr/>
        </p:nvSpPr>
        <p:spPr>
          <a:xfrm>
            <a:off x="9006840" y="6675120"/>
            <a:ext cx="18288" cy="18288"/>
          </a:xfrm>
          <a:prstGeom prst="ellipse">
            <a:avLst/>
          </a:prstGeom>
          <a:solidFill>
            <a:srgbClr val="22D3EE">
              <a:alpha val="12000"/>
            </a:srgbClr>
          </a:solidFill>
          <a:ln/>
        </p:spPr>
      </p:sp>
      <p:sp>
        <p:nvSpPr>
          <p:cNvPr id="134" name="Shape 132"/>
          <p:cNvSpPr/>
          <p:nvPr/>
        </p:nvSpPr>
        <p:spPr>
          <a:xfrm>
            <a:off x="9784080" y="6675120"/>
            <a:ext cx="18288" cy="18288"/>
          </a:xfrm>
          <a:prstGeom prst="ellipse">
            <a:avLst/>
          </a:prstGeom>
          <a:solidFill>
            <a:srgbClr val="22D3EE">
              <a:alpha val="12000"/>
            </a:srgbClr>
          </a:solidFill>
          <a:ln/>
        </p:spPr>
      </p:sp>
      <p:sp>
        <p:nvSpPr>
          <p:cNvPr id="135" name="Shape 133"/>
          <p:cNvSpPr/>
          <p:nvPr/>
        </p:nvSpPr>
        <p:spPr>
          <a:xfrm>
            <a:off x="10561320" y="6675120"/>
            <a:ext cx="18288" cy="18288"/>
          </a:xfrm>
          <a:prstGeom prst="ellipse">
            <a:avLst/>
          </a:prstGeom>
          <a:solidFill>
            <a:srgbClr val="22D3EE">
              <a:alpha val="12000"/>
            </a:srgbClr>
          </a:solidFill>
          <a:ln/>
        </p:spPr>
      </p:sp>
      <p:sp>
        <p:nvSpPr>
          <p:cNvPr id="136" name="Shape 134"/>
          <p:cNvSpPr/>
          <p:nvPr/>
        </p:nvSpPr>
        <p:spPr>
          <a:xfrm>
            <a:off x="11338560" y="6675120"/>
            <a:ext cx="18288" cy="18288"/>
          </a:xfrm>
          <a:prstGeom prst="ellipse">
            <a:avLst/>
          </a:prstGeom>
          <a:solidFill>
            <a:srgbClr val="22D3EE">
              <a:alpha val="12000"/>
            </a:srgbClr>
          </a:solidFill>
          <a:ln/>
        </p:spPr>
      </p:sp>
      <p:sp>
        <p:nvSpPr>
          <p:cNvPr id="137" name="Shape 135"/>
          <p:cNvSpPr/>
          <p:nvPr/>
        </p:nvSpPr>
        <p:spPr>
          <a:xfrm>
            <a:off x="5367528" y="685800"/>
            <a:ext cx="1463040" cy="1463040"/>
          </a:xfrm>
          <a:prstGeom prst="ellipse">
            <a:avLst/>
          </a:prstGeom>
          <a:solidFill>
            <a:srgbClr val="132A4C"/>
          </a:solidFill>
          <a:ln w="19050">
            <a:solidFill>
              <a:srgbClr val="22D3EE"/>
            </a:solidFill>
            <a:prstDash val="solid"/>
          </a:ln>
        </p:spPr>
      </p:sp>
      <p:pic>
        <p:nvPicPr>
          <p:cNvPr id="138" name="Image 0" descr="/home/claude/phishing/icons/messagecircle_white.png"/>
          <p:cNvPicPr>
            <a:picLocks noChangeAspect="1"/>
          </p:cNvPicPr>
          <p:nvPr/>
        </p:nvPicPr>
        <p:blipFill>
          <a:blip r:embed="rId3"/>
          <a:stretch>
            <a:fillRect/>
          </a:stretch>
        </p:blipFill>
        <p:spPr>
          <a:xfrm>
            <a:off x="5760720" y="1078992"/>
            <a:ext cx="685800" cy="685800"/>
          </a:xfrm>
          <a:prstGeom prst="rect">
            <a:avLst/>
          </a:prstGeom>
        </p:spPr>
      </p:pic>
      <p:sp>
        <p:nvSpPr>
          <p:cNvPr id="139" name="Text 136"/>
          <p:cNvSpPr/>
          <p:nvPr/>
        </p:nvSpPr>
        <p:spPr>
          <a:xfrm>
            <a:off x="731520" y="2331720"/>
            <a:ext cx="10725912" cy="640080"/>
          </a:xfrm>
          <a:prstGeom prst="rect">
            <a:avLst/>
          </a:prstGeom>
          <a:noFill/>
          <a:ln/>
        </p:spPr>
        <p:txBody>
          <a:bodyPr wrap="square" lIns="0" tIns="0" rIns="0" bIns="0" rtlCol="0" anchor="ctr"/>
          <a:lstStyle/>
          <a:p>
            <a:pPr marL="0" indent="0" algn="ctr">
              <a:buNone/>
            </a:pPr>
            <a:r>
              <a:rPr lang="en-US" sz="3400" b="1" dirty="0">
                <a:solidFill>
                  <a:srgbClr val="FFFFFF"/>
                </a:solidFill>
                <a:latin typeface="Arial" pitchFamily="34" charset="0"/>
                <a:ea typeface="Arial" pitchFamily="34" charset="-122"/>
                <a:cs typeface="Arial" pitchFamily="34" charset="-120"/>
              </a:rPr>
              <a:t>Thank You</a:t>
            </a:r>
            <a:endParaRPr lang="en-US" sz="3400" dirty="0"/>
          </a:p>
        </p:txBody>
      </p:sp>
      <p:sp>
        <p:nvSpPr>
          <p:cNvPr id="140" name="Text 137"/>
          <p:cNvSpPr/>
          <p:nvPr/>
        </p:nvSpPr>
        <p:spPr>
          <a:xfrm>
            <a:off x="731520" y="2971800"/>
            <a:ext cx="10725912" cy="457200"/>
          </a:xfrm>
          <a:prstGeom prst="rect">
            <a:avLst/>
          </a:prstGeom>
          <a:noFill/>
          <a:ln/>
        </p:spPr>
        <p:txBody>
          <a:bodyPr wrap="square" lIns="0" tIns="0" rIns="0" bIns="0" rtlCol="0" anchor="ctr"/>
          <a:lstStyle/>
          <a:p>
            <a:pPr marL="0" indent="0" algn="ctr">
              <a:buNone/>
            </a:pPr>
            <a:r>
              <a:rPr lang="en-US" sz="1600" dirty="0">
                <a:solidFill>
                  <a:srgbClr val="22D3EE"/>
                </a:solidFill>
                <a:latin typeface="Calibri" pitchFamily="34" charset="0"/>
                <a:ea typeface="Calibri" pitchFamily="34" charset="-122"/>
                <a:cs typeface="Calibri" pitchFamily="34" charset="-120"/>
              </a:rPr>
              <a:t>Questions?</a:t>
            </a:r>
            <a:endParaRPr lang="en-US" sz="1600" dirty="0"/>
          </a:p>
        </p:txBody>
      </p:sp>
      <p:sp>
        <p:nvSpPr>
          <p:cNvPr id="141" name="Shape 138"/>
          <p:cNvSpPr/>
          <p:nvPr/>
        </p:nvSpPr>
        <p:spPr>
          <a:xfrm>
            <a:off x="2194560" y="3794760"/>
            <a:ext cx="7799832" cy="2331720"/>
          </a:xfrm>
          <a:prstGeom prst="roundRect">
            <a:avLst>
              <a:gd name="adj" fmla="val 3137"/>
            </a:avLst>
          </a:prstGeom>
          <a:solidFill>
            <a:srgbClr val="10233F"/>
          </a:solidFill>
          <a:ln w="9525">
            <a:solidFill>
              <a:srgbClr val="1D3A63"/>
            </a:solidFill>
            <a:prstDash val="solid"/>
          </a:ln>
          <a:effectLst>
            <a:outerShdw blurRad="76200" dist="38100" dir="5400000" algn="bl" rotWithShape="0">
              <a:srgbClr val="000000">
                <a:alpha val="35000"/>
              </a:srgbClr>
            </a:outerShdw>
          </a:effectLst>
        </p:spPr>
      </p:sp>
      <p:sp>
        <p:nvSpPr>
          <p:cNvPr id="142" name="Text 139"/>
          <p:cNvSpPr/>
          <p:nvPr/>
        </p:nvSpPr>
        <p:spPr>
          <a:xfrm>
            <a:off x="2468880" y="3950208"/>
            <a:ext cx="7315200" cy="320040"/>
          </a:xfrm>
          <a:prstGeom prst="rect">
            <a:avLst/>
          </a:prstGeom>
          <a:noFill/>
          <a:ln/>
        </p:spPr>
        <p:txBody>
          <a:bodyPr wrap="square" lIns="0" tIns="0" rIns="0" bIns="0" rtlCol="0" anchor="ctr"/>
          <a:lstStyle/>
          <a:p>
            <a:pPr marL="0" indent="0">
              <a:buNone/>
            </a:pPr>
            <a:r>
              <a:rPr lang="en-US" sz="1300" b="1" dirty="0">
                <a:solidFill>
                  <a:srgbClr val="22D3EE"/>
                </a:solidFill>
                <a:latin typeface="Arial" pitchFamily="34" charset="0"/>
                <a:ea typeface="Arial" pitchFamily="34" charset="-122"/>
                <a:cs typeface="Arial" pitchFamily="34" charset="-120"/>
              </a:rPr>
              <a:t>References &amp; Further Reading</a:t>
            </a:r>
            <a:endParaRPr lang="en-US" sz="1300" dirty="0"/>
          </a:p>
        </p:txBody>
      </p:sp>
      <p:sp>
        <p:nvSpPr>
          <p:cNvPr id="143" name="Text 140"/>
          <p:cNvSpPr/>
          <p:nvPr/>
        </p:nvSpPr>
        <p:spPr>
          <a:xfrm>
            <a:off x="2468880" y="4315968"/>
            <a:ext cx="7315200" cy="1691640"/>
          </a:xfrm>
          <a:prstGeom prst="rect">
            <a:avLst/>
          </a:prstGeom>
          <a:noFill/>
          <a:ln/>
        </p:spPr>
        <p:txBody>
          <a:bodyPr wrap="square" lIns="0" tIns="0" rIns="0" bIns="0" rtlCol="0" anchor="t"/>
          <a:lstStyle/>
          <a:p>
            <a:pPr marL="203200" indent="-203200">
              <a:spcAft>
                <a:spcPts val="800"/>
              </a:spcAft>
              <a:buSzPct val="100000"/>
              <a:buChar char="●"/>
            </a:pPr>
            <a:r>
              <a:rPr lang="en-US" sz="1150" dirty="0">
                <a:solidFill>
                  <a:srgbClr val="9FB3C8"/>
                </a:solidFill>
                <a:latin typeface="Calibri" pitchFamily="34" charset="0"/>
                <a:ea typeface="Calibri" pitchFamily="34" charset="-122"/>
                <a:cs typeface="Calibri" pitchFamily="34" charset="-120"/>
              </a:rPr>
              <a:t>CISA — Cybersecurity &amp; Infrastructure Security Agency (cisa.gov)</a:t>
            </a:r>
            <a:endParaRPr lang="en-US" sz="1150" dirty="0"/>
          </a:p>
          <a:p>
            <a:pPr marL="203200" indent="-203200">
              <a:spcAft>
                <a:spcPts val="800"/>
              </a:spcAft>
              <a:buSzPct val="100000"/>
              <a:buChar char="●"/>
            </a:pPr>
            <a:r>
              <a:rPr lang="en-US" sz="1150" dirty="0">
                <a:solidFill>
                  <a:srgbClr val="9FB3C8"/>
                </a:solidFill>
                <a:latin typeface="Calibri" pitchFamily="34" charset="0"/>
                <a:ea typeface="Calibri" pitchFamily="34" charset="-122"/>
                <a:cs typeface="Calibri" pitchFamily="34" charset="-120"/>
              </a:rPr>
              <a:t>NIST — Phishing guidance and security frameworks (nist.gov)</a:t>
            </a:r>
            <a:endParaRPr lang="en-US" sz="1150" dirty="0"/>
          </a:p>
          <a:p>
            <a:pPr marL="203200" indent="-203200">
              <a:spcAft>
                <a:spcPts val="800"/>
              </a:spcAft>
              <a:buSzPct val="100000"/>
              <a:buChar char="●"/>
            </a:pPr>
            <a:r>
              <a:rPr lang="en-US" sz="1150" dirty="0">
                <a:solidFill>
                  <a:srgbClr val="9FB3C8"/>
                </a:solidFill>
                <a:latin typeface="Calibri" pitchFamily="34" charset="0"/>
                <a:ea typeface="Calibri" pitchFamily="34" charset="-122"/>
                <a:cs typeface="Calibri" pitchFamily="34" charset="-120"/>
              </a:rPr>
              <a:t>Microsoft Security — phishing trends and protection tools</a:t>
            </a:r>
            <a:endParaRPr lang="en-US" sz="1150" dirty="0"/>
          </a:p>
          <a:p>
            <a:pPr marL="203200" indent="-203200">
              <a:spcAft>
                <a:spcPts val="800"/>
              </a:spcAft>
              <a:buSzPct val="100000"/>
              <a:buChar char="●"/>
            </a:pPr>
            <a:r>
              <a:rPr lang="en-US" sz="1150" dirty="0">
                <a:solidFill>
                  <a:srgbClr val="9FB3C8"/>
                </a:solidFill>
                <a:latin typeface="Calibri" pitchFamily="34" charset="0"/>
                <a:ea typeface="Calibri" pitchFamily="34" charset="-122"/>
                <a:cs typeface="Calibri" pitchFamily="34" charset="-120"/>
              </a:rPr>
              <a:t>Google Safe Browsing — safebrowsing.google.com</a:t>
            </a:r>
            <a:endParaRPr lang="en-US" sz="1150" dirty="0"/>
          </a:p>
          <a:p>
            <a:pPr marL="203200" indent="-203200">
              <a:spcAft>
                <a:spcPts val="800"/>
              </a:spcAft>
              <a:buSzPct val="100000"/>
              <a:buChar char="●"/>
            </a:pPr>
            <a:r>
              <a:rPr lang="en-US" sz="1150" dirty="0">
                <a:solidFill>
                  <a:srgbClr val="9FB3C8"/>
                </a:solidFill>
                <a:latin typeface="Calibri" pitchFamily="34" charset="0"/>
                <a:ea typeface="Calibri" pitchFamily="34" charset="-122"/>
                <a:cs typeface="Calibri" pitchFamily="34" charset="-120"/>
              </a:rPr>
              <a:t>Anti-Phishing Working Group — apwg.org</a:t>
            </a:r>
            <a:endParaRPr lang="en-US" sz="1150" dirty="0"/>
          </a:p>
        </p:txBody>
      </p:sp>
      <p:sp>
        <p:nvSpPr>
          <p:cNvPr id="144" name="Text 141"/>
          <p:cNvSpPr/>
          <p:nvPr/>
        </p:nvSpPr>
        <p:spPr>
          <a:xfrm>
            <a:off x="11155680" y="6473952"/>
            <a:ext cx="822960" cy="274320"/>
          </a:xfrm>
          <a:prstGeom prst="rect">
            <a:avLst/>
          </a:prstGeom>
          <a:noFill/>
          <a:ln/>
        </p:spPr>
        <p:txBody>
          <a:bodyPr wrap="square" lIns="0" tIns="0" rIns="0" bIns="0" rtlCol="0" anchor="ctr"/>
          <a:lstStyle/>
          <a:p>
            <a:pPr marL="0" indent="0" algn="r">
              <a:buNone/>
            </a:pPr>
            <a:r>
              <a:rPr lang="en-US" sz="900" dirty="0">
                <a:solidFill>
                  <a:srgbClr val="9FB3C8"/>
                </a:solidFill>
                <a:latin typeface="Calibri" pitchFamily="34" charset="0"/>
                <a:ea typeface="Calibri" pitchFamily="34" charset="-122"/>
                <a:cs typeface="Calibri" pitchFamily="34" charset="-120"/>
              </a:rPr>
              <a:t>16 / 16</a:t>
            </a:r>
            <a:endParaRPr lang="en-US" sz="900" dirty="0"/>
          </a:p>
        </p:txBody>
      </p:sp>
      <p:sp>
        <p:nvSpPr>
          <p:cNvPr id="145" name="Text 142"/>
          <p:cNvSpPr/>
          <p:nvPr/>
        </p:nvSpPr>
        <p:spPr>
          <a:xfrm>
            <a:off x="548640" y="6473952"/>
            <a:ext cx="5486400" cy="274320"/>
          </a:xfrm>
          <a:prstGeom prst="rect">
            <a:avLst/>
          </a:prstGeom>
          <a:noFill/>
          <a:ln/>
        </p:spPr>
        <p:txBody>
          <a:bodyPr wrap="square" lIns="0" tIns="0" rIns="0" bIns="0" rtlCol="0" anchor="ctr"/>
          <a:lstStyle/>
          <a:p>
            <a:pPr marL="0" indent="0">
              <a:buNone/>
            </a:pPr>
            <a:r>
              <a:rPr lang="en-US" sz="900" kern="0" spc="100" dirty="0">
                <a:solidFill>
                  <a:srgbClr val="9FB3C8"/>
                </a:solidFill>
                <a:latin typeface="Calibri" pitchFamily="34" charset="0"/>
                <a:ea typeface="Calibri" pitchFamily="34" charset="-122"/>
                <a:cs typeface="Calibri" pitchFamily="34" charset="-120"/>
              </a:rPr>
              <a:t>PHISHING AWARENESS TRAINING</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7194</TotalTime>
  <Words>2065</Words>
  <Application>Microsoft Office PowerPoint</Application>
  <PresentationFormat>Widescreen</PresentationFormat>
  <Paragraphs>288</Paragraphs>
  <Slides>17</Slides>
  <Notes>17</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17</vt:i4>
      </vt:variant>
    </vt:vector>
  </HeadingPairs>
  <TitlesOfParts>
    <vt:vector size="21" baseType="lpstr">
      <vt:lpstr>Arial</vt:lpstr>
      <vt:lpstr>Calibri</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Z</cp:lastModifiedBy>
  <cp:revision>6</cp:revision>
  <dcterms:created xsi:type="dcterms:W3CDTF">2026-08-06T15:39:02Z</dcterms:created>
  <dcterms:modified xsi:type="dcterms:W3CDTF">2026-08-11T15:47:04Z</dcterms:modified>
</cp:coreProperties>
</file>